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DM Sans" pitchFamily="34" charset="0"/>
      <p:regular r:id="rId41"/>
      <p:bold r:id="rId4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41" Type="http://schemas.openxmlformats.org/officeDocument/2006/relationships/font" Target="fonts/font1.fntdata"/><Relationship Id="rId4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7" y="508000"/>
            <a:ext cx="10566467" cy="467320"/>
          </a:xfrm>
          <a:prstGeom prst="rect">
            <a:avLst/>
          </a:prstGeom>
          <a:noFill/>
          <a:ln/>
        </p:spPr>
        <p:txBody>
          <a:bodyPr wrap="square" lIns="0" tIns="0" rIns="0" bIns="0" rtlCol="0" anchor="t"/>
          <a:lstStyle>
            <a:lvl1pPr algn="l" indent="0" marL="0">
              <a:lnSpc>
                <a:spcPct val="115000"/>
              </a:lnSpc>
              <a:buNone/>
              <a:defRPr lang="en-US" sz="3200" dirty="0">
                <a:solidFill>
                  <a:srgbClr val="0F2A5C"/>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67" y="1280120"/>
            <a:ext cx="10566433" cy="4765080"/>
          </a:xfrm>
          <a:prstGeom prst="rect">
            <a:avLst/>
          </a:prstGeom>
          <a:noFill/>
          <a:ln/>
        </p:spPr>
        <p:txBody>
          <a:bodyPr wrap="square" lIns="0" tIns="0" rIns="0" bIns="0" rtlCol="0" anchor="t"/>
          <a:lstStyle>
            <a:lvl1pPr algn="l" indent="0" marL="0">
              <a:lnSpc>
                <a:spcPct val="140000"/>
              </a:lnSpc>
              <a:buNone/>
              <a:defRPr lang="en-US" sz="1600" dirty="0">
                <a:solidFill>
                  <a:srgbClr val="1E293B"/>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7" y="508000"/>
            <a:ext cx="10566467" cy="467320"/>
          </a:xfrm>
          <a:prstGeom prst="rect">
            <a:avLst/>
          </a:prstGeom>
          <a:noFill/>
          <a:ln/>
        </p:spPr>
        <p:txBody>
          <a:bodyPr wrap="square" lIns="0" tIns="0" rIns="0" bIns="0" rtlCol="0" anchor="t"/>
          <a:lstStyle>
            <a:lvl1pPr algn="l" indent="0" marL="0">
              <a:lnSpc>
                <a:spcPct val="115000"/>
              </a:lnSpc>
              <a:buNone/>
              <a:defRPr lang="en-US" sz="3200" dirty="0">
                <a:solidFill>
                  <a:srgbClr val="0F2A5C"/>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67" y="1280120"/>
            <a:ext cx="10566433" cy="4765080"/>
          </a:xfrm>
          <a:prstGeom prst="rect">
            <a:avLst/>
          </a:prstGeom>
          <a:noFill/>
          <a:ln/>
        </p:spPr>
        <p:txBody>
          <a:bodyPr wrap="square" lIns="0" tIns="0" rIns="0" bIns="0" rtlCol="0" anchor="t"/>
          <a:lstStyle>
            <a:lvl1pPr algn="l" indent="0" marL="0">
              <a:lnSpc>
                <a:spcPct val="140000"/>
              </a:lnSpc>
              <a:buNone/>
              <a:defRPr lang="en-US" sz="1600" dirty="0">
                <a:solidFill>
                  <a:srgbClr val="1E293B"/>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2.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04767" cy="6858000"/>
          </a:xfrm>
          <a:prstGeom prst="rect">
            <a:avLst/>
          </a:prstGeom>
          <a:solidFill>
            <a:srgbClr val="2563EB"/>
          </a:solidFill>
          <a:ln/>
        </p:spPr>
      </p:sp>
      <p:sp>
        <p:nvSpPr>
          <p:cNvPr id="3" name="Text 1"/>
          <p:cNvSpPr/>
          <p:nvPr/>
        </p:nvSpPr>
        <p:spPr>
          <a:xfrm>
            <a:off x="1117589" y="2056199"/>
            <a:ext cx="10569494" cy="345380"/>
          </a:xfrm>
          <a:prstGeom prst="rect">
            <a:avLst/>
          </a:prstGeom>
          <a:noFill/>
          <a:ln/>
        </p:spPr>
        <p:txBody>
          <a:bodyPr wrap="square" lIns="0" tIns="0" rIns="0" bIns="0" rtlCol="0" anchor="t">
            <a:normAutofit/>
          </a:bodyPr>
          <a:lstStyle/>
          <a:p>
            <a:pPr algn="l" indent="0" marL="0">
              <a:lnSpc>
                <a:spcPts val="2520"/>
              </a:lnSpc>
              <a:buNone/>
            </a:pPr>
            <a:r>
              <a:rPr lang="en-US" sz="1800" b="1" spc="200" kern="0" dirty="0">
                <a:solidFill>
                  <a:srgbClr val="2563EB"/>
                </a:solidFill>
                <a:latin typeface="DM Sans" pitchFamily="34" charset="0"/>
                <a:ea typeface="DM Sans" pitchFamily="34" charset="-122"/>
                <a:cs typeface="DM Sans" pitchFamily="34" charset="-120"/>
              </a:rPr>
              <a:t>AN INTRODUCTION</a:t>
            </a:r>
            <a:endParaRPr lang="en-US" sz="1800" dirty="0"/>
          </a:p>
        </p:txBody>
      </p:sp>
      <p:sp>
        <p:nvSpPr>
          <p:cNvPr id="4" name="Text 2"/>
          <p:cNvSpPr/>
          <p:nvPr>
            <p:ph type="title"/>
          </p:nvPr>
        </p:nvSpPr>
        <p:spPr>
          <a:xfrm>
            <a:off x="1117589" y="2579357"/>
            <a:ext cx="10569494" cy="863578"/>
          </a:xfrm>
          <a:prstGeom prst="rect">
            <a:avLst/>
          </a:prstGeom>
          <a:noFill/>
          <a:ln/>
        </p:spPr>
        <p:txBody>
          <a:bodyPr wrap="square" lIns="0" tIns="0" rIns="0" bIns="0" rtlCol="0" anchor="t">
            <a:normAutofit/>
          </a:bodyPr>
          <a:lstStyle/>
          <a:p>
            <a:pPr algn="l" indent="0" marL="0">
              <a:lnSpc>
                <a:spcPts val="6600"/>
              </a:lnSpc>
              <a:buNone/>
            </a:pPr>
            <a:r>
              <a:rPr lang="en-US" sz="6000" b="1" i="0" dirty="0">
                <a:solidFill>
                  <a:srgbClr val="0F2A5C"/>
                </a:solidFill>
                <a:latin typeface="DM Sans" pitchFamily="34" charset="0"/>
                <a:ea typeface="DM Sans" pitchFamily="34" charset="-122"/>
                <a:cs typeface="DM Sans" pitchFamily="34" charset="-120"/>
              </a:rPr>
              <a:t>Feature Engineering</a:t>
            </a:r>
            <a:endParaRPr lang="en-US" sz="6000" dirty="0"/>
          </a:p>
        </p:txBody>
      </p:sp>
      <p:sp>
        <p:nvSpPr>
          <p:cNvPr id="5" name="Shape 3"/>
          <p:cNvSpPr/>
          <p:nvPr/>
        </p:nvSpPr>
        <p:spPr>
          <a:xfrm>
            <a:off x="1117589" y="3620713"/>
            <a:ext cx="812767" cy="63500"/>
          </a:xfrm>
          <a:prstGeom prst="roundRect">
            <a:avLst>
              <a:gd name="adj" fmla="val 50000"/>
            </a:avLst>
          </a:prstGeom>
          <a:solidFill>
            <a:srgbClr val="2563EB"/>
          </a:solidFill>
          <a:ln/>
        </p:spPr>
      </p:sp>
      <p:sp>
        <p:nvSpPr>
          <p:cNvPr id="6" name="Text 4"/>
          <p:cNvSpPr/>
          <p:nvPr/>
        </p:nvSpPr>
        <p:spPr>
          <a:xfrm>
            <a:off x="1117589" y="3887391"/>
            <a:ext cx="10569494" cy="452151"/>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334155"/>
                </a:solidFill>
                <a:latin typeface="DM Sans" pitchFamily="34" charset="0"/>
                <a:ea typeface="DM Sans" pitchFamily="34" charset="-122"/>
                <a:cs typeface="DM Sans" pitchFamily="34" charset="-120"/>
              </a:rPr>
              <a:t>Improve the input, improve the prediction</a:t>
            </a:r>
            <a:endParaRPr lang="en-US" sz="2400" dirty="0"/>
          </a:p>
        </p:txBody>
      </p:sp>
      <p:sp>
        <p:nvSpPr>
          <p:cNvPr id="7" name="Text 5"/>
          <p:cNvSpPr/>
          <p:nvPr/>
        </p:nvSpPr>
        <p:spPr>
          <a:xfrm>
            <a:off x="1117589" y="4517320"/>
            <a:ext cx="10569494"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4748B"/>
                </a:solidFill>
                <a:latin typeface="DM Sans" pitchFamily="34" charset="0"/>
                <a:ea typeface="DM Sans" pitchFamily="34" charset="-122"/>
                <a:cs typeface="DM Sans" pitchFamily="34" charset="-120"/>
              </a:rPr>
              <a:t>Learning linear regression by predicting students’ math scores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67" y="508000"/>
            <a:ext cx="10883461"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5C"/>
                </a:solidFill>
                <a:latin typeface="DM Sans" pitchFamily="34" charset="0"/>
                <a:ea typeface="DM Sans" pitchFamily="34" charset="-122"/>
                <a:cs typeface="DM Sans" pitchFamily="34" charset="-120"/>
              </a:rPr>
              <a:t>The Big Idea</a:t>
            </a:r>
            <a:endParaRPr lang="en-US" sz="3200" dirty="0"/>
          </a:p>
        </p:txBody>
      </p:sp>
      <p:sp>
        <p:nvSpPr>
          <p:cNvPr id="3" name="Shape 1"/>
          <p:cNvSpPr/>
          <p:nvPr/>
        </p:nvSpPr>
        <p:spPr>
          <a:xfrm>
            <a:off x="812767" y="1076909"/>
            <a:ext cx="609589" cy="50767"/>
          </a:xfrm>
          <a:prstGeom prst="roundRect">
            <a:avLst>
              <a:gd name="adj" fmla="val 50000"/>
            </a:avLst>
          </a:prstGeom>
          <a:solidFill>
            <a:srgbClr val="2563EB"/>
          </a:solidFill>
          <a:ln/>
        </p:spPr>
      </p:sp>
      <p:sp>
        <p:nvSpPr>
          <p:cNvPr id="4" name="Text 2"/>
          <p:cNvSpPr/>
          <p:nvPr/>
        </p:nvSpPr>
        <p:spPr>
          <a:xfrm>
            <a:off x="849089" y="1356265"/>
            <a:ext cx="10839519" cy="1147399"/>
          </a:xfrm>
          <a:prstGeom prst="rect">
            <a:avLst/>
          </a:prstGeom>
          <a:noFill/>
          <a:ln/>
        </p:spPr>
        <p:txBody>
          <a:bodyPr wrap="square" lIns="0" tIns="0" rIns="0" bIns="0" rtlCol="0" anchor="t">
            <a:normAutofit/>
          </a:bodyPr>
          <a:lstStyle/>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Key point: keep the model fixed and improve the input features to raise accuracy</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Part 1: tidy the columns we already have</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Part 2: add new columns and avoid data leakage</a:t>
            </a:r>
            <a:endParaRPr lang="en-US" sz="1900" dirty="0"/>
          </a:p>
        </p:txBody>
      </p:sp>
      <p:sp>
        <p:nvSpPr>
          <p:cNvPr id="5" name="Shape 3"/>
          <p:cNvSpPr/>
          <p:nvPr/>
        </p:nvSpPr>
        <p:spPr>
          <a:xfrm>
            <a:off x="819117" y="2713203"/>
            <a:ext cx="10553767" cy="1383418"/>
          </a:xfrm>
          <a:prstGeom prst="roundRect">
            <a:avLst>
              <a:gd name="adj" fmla="val 8721"/>
            </a:avLst>
          </a:prstGeom>
          <a:solidFill>
            <a:srgbClr val="F1F6FE"/>
          </a:solidFill>
          <a:ln w="12700">
            <a:solidFill>
              <a:srgbClr val="CFE0FA"/>
            </a:solidFill>
            <a:prstDash val="solid"/>
          </a:ln>
        </p:spPr>
      </p:sp>
      <p:sp>
        <p:nvSpPr>
          <p:cNvPr id="6" name="Text 4"/>
          <p:cNvSpPr/>
          <p:nvPr/>
        </p:nvSpPr>
        <p:spPr>
          <a:xfrm>
            <a:off x="1102706" y="2946026"/>
            <a:ext cx="10286186"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The big picture</a:t>
            </a:r>
            <a:endParaRPr lang="en-US" sz="1400" dirty="0"/>
          </a:p>
        </p:txBody>
      </p:sp>
      <p:sp>
        <p:nvSpPr>
          <p:cNvPr id="7" name="Text 5"/>
          <p:cNvSpPr/>
          <p:nvPr/>
        </p:nvSpPr>
        <p:spPr>
          <a:xfrm>
            <a:off x="1109056" y="3292751"/>
            <a:ext cx="3408969" cy="564698"/>
          </a:xfrm>
          <a:prstGeom prst="roundRect">
            <a:avLst>
              <a:gd name="adj" fmla="val 14618"/>
            </a:avLst>
          </a:prstGeom>
          <a:solidFill>
            <a:srgbClr val="2563EB"/>
          </a:solidFill>
          <a:ln w="12700">
            <a:solidFill>
              <a:srgbClr val="2563EB"/>
            </a:solidFill>
            <a:prstDash val="solid"/>
          </a:ln>
        </p:spPr>
        <p:txBody>
          <a:bodyPr wrap="none" lIns="0" tIns="0" rIns="0" bIns="0" rtlCol="0" anchor="ctr">
            <a:normAutofit/>
          </a:bodyPr>
          <a:lstStyle/>
          <a:p>
            <a:pPr algn="ctr" indent="0" marL="0">
              <a:lnSpc>
                <a:spcPts val="2380"/>
              </a:lnSpc>
              <a:buNone/>
            </a:pPr>
            <a:r>
              <a:rPr lang="en-US" sz="1700" b="1" dirty="0">
                <a:solidFill>
                  <a:srgbClr val="FFFFFF"/>
                </a:solidFill>
                <a:latin typeface="DM Sans" pitchFamily="34" charset="0"/>
                <a:ea typeface="DM Sans" pitchFamily="34" charset="-122"/>
                <a:cs typeface="DM Sans" pitchFamily="34" charset="-120"/>
              </a:rPr>
              <a:t>Improve the input (features)</a:t>
            </a:r>
            <a:endParaRPr lang="en-US" sz="1700" dirty="0"/>
          </a:p>
        </p:txBody>
      </p:sp>
      <p:sp>
        <p:nvSpPr>
          <p:cNvPr id="8" name="Text 6"/>
          <p:cNvSpPr/>
          <p:nvPr/>
        </p:nvSpPr>
        <p:spPr>
          <a:xfrm>
            <a:off x="4676731" y="3397306"/>
            <a:ext cx="304800" cy="380989"/>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563EB"/>
                </a:solidFill>
                <a:latin typeface="DM Sans" pitchFamily="34" charset="0"/>
                <a:ea typeface="DM Sans" pitchFamily="34" charset="-122"/>
                <a:cs typeface="DM Sans" pitchFamily="34" charset="-120"/>
              </a:rPr>
              <a:t>→</a:t>
            </a:r>
            <a:endParaRPr lang="en-US" sz="2000" dirty="0"/>
          </a:p>
        </p:txBody>
      </p:sp>
      <p:sp>
        <p:nvSpPr>
          <p:cNvPr id="9" name="Text 7"/>
          <p:cNvSpPr/>
          <p:nvPr/>
        </p:nvSpPr>
        <p:spPr>
          <a:xfrm>
            <a:off x="5089437" y="3292751"/>
            <a:ext cx="1719163" cy="564698"/>
          </a:xfrm>
          <a:prstGeom prst="roundRect">
            <a:avLst>
              <a:gd name="adj" fmla="val 14618"/>
            </a:avLst>
          </a:prstGeom>
          <a:solidFill>
            <a:srgbClr val="FFFFFF"/>
          </a:solidFill>
          <a:ln w="12700">
            <a:solidFill>
              <a:srgbClr val="BFD4F6"/>
            </a:solidFill>
            <a:prstDash val="solid"/>
          </a:ln>
        </p:spPr>
        <p:txBody>
          <a:bodyPr wrap="none" lIns="0" tIns="0" rIns="0" bIns="0" rtlCol="0" anchor="ctr">
            <a:normAutofit/>
          </a:bodyPr>
          <a:lstStyle/>
          <a:p>
            <a:pPr algn="ctr" indent="0" marL="0">
              <a:lnSpc>
                <a:spcPts val="2380"/>
              </a:lnSpc>
              <a:buNone/>
            </a:pPr>
            <a:r>
              <a:rPr lang="en-US" sz="1700" b="1" dirty="0">
                <a:solidFill>
                  <a:srgbClr val="0F2A5C"/>
                </a:solidFill>
                <a:latin typeface="DM Sans" pitchFamily="34" charset="0"/>
                <a:ea typeface="DM Sans" pitchFamily="34" charset="-122"/>
                <a:cs typeface="DM Sans" pitchFamily="34" charset="-120"/>
              </a:rPr>
              <a:t>Same model</a:t>
            </a:r>
            <a:endParaRPr lang="en-US" sz="1700" dirty="0"/>
          </a:p>
        </p:txBody>
      </p:sp>
      <p:sp>
        <p:nvSpPr>
          <p:cNvPr id="10" name="Text 8"/>
          <p:cNvSpPr/>
          <p:nvPr/>
        </p:nvSpPr>
        <p:spPr>
          <a:xfrm>
            <a:off x="6967307" y="3397306"/>
            <a:ext cx="304800" cy="380989"/>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563EB"/>
                </a:solidFill>
                <a:latin typeface="DM Sans" pitchFamily="34" charset="0"/>
                <a:ea typeface="DM Sans" pitchFamily="34" charset="-122"/>
                <a:cs typeface="DM Sans" pitchFamily="34" charset="-120"/>
              </a:rPr>
              <a:t>→</a:t>
            </a:r>
            <a:endParaRPr lang="en-US" sz="2000" dirty="0"/>
          </a:p>
        </p:txBody>
      </p:sp>
      <p:sp>
        <p:nvSpPr>
          <p:cNvPr id="11" name="Text 9"/>
          <p:cNvSpPr/>
          <p:nvPr/>
        </p:nvSpPr>
        <p:spPr>
          <a:xfrm>
            <a:off x="7380012" y="3292751"/>
            <a:ext cx="2157324" cy="564698"/>
          </a:xfrm>
          <a:prstGeom prst="roundRect">
            <a:avLst>
              <a:gd name="adj" fmla="val 14618"/>
            </a:avLst>
          </a:prstGeom>
          <a:solidFill>
            <a:srgbClr val="FFFFFF"/>
          </a:solidFill>
          <a:ln w="12700">
            <a:solidFill>
              <a:srgbClr val="BFD4F6"/>
            </a:solidFill>
            <a:prstDash val="solid"/>
          </a:ln>
        </p:spPr>
        <p:txBody>
          <a:bodyPr wrap="none" lIns="0" tIns="0" rIns="0" bIns="0" rtlCol="0" anchor="ctr">
            <a:normAutofit/>
          </a:bodyPr>
          <a:lstStyle/>
          <a:p>
            <a:pPr algn="ctr" indent="0" marL="0">
              <a:lnSpc>
                <a:spcPts val="2380"/>
              </a:lnSpc>
              <a:buNone/>
            </a:pPr>
            <a:r>
              <a:rPr lang="en-US" sz="1700" b="1" dirty="0">
                <a:solidFill>
                  <a:srgbClr val="0F2A5C"/>
                </a:solidFill>
                <a:latin typeface="DM Sans" pitchFamily="34" charset="0"/>
                <a:ea typeface="DM Sans" pitchFamily="34" charset="-122"/>
                <a:cs typeface="DM Sans" pitchFamily="34" charset="-120"/>
              </a:rPr>
              <a:t>Higher accuracy</a:t>
            </a:r>
            <a:endParaRPr lang="en-US" sz="1700" dirty="0"/>
          </a:p>
        </p:txBody>
      </p:sp>
      <p:sp>
        <p:nvSpPr>
          <p:cNvPr id="12" name="Text 10"/>
          <p:cNvSpPr/>
          <p:nvPr/>
        </p:nvSpPr>
        <p:spPr>
          <a:xfrm>
            <a:off x="812767" y="6289036"/>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DM Sans" pitchFamily="34" charset="0"/>
                <a:ea typeface="DM Sans" pitchFamily="34" charset="-122"/>
                <a:cs typeface="DM Sans" pitchFamily="34" charset="-120"/>
              </a:rPr>
              <a:t>Part 1 Tidying existing columns</a:t>
            </a:r>
            <a:endParaRPr lang="en-US" sz="1200" dirty="0"/>
          </a:p>
        </p:txBody>
      </p:sp>
      <p:sp>
        <p:nvSpPr>
          <p:cNvPr id="13" name="Text 11"/>
          <p:cNvSpPr/>
          <p:nvPr/>
        </p:nvSpPr>
        <p:spPr>
          <a:xfrm>
            <a:off x="10058433" y="6289036"/>
            <a:ext cx="1320800" cy="23877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748B"/>
                </a:solidFill>
                <a:latin typeface="DM Sans" pitchFamily="34" charset="0"/>
                <a:ea typeface="DM Sans" pitchFamily="34" charset="-122"/>
                <a:cs typeface="DM Sans" pitchFamily="34" charset="-120"/>
              </a:rPr>
              <a:t>1</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04767" cy="6858000"/>
          </a:xfrm>
          <a:prstGeom prst="rect">
            <a:avLst/>
          </a:prstGeom>
          <a:solidFill>
            <a:srgbClr val="2563EB"/>
          </a:solidFill>
          <a:ln/>
        </p:spPr>
      </p:sp>
      <p:sp>
        <p:nvSpPr>
          <p:cNvPr id="3" name="Text 1"/>
          <p:cNvSpPr/>
          <p:nvPr/>
        </p:nvSpPr>
        <p:spPr>
          <a:xfrm>
            <a:off x="1117589" y="1959682"/>
            <a:ext cx="10569494" cy="523203"/>
          </a:xfrm>
          <a:prstGeom prst="rect">
            <a:avLst/>
          </a:prstGeom>
          <a:noFill/>
          <a:ln/>
        </p:spPr>
        <p:txBody>
          <a:bodyPr wrap="square" lIns="0" tIns="0" rIns="0" bIns="0" rtlCol="0" anchor="t">
            <a:normAutofit/>
          </a:bodyPr>
          <a:lstStyle/>
          <a:p>
            <a:pPr algn="l" indent="0" marL="0">
              <a:lnSpc>
                <a:spcPts val="3920"/>
              </a:lnSpc>
              <a:buNone/>
            </a:pPr>
            <a:r>
              <a:rPr lang="en-US" sz="2800" b="1" spc="200" kern="0" dirty="0">
                <a:solidFill>
                  <a:srgbClr val="2563EB"/>
                </a:solidFill>
                <a:latin typeface="DM Sans" pitchFamily="34" charset="0"/>
                <a:ea typeface="DM Sans" pitchFamily="34" charset="-122"/>
                <a:cs typeface="DM Sans" pitchFamily="34" charset="-120"/>
              </a:rPr>
              <a:t>Part 1</a:t>
            </a:r>
            <a:endParaRPr lang="en-US" sz="2800" dirty="0"/>
          </a:p>
        </p:txBody>
      </p:sp>
      <p:sp>
        <p:nvSpPr>
          <p:cNvPr id="4" name="Text 2"/>
          <p:cNvSpPr/>
          <p:nvPr>
            <p:ph type="title"/>
          </p:nvPr>
        </p:nvSpPr>
        <p:spPr>
          <a:xfrm>
            <a:off x="1117589" y="2635252"/>
            <a:ext cx="10569494" cy="1478293"/>
          </a:xfrm>
          <a:prstGeom prst="rect">
            <a:avLst/>
          </a:prstGeom>
          <a:noFill/>
          <a:ln/>
        </p:spPr>
        <p:txBody>
          <a:bodyPr wrap="square" lIns="0" tIns="0" rIns="0" bIns="0" rtlCol="0" anchor="t">
            <a:normAutofit/>
          </a:bodyPr>
          <a:lstStyle/>
          <a:p>
            <a:pPr algn="l" indent="0" marL="0">
              <a:lnSpc>
                <a:spcPts val="5720"/>
              </a:lnSpc>
              <a:buNone/>
            </a:pPr>
            <a:r>
              <a:rPr lang="en-US" sz="5200" b="1" i="0" dirty="0">
                <a:solidFill>
                  <a:srgbClr val="0F2A5C"/>
                </a:solidFill>
                <a:latin typeface="DM Sans" pitchFamily="34" charset="0"/>
                <a:ea typeface="DM Sans" pitchFamily="34" charset="-122"/>
                <a:cs typeface="DM Sans" pitchFamily="34" charset="-120"/>
              </a:rPr>
              <a:t>Tidying the Columns We Already Have</a:t>
            </a:r>
            <a:endParaRPr lang="en-US" sz="5200" dirty="0"/>
          </a:p>
        </p:txBody>
      </p:sp>
      <p:sp>
        <p:nvSpPr>
          <p:cNvPr id="5" name="Shape 3"/>
          <p:cNvSpPr/>
          <p:nvPr/>
        </p:nvSpPr>
        <p:spPr>
          <a:xfrm>
            <a:off x="1117589" y="4265912"/>
            <a:ext cx="812767" cy="63500"/>
          </a:xfrm>
          <a:prstGeom prst="roundRect">
            <a:avLst>
              <a:gd name="adj" fmla="val 50000"/>
            </a:avLst>
          </a:prstGeom>
          <a:solidFill>
            <a:srgbClr val="2563EB"/>
          </a:solidFill>
          <a:ln/>
        </p:spPr>
      </p:sp>
      <p:sp>
        <p:nvSpPr>
          <p:cNvPr id="6" name="Text 4"/>
          <p:cNvSpPr/>
          <p:nvPr/>
        </p:nvSpPr>
        <p:spPr>
          <a:xfrm>
            <a:off x="1117589" y="4507178"/>
            <a:ext cx="10569494" cy="416542"/>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334155"/>
                </a:solidFill>
                <a:latin typeface="DM Sans" pitchFamily="34" charset="0"/>
                <a:ea typeface="DM Sans" pitchFamily="34" charset="-122"/>
                <a:cs typeface="DM Sans" pitchFamily="34" charset="-120"/>
              </a:rPr>
              <a:t>Feature engineering: select and transform</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67" y="508000"/>
            <a:ext cx="10883461"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5C"/>
                </a:solidFill>
                <a:latin typeface="DM Sans" pitchFamily="34" charset="0"/>
                <a:ea typeface="DM Sans" pitchFamily="34" charset="-122"/>
                <a:cs typeface="DM Sans" pitchFamily="34" charset="-120"/>
              </a:rPr>
              <a:t>Recap: From Data Prep to Deployment</a:t>
            </a:r>
            <a:endParaRPr lang="en-US" sz="3200" dirty="0"/>
          </a:p>
        </p:txBody>
      </p:sp>
      <p:sp>
        <p:nvSpPr>
          <p:cNvPr id="3" name="Shape 1"/>
          <p:cNvSpPr/>
          <p:nvPr/>
        </p:nvSpPr>
        <p:spPr>
          <a:xfrm>
            <a:off x="812767" y="1076909"/>
            <a:ext cx="609589" cy="50767"/>
          </a:xfrm>
          <a:prstGeom prst="roundRect">
            <a:avLst>
              <a:gd name="adj" fmla="val 50000"/>
            </a:avLst>
          </a:prstGeom>
          <a:solidFill>
            <a:srgbClr val="2563EB"/>
          </a:solidFill>
          <a:ln/>
        </p:spPr>
      </p:sp>
      <p:sp>
        <p:nvSpPr>
          <p:cNvPr id="4" name="Text 2"/>
          <p:cNvSpPr/>
          <p:nvPr/>
        </p:nvSpPr>
        <p:spPr>
          <a:xfrm>
            <a:off x="849089" y="1356265"/>
            <a:ext cx="10839519" cy="1147399"/>
          </a:xfrm>
          <a:prstGeom prst="rect">
            <a:avLst/>
          </a:prstGeom>
          <a:noFill/>
          <a:ln/>
        </p:spPr>
        <p:txBody>
          <a:bodyPr wrap="square" lIns="0" tIns="0" rIns="0" bIns="0" rtlCol="0" anchor="t">
            <a:normAutofit/>
          </a:bodyPr>
          <a:lstStyle/>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Scenario: a model that predicts whether a new customer will churn</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Stages: ① data preparation ② training and validation ③ deployment</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Problem: accuracy turned out to be low at stage ②</a:t>
            </a:r>
            <a:endParaRPr lang="en-US" sz="1900" dirty="0"/>
          </a:p>
        </p:txBody>
      </p:sp>
      <p:sp>
        <p:nvSpPr>
          <p:cNvPr id="5" name="Shape 3"/>
          <p:cNvSpPr/>
          <p:nvPr/>
        </p:nvSpPr>
        <p:spPr>
          <a:xfrm>
            <a:off x="819117" y="2713202"/>
            <a:ext cx="10553767" cy="1777096"/>
          </a:xfrm>
          <a:prstGeom prst="roundRect">
            <a:avLst>
              <a:gd name="adj" fmla="val 6789"/>
            </a:avLst>
          </a:prstGeom>
          <a:solidFill>
            <a:srgbClr val="F1F6FE"/>
          </a:solidFill>
          <a:ln w="12700">
            <a:solidFill>
              <a:srgbClr val="CFE0FA"/>
            </a:solidFill>
            <a:prstDash val="solid"/>
          </a:ln>
        </p:spPr>
      </p:sp>
      <p:sp>
        <p:nvSpPr>
          <p:cNvPr id="6" name="Text 4"/>
          <p:cNvSpPr/>
          <p:nvPr/>
        </p:nvSpPr>
        <p:spPr>
          <a:xfrm>
            <a:off x="1102706" y="2946025"/>
            <a:ext cx="10286186"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The flow</a:t>
            </a:r>
            <a:endParaRPr lang="en-US" sz="1400" dirty="0"/>
          </a:p>
        </p:txBody>
      </p:sp>
      <p:sp>
        <p:nvSpPr>
          <p:cNvPr id="7" name="Text 5"/>
          <p:cNvSpPr/>
          <p:nvPr/>
        </p:nvSpPr>
        <p:spPr>
          <a:xfrm>
            <a:off x="1109056" y="3292751"/>
            <a:ext cx="2478573" cy="564698"/>
          </a:xfrm>
          <a:prstGeom prst="roundRect">
            <a:avLst>
              <a:gd name="adj" fmla="val 14618"/>
            </a:avLst>
          </a:prstGeom>
          <a:solidFill>
            <a:srgbClr val="FFFFFF"/>
          </a:solidFill>
          <a:ln w="12700">
            <a:solidFill>
              <a:srgbClr val="BFD4F6"/>
            </a:solidFill>
            <a:prstDash val="solid"/>
          </a:ln>
        </p:spPr>
        <p:txBody>
          <a:bodyPr wrap="none" lIns="0" tIns="0" rIns="0" bIns="0" rtlCol="0" anchor="ctr">
            <a:normAutofit/>
          </a:bodyPr>
          <a:lstStyle/>
          <a:p>
            <a:pPr algn="ctr" indent="0" marL="0">
              <a:lnSpc>
                <a:spcPts val="2380"/>
              </a:lnSpc>
              <a:buNone/>
            </a:pPr>
            <a:r>
              <a:rPr lang="en-US" sz="1700" b="1" dirty="0">
                <a:solidFill>
                  <a:srgbClr val="0F2A5C"/>
                </a:solidFill>
                <a:latin typeface="DM Sans" pitchFamily="34" charset="0"/>
                <a:ea typeface="DM Sans" pitchFamily="34" charset="-122"/>
                <a:cs typeface="DM Sans" pitchFamily="34" charset="-120"/>
              </a:rPr>
              <a:t>① Data preparation</a:t>
            </a:r>
            <a:endParaRPr lang="en-US" sz="1700" dirty="0"/>
          </a:p>
        </p:txBody>
      </p:sp>
      <p:sp>
        <p:nvSpPr>
          <p:cNvPr id="8" name="Text 6"/>
          <p:cNvSpPr/>
          <p:nvPr/>
        </p:nvSpPr>
        <p:spPr>
          <a:xfrm>
            <a:off x="3746335" y="3397304"/>
            <a:ext cx="304800" cy="380989"/>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563EB"/>
                </a:solidFill>
                <a:latin typeface="DM Sans" pitchFamily="34" charset="0"/>
                <a:ea typeface="DM Sans" pitchFamily="34" charset="-122"/>
                <a:cs typeface="DM Sans" pitchFamily="34" charset="-120"/>
              </a:rPr>
              <a:t>→</a:t>
            </a:r>
            <a:endParaRPr lang="en-US" sz="2000" dirty="0"/>
          </a:p>
        </p:txBody>
      </p:sp>
      <p:sp>
        <p:nvSpPr>
          <p:cNvPr id="9" name="Text 7"/>
          <p:cNvSpPr/>
          <p:nvPr/>
        </p:nvSpPr>
        <p:spPr>
          <a:xfrm>
            <a:off x="4159041" y="3292751"/>
            <a:ext cx="3066003" cy="564698"/>
          </a:xfrm>
          <a:prstGeom prst="roundRect">
            <a:avLst>
              <a:gd name="adj" fmla="val 14618"/>
            </a:avLst>
          </a:prstGeom>
          <a:solidFill>
            <a:srgbClr val="2563EB"/>
          </a:solidFill>
          <a:ln w="12700">
            <a:solidFill>
              <a:srgbClr val="2563EB"/>
            </a:solidFill>
            <a:prstDash val="solid"/>
          </a:ln>
        </p:spPr>
        <p:txBody>
          <a:bodyPr wrap="none" lIns="0" tIns="0" rIns="0" bIns="0" rtlCol="0" anchor="ctr">
            <a:normAutofit/>
          </a:bodyPr>
          <a:lstStyle/>
          <a:p>
            <a:pPr algn="ctr" indent="0" marL="0">
              <a:lnSpc>
                <a:spcPts val="2380"/>
              </a:lnSpc>
              <a:buNone/>
            </a:pPr>
            <a:r>
              <a:rPr lang="en-US" sz="1700" b="1" dirty="0">
                <a:solidFill>
                  <a:srgbClr val="FFFFFF"/>
                </a:solidFill>
                <a:latin typeface="DM Sans" pitchFamily="34" charset="0"/>
                <a:ea typeface="DM Sans" pitchFamily="34" charset="-122"/>
                <a:cs typeface="DM Sans" pitchFamily="34" charset="-120"/>
              </a:rPr>
              <a:t>② Training and validation</a:t>
            </a:r>
            <a:endParaRPr lang="en-US" sz="1700" dirty="0"/>
          </a:p>
        </p:txBody>
      </p:sp>
      <p:sp>
        <p:nvSpPr>
          <p:cNvPr id="10" name="Text 8"/>
          <p:cNvSpPr/>
          <p:nvPr/>
        </p:nvSpPr>
        <p:spPr>
          <a:xfrm>
            <a:off x="7383749" y="3397304"/>
            <a:ext cx="304800" cy="380989"/>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563EB"/>
                </a:solidFill>
                <a:latin typeface="DM Sans" pitchFamily="34" charset="0"/>
                <a:ea typeface="DM Sans" pitchFamily="34" charset="-122"/>
                <a:cs typeface="DM Sans" pitchFamily="34" charset="-120"/>
              </a:rPr>
              <a:t>→</a:t>
            </a:r>
            <a:endParaRPr lang="en-US" sz="2000" dirty="0"/>
          </a:p>
        </p:txBody>
      </p:sp>
      <p:sp>
        <p:nvSpPr>
          <p:cNvPr id="11" name="Text 9"/>
          <p:cNvSpPr/>
          <p:nvPr/>
        </p:nvSpPr>
        <p:spPr>
          <a:xfrm>
            <a:off x="7796455" y="3292751"/>
            <a:ext cx="1966935" cy="564698"/>
          </a:xfrm>
          <a:prstGeom prst="roundRect">
            <a:avLst>
              <a:gd name="adj" fmla="val 14618"/>
            </a:avLst>
          </a:prstGeom>
          <a:solidFill>
            <a:srgbClr val="FFFFFF"/>
          </a:solidFill>
          <a:ln w="12700">
            <a:solidFill>
              <a:srgbClr val="BFD4F6"/>
            </a:solidFill>
            <a:prstDash val="solid"/>
          </a:ln>
        </p:spPr>
        <p:txBody>
          <a:bodyPr wrap="none" lIns="0" tIns="0" rIns="0" bIns="0" rtlCol="0" anchor="ctr">
            <a:normAutofit/>
          </a:bodyPr>
          <a:lstStyle/>
          <a:p>
            <a:pPr algn="ctr" indent="0" marL="0">
              <a:lnSpc>
                <a:spcPts val="2380"/>
              </a:lnSpc>
              <a:buNone/>
            </a:pPr>
            <a:r>
              <a:rPr lang="en-US" sz="1700" b="1" dirty="0">
                <a:solidFill>
                  <a:srgbClr val="0F2A5C"/>
                </a:solidFill>
                <a:latin typeface="DM Sans" pitchFamily="34" charset="0"/>
                <a:ea typeface="DM Sans" pitchFamily="34" charset="-122"/>
                <a:cs typeface="DM Sans" pitchFamily="34" charset="-120"/>
              </a:rPr>
              <a:t>③ Deployment</a:t>
            </a:r>
            <a:endParaRPr lang="en-US" sz="1700" dirty="0"/>
          </a:p>
        </p:txBody>
      </p:sp>
      <p:sp>
        <p:nvSpPr>
          <p:cNvPr id="12" name="Text 10"/>
          <p:cNvSpPr/>
          <p:nvPr/>
        </p:nvSpPr>
        <p:spPr>
          <a:xfrm>
            <a:off x="1102706" y="3990798"/>
            <a:ext cx="10286186" cy="292078"/>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34155"/>
                </a:solidFill>
                <a:latin typeface="DM Sans" pitchFamily="34" charset="0"/>
                <a:ea typeface="DM Sans" pitchFamily="34" charset="-122"/>
                <a:cs typeface="DM Sans" pitchFamily="34" charset="-120"/>
              </a:rPr>
              <a:t>Low accuracy was found at stage ②.</a:t>
            </a:r>
            <a:endParaRPr lang="en-US" sz="1500" dirty="0"/>
          </a:p>
        </p:txBody>
      </p:sp>
      <p:sp>
        <p:nvSpPr>
          <p:cNvPr id="13" name="Text 11"/>
          <p:cNvSpPr/>
          <p:nvPr/>
        </p:nvSpPr>
        <p:spPr>
          <a:xfrm>
            <a:off x="812767" y="6289035"/>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DM Sans" pitchFamily="34" charset="0"/>
                <a:ea typeface="DM Sans" pitchFamily="34" charset="-122"/>
                <a:cs typeface="DM Sans" pitchFamily="34" charset="-120"/>
              </a:rPr>
              <a:t>Part 1 Tidying existing columns</a:t>
            </a:r>
            <a:endParaRPr lang="en-US" sz="1200" dirty="0"/>
          </a:p>
        </p:txBody>
      </p:sp>
      <p:sp>
        <p:nvSpPr>
          <p:cNvPr id="14" name="Text 12"/>
          <p:cNvSpPr/>
          <p:nvPr/>
        </p:nvSpPr>
        <p:spPr>
          <a:xfrm>
            <a:off x="10058433" y="6289035"/>
            <a:ext cx="1320800" cy="23877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748B"/>
                </a:solidFill>
                <a:latin typeface="DM Sans" pitchFamily="34" charset="0"/>
                <a:ea typeface="DM Sans" pitchFamily="34" charset="-122"/>
                <a:cs typeface="DM Sans" pitchFamily="34" charset="-120"/>
              </a:rPr>
              <a:t>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67" y="508000"/>
            <a:ext cx="10883461"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5C"/>
                </a:solidFill>
                <a:latin typeface="DM Sans" pitchFamily="34" charset="0"/>
                <a:ea typeface="DM Sans" pitchFamily="34" charset="-122"/>
                <a:cs typeface="DM Sans" pitchFamily="34" charset="-120"/>
              </a:rPr>
              <a:t>Recap: The Big Picture</a:t>
            </a:r>
            <a:endParaRPr lang="en-US" sz="3200" dirty="0"/>
          </a:p>
        </p:txBody>
      </p:sp>
      <p:sp>
        <p:nvSpPr>
          <p:cNvPr id="3" name="Shape 1"/>
          <p:cNvSpPr/>
          <p:nvPr/>
        </p:nvSpPr>
        <p:spPr>
          <a:xfrm>
            <a:off x="812767" y="1076911"/>
            <a:ext cx="609589" cy="50767"/>
          </a:xfrm>
          <a:prstGeom prst="roundRect">
            <a:avLst>
              <a:gd name="adj" fmla="val 50000"/>
            </a:avLst>
          </a:prstGeom>
          <a:solidFill>
            <a:srgbClr val="2563EB"/>
          </a:solidFill>
          <a:ln/>
        </p:spPr>
      </p:sp>
      <p:sp>
        <p:nvSpPr>
          <p:cNvPr id="4" name="Text 2"/>
          <p:cNvSpPr/>
          <p:nvPr/>
        </p:nvSpPr>
        <p:spPr>
          <a:xfrm>
            <a:off x="849089" y="1356268"/>
            <a:ext cx="10839519" cy="1147399"/>
          </a:xfrm>
          <a:prstGeom prst="rect">
            <a:avLst/>
          </a:prstGeom>
          <a:noFill/>
          <a:ln/>
        </p:spPr>
        <p:txBody>
          <a:bodyPr wrap="square" lIns="0" tIns="0" rIns="0" bIns="0" rtlCol="0" anchor="t">
            <a:normAutofit/>
          </a:bodyPr>
          <a:lstStyle/>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Input: the data we give the model</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Model: learns patterns from the input</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Output: the prediction</a:t>
            </a:r>
            <a:endParaRPr lang="en-US" sz="1900" dirty="0"/>
          </a:p>
        </p:txBody>
      </p:sp>
      <p:sp>
        <p:nvSpPr>
          <p:cNvPr id="5" name="Shape 3"/>
          <p:cNvSpPr/>
          <p:nvPr/>
        </p:nvSpPr>
        <p:spPr>
          <a:xfrm>
            <a:off x="819117" y="2713205"/>
            <a:ext cx="10553767" cy="1383418"/>
          </a:xfrm>
          <a:prstGeom prst="roundRect">
            <a:avLst>
              <a:gd name="adj" fmla="val 8721"/>
            </a:avLst>
          </a:prstGeom>
          <a:solidFill>
            <a:srgbClr val="F1F6FE"/>
          </a:solidFill>
          <a:ln w="12700">
            <a:solidFill>
              <a:srgbClr val="CFE0FA"/>
            </a:solidFill>
            <a:prstDash val="solid"/>
          </a:ln>
        </p:spPr>
      </p:sp>
      <p:sp>
        <p:nvSpPr>
          <p:cNvPr id="6" name="Text 4"/>
          <p:cNvSpPr/>
          <p:nvPr/>
        </p:nvSpPr>
        <p:spPr>
          <a:xfrm>
            <a:off x="1102706" y="2946028"/>
            <a:ext cx="10286186"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Churn prediction example</a:t>
            </a:r>
            <a:endParaRPr lang="en-US" sz="1400" dirty="0"/>
          </a:p>
        </p:txBody>
      </p:sp>
      <p:sp>
        <p:nvSpPr>
          <p:cNvPr id="7" name="Text 5"/>
          <p:cNvSpPr/>
          <p:nvPr/>
        </p:nvSpPr>
        <p:spPr>
          <a:xfrm>
            <a:off x="1109056" y="3292751"/>
            <a:ext cx="1999511" cy="564698"/>
          </a:xfrm>
          <a:prstGeom prst="roundRect">
            <a:avLst>
              <a:gd name="adj" fmla="val 14618"/>
            </a:avLst>
          </a:prstGeom>
          <a:solidFill>
            <a:srgbClr val="FFFFFF"/>
          </a:solidFill>
          <a:ln w="12700">
            <a:solidFill>
              <a:srgbClr val="BFD4F6"/>
            </a:solidFill>
            <a:prstDash val="solid"/>
          </a:ln>
        </p:spPr>
        <p:txBody>
          <a:bodyPr wrap="none" lIns="0" tIns="0" rIns="0" bIns="0" rtlCol="0" anchor="ctr">
            <a:normAutofit/>
          </a:bodyPr>
          <a:lstStyle/>
          <a:p>
            <a:pPr algn="ctr" indent="0" marL="0">
              <a:lnSpc>
                <a:spcPts val="2380"/>
              </a:lnSpc>
              <a:buNone/>
            </a:pPr>
            <a:r>
              <a:rPr lang="en-US" sz="1700" b="1" dirty="0">
                <a:solidFill>
                  <a:srgbClr val="0F2A5C"/>
                </a:solidFill>
                <a:latin typeface="DM Sans" pitchFamily="34" charset="0"/>
                <a:ea typeface="DM Sans" pitchFamily="34" charset="-122"/>
                <a:cs typeface="DM Sans" pitchFamily="34" charset="-120"/>
              </a:rPr>
              <a:t>Customer data</a:t>
            </a:r>
            <a:endParaRPr lang="en-US" sz="1700" dirty="0"/>
          </a:p>
        </p:txBody>
      </p:sp>
      <p:sp>
        <p:nvSpPr>
          <p:cNvPr id="8" name="Text 6"/>
          <p:cNvSpPr/>
          <p:nvPr/>
        </p:nvSpPr>
        <p:spPr>
          <a:xfrm>
            <a:off x="3267273" y="3397306"/>
            <a:ext cx="304800" cy="380989"/>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563EB"/>
                </a:solidFill>
                <a:latin typeface="DM Sans" pitchFamily="34" charset="0"/>
                <a:ea typeface="DM Sans" pitchFamily="34" charset="-122"/>
                <a:cs typeface="DM Sans" pitchFamily="34" charset="-120"/>
              </a:rPr>
              <a:t>→</a:t>
            </a:r>
            <a:endParaRPr lang="en-US" sz="2000" dirty="0"/>
          </a:p>
        </p:txBody>
      </p:sp>
      <p:sp>
        <p:nvSpPr>
          <p:cNvPr id="9" name="Text 7"/>
          <p:cNvSpPr/>
          <p:nvPr/>
        </p:nvSpPr>
        <p:spPr>
          <a:xfrm>
            <a:off x="3679980" y="3292751"/>
            <a:ext cx="1066580" cy="564698"/>
          </a:xfrm>
          <a:prstGeom prst="roundRect">
            <a:avLst>
              <a:gd name="adj" fmla="val 14618"/>
            </a:avLst>
          </a:prstGeom>
          <a:solidFill>
            <a:srgbClr val="FFFFFF"/>
          </a:solidFill>
          <a:ln w="12700">
            <a:solidFill>
              <a:srgbClr val="BFD4F6"/>
            </a:solidFill>
            <a:prstDash val="solid"/>
          </a:ln>
        </p:spPr>
        <p:txBody>
          <a:bodyPr wrap="none" lIns="0" tIns="0" rIns="0" bIns="0" rtlCol="0" anchor="ctr">
            <a:normAutofit/>
          </a:bodyPr>
          <a:lstStyle/>
          <a:p>
            <a:pPr algn="ctr" indent="0" marL="0">
              <a:lnSpc>
                <a:spcPts val="2380"/>
              </a:lnSpc>
              <a:buNone/>
            </a:pPr>
            <a:r>
              <a:rPr lang="en-US" sz="1700" b="1" dirty="0">
                <a:solidFill>
                  <a:srgbClr val="0F2A5C"/>
                </a:solidFill>
                <a:latin typeface="DM Sans" pitchFamily="34" charset="0"/>
                <a:ea typeface="DM Sans" pitchFamily="34" charset="-122"/>
                <a:cs typeface="DM Sans" pitchFamily="34" charset="-120"/>
              </a:rPr>
              <a:t>Model</a:t>
            </a:r>
            <a:endParaRPr lang="en-US" sz="1700" dirty="0"/>
          </a:p>
        </p:txBody>
      </p:sp>
      <p:sp>
        <p:nvSpPr>
          <p:cNvPr id="10" name="Text 8"/>
          <p:cNvSpPr/>
          <p:nvPr/>
        </p:nvSpPr>
        <p:spPr>
          <a:xfrm>
            <a:off x="4905265" y="3397306"/>
            <a:ext cx="304800" cy="380989"/>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563EB"/>
                </a:solidFill>
                <a:latin typeface="DM Sans" pitchFamily="34" charset="0"/>
                <a:ea typeface="DM Sans" pitchFamily="34" charset="-122"/>
                <a:cs typeface="DM Sans" pitchFamily="34" charset="-120"/>
              </a:rPr>
              <a:t>→</a:t>
            </a:r>
            <a:endParaRPr lang="en-US" sz="2000" dirty="0"/>
          </a:p>
        </p:txBody>
      </p:sp>
      <p:sp>
        <p:nvSpPr>
          <p:cNvPr id="11" name="Text 9"/>
          <p:cNvSpPr/>
          <p:nvPr/>
        </p:nvSpPr>
        <p:spPr>
          <a:xfrm>
            <a:off x="5317971" y="3292751"/>
            <a:ext cx="1733054" cy="564698"/>
          </a:xfrm>
          <a:prstGeom prst="roundRect">
            <a:avLst>
              <a:gd name="adj" fmla="val 14618"/>
            </a:avLst>
          </a:prstGeom>
          <a:solidFill>
            <a:srgbClr val="FFFFFF"/>
          </a:solidFill>
          <a:ln w="12700">
            <a:solidFill>
              <a:srgbClr val="BFD4F6"/>
            </a:solidFill>
            <a:prstDash val="solid"/>
          </a:ln>
        </p:spPr>
        <p:txBody>
          <a:bodyPr wrap="none" lIns="0" tIns="0" rIns="0" bIns="0" rtlCol="0" anchor="ctr">
            <a:normAutofit/>
          </a:bodyPr>
          <a:lstStyle/>
          <a:p>
            <a:pPr algn="ctr" indent="0" marL="0">
              <a:lnSpc>
                <a:spcPts val="2380"/>
              </a:lnSpc>
              <a:buNone/>
            </a:pPr>
            <a:r>
              <a:rPr lang="en-US" sz="1700" b="1" dirty="0">
                <a:solidFill>
                  <a:srgbClr val="0F2A5C"/>
                </a:solidFill>
                <a:latin typeface="DM Sans" pitchFamily="34" charset="0"/>
                <a:ea typeface="DM Sans" pitchFamily="34" charset="-122"/>
                <a:cs typeface="DM Sans" pitchFamily="34" charset="-120"/>
              </a:rPr>
              <a:t>Churn / Stay</a:t>
            </a:r>
            <a:endParaRPr lang="en-US" sz="1700" dirty="0"/>
          </a:p>
        </p:txBody>
      </p:sp>
      <p:sp>
        <p:nvSpPr>
          <p:cNvPr id="12" name="Text 10"/>
          <p:cNvSpPr/>
          <p:nvPr/>
        </p:nvSpPr>
        <p:spPr>
          <a:xfrm>
            <a:off x="812767" y="6289036"/>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DM Sans" pitchFamily="34" charset="0"/>
                <a:ea typeface="DM Sans" pitchFamily="34" charset="-122"/>
                <a:cs typeface="DM Sans" pitchFamily="34" charset="-120"/>
              </a:rPr>
              <a:t>Part 1 Tidying existing columns</a:t>
            </a:r>
            <a:endParaRPr lang="en-US" sz="1200" dirty="0"/>
          </a:p>
        </p:txBody>
      </p:sp>
      <p:sp>
        <p:nvSpPr>
          <p:cNvPr id="13" name="Text 11"/>
          <p:cNvSpPr/>
          <p:nvPr/>
        </p:nvSpPr>
        <p:spPr>
          <a:xfrm>
            <a:off x="10058433" y="6289036"/>
            <a:ext cx="1320800" cy="23877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748B"/>
                </a:solidFill>
                <a:latin typeface="DM Sans" pitchFamily="34" charset="0"/>
                <a:ea typeface="DM Sans" pitchFamily="34" charset="-122"/>
                <a:cs typeface="DM Sans" pitchFamily="34" charset="-120"/>
              </a:rPr>
              <a:t>4</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67" y="508000"/>
            <a:ext cx="10883461"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5C"/>
                </a:solidFill>
                <a:latin typeface="DM Sans" pitchFamily="34" charset="0"/>
                <a:ea typeface="DM Sans" pitchFamily="34" charset="-122"/>
                <a:cs typeface="DM Sans" pitchFamily="34" charset="-120"/>
              </a:rPr>
              <a:t>Recap: How to Improve a Model</a:t>
            </a:r>
            <a:endParaRPr lang="en-US" sz="3200" dirty="0"/>
          </a:p>
        </p:txBody>
      </p:sp>
      <p:sp>
        <p:nvSpPr>
          <p:cNvPr id="3" name="Shape 1"/>
          <p:cNvSpPr/>
          <p:nvPr/>
        </p:nvSpPr>
        <p:spPr>
          <a:xfrm>
            <a:off x="812767" y="1076908"/>
            <a:ext cx="609589" cy="50767"/>
          </a:xfrm>
          <a:prstGeom prst="roundRect">
            <a:avLst>
              <a:gd name="adj" fmla="val 50000"/>
            </a:avLst>
          </a:prstGeom>
          <a:solidFill>
            <a:srgbClr val="2563EB"/>
          </a:solidFill>
          <a:ln/>
        </p:spPr>
      </p:sp>
      <p:sp>
        <p:nvSpPr>
          <p:cNvPr id="4" name="Text 2"/>
          <p:cNvSpPr/>
          <p:nvPr/>
        </p:nvSpPr>
        <p:spPr>
          <a:xfrm>
            <a:off x="849089" y="1356265"/>
            <a:ext cx="10839519" cy="1521398"/>
          </a:xfrm>
          <a:prstGeom prst="rect">
            <a:avLst/>
          </a:prstGeom>
          <a:noFill/>
          <a:ln/>
        </p:spPr>
        <p:txBody>
          <a:bodyPr wrap="square" lIns="0" tIns="0" rIns="0" bIns="0" rtlCol="0" anchor="t">
            <a:normAutofit/>
          </a:bodyPr>
          <a:lstStyle/>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Wrong predictions mean low model accuracy</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Diagnose the symptom first, then choose the fix</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Overfitting → add more data, stop training early</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Underfitting → add more features</a:t>
            </a:r>
            <a:endParaRPr lang="en-US" sz="1900" dirty="0"/>
          </a:p>
        </p:txBody>
      </p:sp>
      <p:sp>
        <p:nvSpPr>
          <p:cNvPr id="5" name="Shape 3"/>
          <p:cNvSpPr/>
          <p:nvPr/>
        </p:nvSpPr>
        <p:spPr>
          <a:xfrm>
            <a:off x="819117" y="3087201"/>
            <a:ext cx="10553767" cy="2090131"/>
          </a:xfrm>
          <a:prstGeom prst="roundRect">
            <a:avLst>
              <a:gd name="adj" fmla="val 5772"/>
            </a:avLst>
          </a:prstGeom>
          <a:solidFill>
            <a:srgbClr val="F1F6FE"/>
          </a:solidFill>
          <a:ln w="12700">
            <a:solidFill>
              <a:srgbClr val="CFE0FA"/>
            </a:solidFill>
            <a:prstDash val="solid"/>
          </a:ln>
        </p:spPr>
      </p:sp>
      <p:sp>
        <p:nvSpPr>
          <p:cNvPr id="6" name="Text 4"/>
          <p:cNvSpPr/>
          <p:nvPr/>
        </p:nvSpPr>
        <p:spPr>
          <a:xfrm>
            <a:off x="1102706" y="3320024"/>
            <a:ext cx="10286186"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Symptom and fix</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113290" y="3632837"/>
          <a:ext cx="9976005" cy="1311672"/>
        </p:xfrm>
        <a:graphic>
          <a:graphicData uri="http://schemas.openxmlformats.org/drawingml/2006/table">
            <a:tbl>
              <a:tblPr/>
              <a:tblGrid>
                <a:gridCol w="2992801"/>
                <a:gridCol w="6983203"/>
              </a:tblGrid>
              <a:tr h="437224">
                <a:tc>
                  <a:txBody>
                    <a:bodyPr/>
                    <a:lstStyle/>
                    <a:p>
                      <a:pPr indent="0" marL="0">
                        <a:lnSpc>
                          <a:spcPts val="2240"/>
                        </a:lnSpc>
                        <a:buNone/>
                      </a:pPr>
                      <a:r>
                        <a:rPr lang="en-US" sz="1600" b="1" dirty="0">
                          <a:solidFill>
                            <a:srgbClr val="0F2A5C"/>
                          </a:solidFill>
                          <a:latin typeface="DM Sans" pitchFamily="34" charset="0"/>
                          <a:ea typeface="DM Sans" pitchFamily="34" charset="-122"/>
                          <a:cs typeface="DM Sans" pitchFamily="34" charset="-120"/>
                        </a:rPr>
                        <a:t>Symptom</a:t>
                      </a:r>
                      <a:endParaRPr lang="en-US" sz="1600" dirty="0">
                        <a:latin typeface="DM Sans" charset="0"/>
                        <a:ea typeface="DM Sans" charset="0"/>
                        <a:cs typeface="DM Sans" charset="0"/>
                      </a:endParaRPr>
                    </a:p>
                  </a:txBody>
                  <a:tcPr marL="71120" marR="71120" marT="71120" marB="71120" anchor="t">
                    <a:lnL w="12700" cap="flat" cmpd="sng" algn="ctr">
                      <a:solidFill>
                        <a:srgbClr val="C0C4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2240"/>
                        </a:lnSpc>
                        <a:buNone/>
                      </a:pPr>
                      <a:r>
                        <a:rPr lang="en-US" sz="1600" b="1" dirty="0">
                          <a:solidFill>
                            <a:srgbClr val="0F2A5C"/>
                          </a:solidFill>
                          <a:latin typeface="DM Sans" pitchFamily="34" charset="0"/>
                          <a:ea typeface="DM Sans" pitchFamily="34" charset="-122"/>
                          <a:cs typeface="DM Sans" pitchFamily="34" charset="-120"/>
                        </a:rPr>
                        <a:t>Fix</a:t>
                      </a:r>
                      <a:endParaRPr lang="en-US" sz="1600" dirty="0">
                        <a:latin typeface="DM Sans" charset="0"/>
                        <a:ea typeface="DM Sans" charset="0"/>
                        <a:cs typeface="DM Sans" charset="0"/>
                      </a:endParaRPr>
                    </a:p>
                  </a:txBody>
                  <a:tcPr marL="71120" marR="71120" marT="71120" marB="71120"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r>
              <a:tr h="437224">
                <a:tc>
                  <a:txBody>
                    <a:bodyPr/>
                    <a:lstStyle/>
                    <a:p>
                      <a:pPr indent="0" marL="0">
                        <a:lnSpc>
                          <a:spcPts val="2240"/>
                        </a:lnSpc>
                        <a:buNone/>
                      </a:pPr>
                      <a:r>
                        <a:rPr lang="en-US" sz="1600" dirty="0">
                          <a:solidFill>
                            <a:srgbClr val="1E293B"/>
                          </a:solidFill>
                          <a:latin typeface="DM Sans" pitchFamily="34" charset="0"/>
                          <a:ea typeface="DM Sans" pitchFamily="34" charset="-122"/>
                          <a:cs typeface="DM Sans" pitchFamily="34" charset="-120"/>
                        </a:rPr>
                        <a:t>Overfitting</a:t>
                      </a:r>
                      <a:endParaRPr lang="en-US" sz="1600" dirty="0">
                        <a:latin typeface="DM Sans" charset="0"/>
                        <a:ea typeface="DM Sans" charset="0"/>
                        <a:cs typeface="DM Sans" charset="0"/>
                      </a:endParaRPr>
                    </a:p>
                  </a:txBody>
                  <a:tcPr marL="71120" marR="71120" marT="71120" marB="71120"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DM Sans" pitchFamily="34" charset="0"/>
                          <a:ea typeface="DM Sans" pitchFamily="34" charset="-122"/>
                          <a:cs typeface="DM Sans" pitchFamily="34" charset="-120"/>
                        </a:rPr>
                        <a:t>Add more data / stop training early</a:t>
                      </a:r>
                      <a:endParaRPr lang="en-US" sz="1600" dirty="0">
                        <a:latin typeface="DM Sans" charset="0"/>
                        <a:ea typeface="DM Sans" charset="0"/>
                        <a:cs typeface="DM Sans"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37224">
                <a:tc>
                  <a:txBody>
                    <a:bodyPr/>
                    <a:lstStyle/>
                    <a:p>
                      <a:pPr indent="0" marL="0">
                        <a:lnSpc>
                          <a:spcPts val="2240"/>
                        </a:lnSpc>
                        <a:buNone/>
                      </a:pPr>
                      <a:r>
                        <a:rPr lang="en-US" sz="1600" dirty="0">
                          <a:solidFill>
                            <a:srgbClr val="1E293B"/>
                          </a:solidFill>
                          <a:latin typeface="DM Sans" pitchFamily="34" charset="0"/>
                          <a:ea typeface="DM Sans" pitchFamily="34" charset="-122"/>
                          <a:cs typeface="DM Sans" pitchFamily="34" charset="-120"/>
                        </a:rPr>
                        <a:t>Underfitting</a:t>
                      </a:r>
                      <a:endParaRPr lang="en-US" sz="1600" dirty="0">
                        <a:latin typeface="DM Sans" charset="0"/>
                        <a:ea typeface="DM Sans" charset="0"/>
                        <a:cs typeface="DM Sans" charset="0"/>
                      </a:endParaRPr>
                    </a:p>
                  </a:txBody>
                  <a:tcPr marL="71120" marR="71120" marT="71120" marB="71120"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DM Sans" pitchFamily="34" charset="0"/>
                          <a:ea typeface="DM Sans" pitchFamily="34" charset="-122"/>
                          <a:cs typeface="DM Sans" pitchFamily="34" charset="-120"/>
                        </a:rPr>
                        <a:t>Add more features</a:t>
                      </a:r>
                      <a:endParaRPr lang="en-US" sz="1600" dirty="0">
                        <a:latin typeface="DM Sans" charset="0"/>
                        <a:ea typeface="DM Sans" charset="0"/>
                        <a:cs typeface="DM Sans"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8" name="Text 5"/>
          <p:cNvSpPr/>
          <p:nvPr/>
        </p:nvSpPr>
        <p:spPr>
          <a:xfrm>
            <a:off x="812767" y="6289033"/>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DM Sans" pitchFamily="34" charset="0"/>
                <a:ea typeface="DM Sans" pitchFamily="34" charset="-122"/>
                <a:cs typeface="DM Sans" pitchFamily="34" charset="-120"/>
              </a:rPr>
              <a:t>Part 1 Tidying existing columns</a:t>
            </a:r>
            <a:endParaRPr lang="en-US" sz="1200" dirty="0"/>
          </a:p>
        </p:txBody>
      </p:sp>
      <p:sp>
        <p:nvSpPr>
          <p:cNvPr id="9" name="Text 6"/>
          <p:cNvSpPr/>
          <p:nvPr/>
        </p:nvSpPr>
        <p:spPr>
          <a:xfrm>
            <a:off x="10058433" y="6289033"/>
            <a:ext cx="1320800" cy="23877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748B"/>
                </a:solidFill>
                <a:latin typeface="DM Sans" pitchFamily="34" charset="0"/>
                <a:ea typeface="DM Sans" pitchFamily="34" charset="-122"/>
                <a:cs typeface="DM Sans" pitchFamily="34" charset="-120"/>
              </a:rPr>
              <a:t>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67" y="508000"/>
            <a:ext cx="10883461"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5C"/>
                </a:solidFill>
                <a:latin typeface="DM Sans" pitchFamily="34" charset="0"/>
                <a:ea typeface="DM Sans" pitchFamily="34" charset="-122"/>
                <a:cs typeface="DM Sans" pitchFamily="34" charset="-120"/>
              </a:rPr>
              <a:t>Today’s Focus</a:t>
            </a:r>
            <a:endParaRPr lang="en-US" sz="3200" dirty="0"/>
          </a:p>
        </p:txBody>
      </p:sp>
      <p:sp>
        <p:nvSpPr>
          <p:cNvPr id="3" name="Shape 1"/>
          <p:cNvSpPr/>
          <p:nvPr/>
        </p:nvSpPr>
        <p:spPr>
          <a:xfrm>
            <a:off x="812767" y="1076908"/>
            <a:ext cx="609589" cy="50767"/>
          </a:xfrm>
          <a:prstGeom prst="roundRect">
            <a:avLst>
              <a:gd name="adj" fmla="val 50000"/>
            </a:avLst>
          </a:prstGeom>
          <a:solidFill>
            <a:srgbClr val="2563EB"/>
          </a:solidFill>
          <a:ln/>
        </p:spPr>
      </p:sp>
      <p:sp>
        <p:nvSpPr>
          <p:cNvPr id="4" name="Text 2"/>
          <p:cNvSpPr/>
          <p:nvPr/>
        </p:nvSpPr>
        <p:spPr>
          <a:xfrm>
            <a:off x="849089" y="1356265"/>
            <a:ext cx="10839519" cy="1147399"/>
          </a:xfrm>
          <a:prstGeom prst="rect">
            <a:avLst/>
          </a:prstGeom>
          <a:noFill/>
          <a:ln/>
        </p:spPr>
        <p:txBody>
          <a:bodyPr wrap="square" lIns="0" tIns="0" rIns="0" bIns="0" rtlCol="0" anchor="t">
            <a:normAutofit/>
          </a:bodyPr>
          <a:lstStyle/>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Input ← today (add features)</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Model ← last week</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Output</a:t>
            </a:r>
            <a:endParaRPr lang="en-US" sz="1900" dirty="0"/>
          </a:p>
        </p:txBody>
      </p:sp>
      <p:sp>
        <p:nvSpPr>
          <p:cNvPr id="5" name="Shape 3"/>
          <p:cNvSpPr/>
          <p:nvPr/>
        </p:nvSpPr>
        <p:spPr>
          <a:xfrm>
            <a:off x="819117" y="2713202"/>
            <a:ext cx="10553767" cy="1383418"/>
          </a:xfrm>
          <a:prstGeom prst="roundRect">
            <a:avLst>
              <a:gd name="adj" fmla="val 8721"/>
            </a:avLst>
          </a:prstGeom>
          <a:solidFill>
            <a:srgbClr val="F1F6FE"/>
          </a:solidFill>
          <a:ln w="12700">
            <a:solidFill>
              <a:srgbClr val="CFE0FA"/>
            </a:solidFill>
            <a:prstDash val="solid"/>
          </a:ln>
        </p:spPr>
      </p:sp>
      <p:sp>
        <p:nvSpPr>
          <p:cNvPr id="6" name="Text 4"/>
          <p:cNvSpPr/>
          <p:nvPr/>
        </p:nvSpPr>
        <p:spPr>
          <a:xfrm>
            <a:off x="1102706" y="2946025"/>
            <a:ext cx="10286186"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What we cover today</a:t>
            </a:r>
            <a:endParaRPr lang="en-US" sz="1400" dirty="0"/>
          </a:p>
        </p:txBody>
      </p:sp>
      <p:sp>
        <p:nvSpPr>
          <p:cNvPr id="7" name="Text 5"/>
          <p:cNvSpPr/>
          <p:nvPr/>
        </p:nvSpPr>
        <p:spPr>
          <a:xfrm>
            <a:off x="1109056" y="3292751"/>
            <a:ext cx="1815736" cy="564698"/>
          </a:xfrm>
          <a:prstGeom prst="roundRect">
            <a:avLst>
              <a:gd name="adj" fmla="val 14618"/>
            </a:avLst>
          </a:prstGeom>
          <a:solidFill>
            <a:srgbClr val="2563EB"/>
          </a:solidFill>
          <a:ln w="12700">
            <a:solidFill>
              <a:srgbClr val="2563EB"/>
            </a:solidFill>
            <a:prstDash val="solid"/>
          </a:ln>
        </p:spPr>
        <p:txBody>
          <a:bodyPr wrap="none" lIns="0" tIns="0" rIns="0" bIns="0" rtlCol="0" anchor="ctr">
            <a:normAutofit/>
          </a:bodyPr>
          <a:lstStyle/>
          <a:p>
            <a:pPr algn="ctr" indent="0" marL="0">
              <a:lnSpc>
                <a:spcPts val="2380"/>
              </a:lnSpc>
              <a:buNone/>
            </a:pPr>
            <a:r>
              <a:rPr lang="en-US" sz="1700" b="1" dirty="0">
                <a:solidFill>
                  <a:srgbClr val="FFFFFF"/>
                </a:solidFill>
                <a:latin typeface="DM Sans" pitchFamily="34" charset="0"/>
                <a:ea typeface="DM Sans" pitchFamily="34" charset="-122"/>
                <a:cs typeface="DM Sans" pitchFamily="34" charset="-120"/>
              </a:rPr>
              <a:t>Input (today)</a:t>
            </a:r>
            <a:endParaRPr lang="en-US" sz="1700" dirty="0"/>
          </a:p>
        </p:txBody>
      </p:sp>
      <p:sp>
        <p:nvSpPr>
          <p:cNvPr id="8" name="Text 6"/>
          <p:cNvSpPr/>
          <p:nvPr/>
        </p:nvSpPr>
        <p:spPr>
          <a:xfrm>
            <a:off x="3083498" y="3397303"/>
            <a:ext cx="304800" cy="380989"/>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563EB"/>
                </a:solidFill>
                <a:latin typeface="DM Sans" pitchFamily="34" charset="0"/>
                <a:ea typeface="DM Sans" pitchFamily="34" charset="-122"/>
                <a:cs typeface="DM Sans" pitchFamily="34" charset="-120"/>
              </a:rPr>
              <a:t>→</a:t>
            </a:r>
            <a:endParaRPr lang="en-US" sz="2000" dirty="0"/>
          </a:p>
        </p:txBody>
      </p:sp>
      <p:sp>
        <p:nvSpPr>
          <p:cNvPr id="9" name="Text 7"/>
          <p:cNvSpPr/>
          <p:nvPr/>
        </p:nvSpPr>
        <p:spPr>
          <a:xfrm>
            <a:off x="3496204" y="3292751"/>
            <a:ext cx="2290222" cy="564698"/>
          </a:xfrm>
          <a:prstGeom prst="roundRect">
            <a:avLst>
              <a:gd name="adj" fmla="val 14618"/>
            </a:avLst>
          </a:prstGeom>
          <a:solidFill>
            <a:srgbClr val="FFFFFF"/>
          </a:solidFill>
          <a:ln w="12700">
            <a:solidFill>
              <a:srgbClr val="BFD4F6"/>
            </a:solidFill>
            <a:prstDash val="solid"/>
          </a:ln>
        </p:spPr>
        <p:txBody>
          <a:bodyPr wrap="none" lIns="0" tIns="0" rIns="0" bIns="0" rtlCol="0" anchor="ctr">
            <a:normAutofit/>
          </a:bodyPr>
          <a:lstStyle/>
          <a:p>
            <a:pPr algn="ctr" indent="0" marL="0">
              <a:lnSpc>
                <a:spcPts val="2380"/>
              </a:lnSpc>
              <a:buNone/>
            </a:pPr>
            <a:r>
              <a:rPr lang="en-US" sz="1700" b="1" dirty="0">
                <a:solidFill>
                  <a:srgbClr val="0F2A5C"/>
                </a:solidFill>
                <a:latin typeface="DM Sans" pitchFamily="34" charset="0"/>
                <a:ea typeface="DM Sans" pitchFamily="34" charset="-122"/>
                <a:cs typeface="DM Sans" pitchFamily="34" charset="-120"/>
              </a:rPr>
              <a:t>Model (last week)</a:t>
            </a:r>
            <a:endParaRPr lang="en-US" sz="1700" dirty="0"/>
          </a:p>
        </p:txBody>
      </p:sp>
      <p:sp>
        <p:nvSpPr>
          <p:cNvPr id="10" name="Text 8"/>
          <p:cNvSpPr/>
          <p:nvPr/>
        </p:nvSpPr>
        <p:spPr>
          <a:xfrm>
            <a:off x="5945133" y="3397303"/>
            <a:ext cx="304800" cy="380989"/>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563EB"/>
                </a:solidFill>
                <a:latin typeface="DM Sans" pitchFamily="34" charset="0"/>
                <a:ea typeface="DM Sans" pitchFamily="34" charset="-122"/>
                <a:cs typeface="DM Sans" pitchFamily="34" charset="-120"/>
              </a:rPr>
              <a:t>→</a:t>
            </a:r>
            <a:endParaRPr lang="en-US" sz="2000" dirty="0"/>
          </a:p>
        </p:txBody>
      </p:sp>
      <p:sp>
        <p:nvSpPr>
          <p:cNvPr id="11" name="Text 9"/>
          <p:cNvSpPr/>
          <p:nvPr/>
        </p:nvSpPr>
        <p:spPr>
          <a:xfrm>
            <a:off x="6357839" y="3292751"/>
            <a:ext cx="1178201" cy="564698"/>
          </a:xfrm>
          <a:prstGeom prst="roundRect">
            <a:avLst>
              <a:gd name="adj" fmla="val 14618"/>
            </a:avLst>
          </a:prstGeom>
          <a:solidFill>
            <a:srgbClr val="FFFFFF"/>
          </a:solidFill>
          <a:ln w="12700">
            <a:solidFill>
              <a:srgbClr val="BFD4F6"/>
            </a:solidFill>
            <a:prstDash val="solid"/>
          </a:ln>
        </p:spPr>
        <p:txBody>
          <a:bodyPr wrap="none" lIns="0" tIns="0" rIns="0" bIns="0" rtlCol="0" anchor="ctr">
            <a:normAutofit/>
          </a:bodyPr>
          <a:lstStyle/>
          <a:p>
            <a:pPr algn="ctr" indent="0" marL="0">
              <a:lnSpc>
                <a:spcPts val="2380"/>
              </a:lnSpc>
              <a:buNone/>
            </a:pPr>
            <a:r>
              <a:rPr lang="en-US" sz="1700" b="1" dirty="0">
                <a:solidFill>
                  <a:srgbClr val="0F2A5C"/>
                </a:solidFill>
                <a:latin typeface="DM Sans" pitchFamily="34" charset="0"/>
                <a:ea typeface="DM Sans" pitchFamily="34" charset="-122"/>
                <a:cs typeface="DM Sans" pitchFamily="34" charset="-120"/>
              </a:rPr>
              <a:t>Output</a:t>
            </a:r>
            <a:endParaRPr lang="en-US" sz="1700" dirty="0"/>
          </a:p>
        </p:txBody>
      </p:sp>
      <p:sp>
        <p:nvSpPr>
          <p:cNvPr id="12" name="Text 10"/>
          <p:cNvSpPr/>
          <p:nvPr/>
        </p:nvSpPr>
        <p:spPr>
          <a:xfrm>
            <a:off x="812767" y="6289036"/>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DM Sans" pitchFamily="34" charset="0"/>
                <a:ea typeface="DM Sans" pitchFamily="34" charset="-122"/>
                <a:cs typeface="DM Sans" pitchFamily="34" charset="-120"/>
              </a:rPr>
              <a:t>Part 1 Tidying existing columns</a:t>
            </a:r>
            <a:endParaRPr lang="en-US" sz="1200" dirty="0"/>
          </a:p>
        </p:txBody>
      </p:sp>
      <p:sp>
        <p:nvSpPr>
          <p:cNvPr id="13" name="Text 11"/>
          <p:cNvSpPr/>
          <p:nvPr/>
        </p:nvSpPr>
        <p:spPr>
          <a:xfrm>
            <a:off x="10058433" y="6289036"/>
            <a:ext cx="1320800" cy="23877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748B"/>
                </a:solidFill>
                <a:latin typeface="DM Sans" pitchFamily="34" charset="0"/>
                <a:ea typeface="DM Sans" pitchFamily="34" charset="-122"/>
                <a:cs typeface="DM Sans" pitchFamily="34" charset="-120"/>
              </a:rPr>
              <a:t>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67" y="508000"/>
            <a:ext cx="10883461"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5C"/>
                </a:solidFill>
                <a:latin typeface="DM Sans" pitchFamily="34" charset="0"/>
                <a:ea typeface="DM Sans" pitchFamily="34" charset="-122"/>
                <a:cs typeface="DM Sans" pitchFamily="34" charset="-120"/>
              </a:rPr>
              <a:t>Adding Features (1): Churn Prediction</a:t>
            </a:r>
            <a:endParaRPr lang="en-US" sz="3200" dirty="0"/>
          </a:p>
        </p:txBody>
      </p:sp>
      <p:sp>
        <p:nvSpPr>
          <p:cNvPr id="3" name="Shape 1"/>
          <p:cNvSpPr/>
          <p:nvPr/>
        </p:nvSpPr>
        <p:spPr>
          <a:xfrm>
            <a:off x="812767" y="1076908"/>
            <a:ext cx="609589" cy="50767"/>
          </a:xfrm>
          <a:prstGeom prst="roundRect">
            <a:avLst>
              <a:gd name="adj" fmla="val 50000"/>
            </a:avLst>
          </a:prstGeom>
          <a:solidFill>
            <a:srgbClr val="2563EB"/>
          </a:solidFill>
          <a:ln/>
        </p:spPr>
      </p:sp>
      <p:sp>
        <p:nvSpPr>
          <p:cNvPr id="4" name="Text 2"/>
          <p:cNvSpPr/>
          <p:nvPr/>
        </p:nvSpPr>
        <p:spPr>
          <a:xfrm>
            <a:off x="856201" y="1356265"/>
            <a:ext cx="10832407" cy="1442464"/>
          </a:xfrm>
          <a:prstGeom prst="rect">
            <a:avLst/>
          </a:prstGeom>
          <a:noFill/>
          <a:ln/>
        </p:spPr>
        <p:txBody>
          <a:bodyPr wrap="square" lIns="0" tIns="0" rIns="0" bIns="0" rtlCol="0" anchor="t">
            <a:normAutofit/>
          </a:bodyPr>
          <a:lstStyle/>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Scenario: predict whether a new customer will churn</a:t>
            </a:r>
            <a:endParaRPr lang="en-US" sz="1800" dirty="0"/>
          </a:p>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Before: 5 features used for training</a:t>
            </a:r>
            <a:endParaRPr lang="en-US" sz="1800" dirty="0"/>
          </a:p>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Now: increase to 10 features</a:t>
            </a:r>
            <a:endParaRPr lang="en-US" sz="1800" dirty="0"/>
          </a:p>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More behavioral information makes patterns easier to find</a:t>
            </a:r>
            <a:endParaRPr lang="en-US" sz="1800" dirty="0"/>
          </a:p>
        </p:txBody>
      </p:sp>
      <p:sp>
        <p:nvSpPr>
          <p:cNvPr id="5" name="Shape 3"/>
          <p:cNvSpPr/>
          <p:nvPr/>
        </p:nvSpPr>
        <p:spPr>
          <a:xfrm>
            <a:off x="819117" y="3008269"/>
            <a:ext cx="10553767" cy="2289285"/>
          </a:xfrm>
          <a:prstGeom prst="roundRect">
            <a:avLst>
              <a:gd name="adj" fmla="val 5270"/>
            </a:avLst>
          </a:prstGeom>
          <a:solidFill>
            <a:srgbClr val="F1F6FE"/>
          </a:solidFill>
          <a:ln w="12700">
            <a:solidFill>
              <a:srgbClr val="CFE0FA"/>
            </a:solidFill>
            <a:prstDash val="solid"/>
          </a:ln>
        </p:spPr>
      </p:sp>
      <p:sp>
        <p:nvSpPr>
          <p:cNvPr id="6" name="Text 4"/>
          <p:cNvSpPr/>
          <p:nvPr/>
        </p:nvSpPr>
        <p:spPr>
          <a:xfrm>
            <a:off x="1102706" y="3215680"/>
            <a:ext cx="10286186"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Before (5 features)</a:t>
            </a:r>
            <a:endParaRPr lang="en-US" sz="1400" dirty="0"/>
          </a:p>
        </p:txBody>
      </p:sp>
      <p:sp>
        <p:nvSpPr>
          <p:cNvPr id="7" name="Text 5"/>
          <p:cNvSpPr/>
          <p:nvPr/>
        </p:nvSpPr>
        <p:spPr>
          <a:xfrm>
            <a:off x="1102706" y="3505231"/>
            <a:ext cx="10286186"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E293B"/>
                </a:solidFill>
                <a:latin typeface="DM Sans" pitchFamily="34" charset="0"/>
                <a:ea typeface="DM Sans" pitchFamily="34" charset="-122"/>
                <a:cs typeface="DM Sans" pitchFamily="34" charset="-120"/>
              </a:rPr>
              <a:t>Support calls, months subscribed, plan type, days since last login, product modules used</a:t>
            </a:r>
            <a:endParaRPr lang="en-US" sz="1500" dirty="0"/>
          </a:p>
        </p:txBody>
      </p:sp>
      <p:sp>
        <p:nvSpPr>
          <p:cNvPr id="8" name="Text 6"/>
          <p:cNvSpPr/>
          <p:nvPr/>
        </p:nvSpPr>
        <p:spPr>
          <a:xfrm>
            <a:off x="1102706" y="3867159"/>
            <a:ext cx="10286186"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Now (10 features)</a:t>
            </a:r>
            <a:endParaRPr lang="en-US" sz="1400" dirty="0"/>
          </a:p>
        </p:txBody>
      </p:sp>
      <p:sp>
        <p:nvSpPr>
          <p:cNvPr id="9" name="Text 7"/>
          <p:cNvSpPr/>
          <p:nvPr/>
        </p:nvSpPr>
        <p:spPr>
          <a:xfrm>
            <a:off x="1102706" y="4156717"/>
            <a:ext cx="10286186"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E293B"/>
                </a:solidFill>
                <a:latin typeface="DM Sans" pitchFamily="34" charset="0"/>
                <a:ea typeface="DM Sans" pitchFamily="34" charset="-122"/>
                <a:cs typeface="DM Sans" pitchFamily="34" charset="-120"/>
              </a:rPr>
              <a:t>The 5 above + </a:t>
            </a:r>
            <a:r>
              <a:rPr lang="en-US" sz="1500" b="1" dirty="0">
                <a:solidFill>
                  <a:srgbClr val="2563EB"/>
                </a:solidFill>
                <a:latin typeface="DM Sans" pitchFamily="34" charset="0"/>
                <a:ea typeface="DM Sans" pitchFamily="34" charset="-122"/>
                <a:cs typeface="DM Sans" pitchFamily="34" charset="-120"/>
              </a:rPr>
              <a:t>monthly logins, payment failures, contract type, days since last support call, average session time</a:t>
            </a:r>
            <a:endParaRPr lang="en-US" sz="1500" dirty="0"/>
          </a:p>
        </p:txBody>
      </p:sp>
      <p:sp>
        <p:nvSpPr>
          <p:cNvPr id="10" name="Text 8"/>
          <p:cNvSpPr/>
          <p:nvPr/>
        </p:nvSpPr>
        <p:spPr>
          <a:xfrm>
            <a:off x="1102706" y="4804392"/>
            <a:ext cx="10286186"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0F2A5C"/>
                </a:solidFill>
                <a:latin typeface="DM Sans" pitchFamily="34" charset="0"/>
                <a:ea typeface="DM Sans" pitchFamily="34" charset="-122"/>
                <a:cs typeface="DM Sans" pitchFamily="34" charset="-120"/>
              </a:rPr>
              <a:t>→ Churn / Stay</a:t>
            </a:r>
            <a:endParaRPr lang="en-US" sz="1500" dirty="0"/>
          </a:p>
        </p:txBody>
      </p:sp>
      <p:sp>
        <p:nvSpPr>
          <p:cNvPr id="11" name="Text 9"/>
          <p:cNvSpPr/>
          <p:nvPr/>
        </p:nvSpPr>
        <p:spPr>
          <a:xfrm>
            <a:off x="812767" y="6289033"/>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DM Sans" pitchFamily="34" charset="0"/>
                <a:ea typeface="DM Sans" pitchFamily="34" charset="-122"/>
                <a:cs typeface="DM Sans" pitchFamily="34" charset="-120"/>
              </a:rPr>
              <a:t>Part 1 Tidying existing columns</a:t>
            </a:r>
            <a:endParaRPr lang="en-US" sz="1200" dirty="0"/>
          </a:p>
        </p:txBody>
      </p:sp>
      <p:sp>
        <p:nvSpPr>
          <p:cNvPr id="12" name="Text 10"/>
          <p:cNvSpPr/>
          <p:nvPr/>
        </p:nvSpPr>
        <p:spPr>
          <a:xfrm>
            <a:off x="10058433" y="6289033"/>
            <a:ext cx="1320800" cy="23877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748B"/>
                </a:solidFill>
                <a:latin typeface="DM Sans" pitchFamily="34" charset="0"/>
                <a:ea typeface="DM Sans" pitchFamily="34" charset="-122"/>
                <a:cs typeface="DM Sans" pitchFamily="34" charset="-120"/>
              </a:rPr>
              <a:t>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67" y="508000"/>
            <a:ext cx="10883461"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5C"/>
                </a:solidFill>
                <a:latin typeface="DM Sans" pitchFamily="34" charset="0"/>
                <a:ea typeface="DM Sans" pitchFamily="34" charset="-122"/>
                <a:cs typeface="DM Sans" pitchFamily="34" charset="-120"/>
              </a:rPr>
              <a:t>Adding Features (2): Exam Score Prediction</a:t>
            </a:r>
            <a:endParaRPr lang="en-US" sz="3200" dirty="0"/>
          </a:p>
        </p:txBody>
      </p:sp>
      <p:sp>
        <p:nvSpPr>
          <p:cNvPr id="3" name="Shape 1"/>
          <p:cNvSpPr/>
          <p:nvPr/>
        </p:nvSpPr>
        <p:spPr>
          <a:xfrm>
            <a:off x="812767" y="1076914"/>
            <a:ext cx="609589" cy="50767"/>
          </a:xfrm>
          <a:prstGeom prst="roundRect">
            <a:avLst>
              <a:gd name="adj" fmla="val 50000"/>
            </a:avLst>
          </a:prstGeom>
          <a:solidFill>
            <a:srgbClr val="2563EB"/>
          </a:solidFill>
          <a:ln/>
        </p:spPr>
      </p:sp>
      <p:sp>
        <p:nvSpPr>
          <p:cNvPr id="4" name="Text 2"/>
          <p:cNvSpPr/>
          <p:nvPr/>
        </p:nvSpPr>
        <p:spPr>
          <a:xfrm>
            <a:off x="856201" y="1356271"/>
            <a:ext cx="10832407" cy="1442464"/>
          </a:xfrm>
          <a:prstGeom prst="rect">
            <a:avLst/>
          </a:prstGeom>
          <a:noFill/>
          <a:ln/>
        </p:spPr>
        <p:txBody>
          <a:bodyPr wrap="square" lIns="0" tIns="0" rIns="0" bIns="0" rtlCol="0" anchor="t">
            <a:normAutofit/>
          </a:bodyPr>
          <a:lstStyle/>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Scenario: predict a student’s exam score</a:t>
            </a:r>
            <a:endParaRPr lang="en-US" sz="1800" dirty="0"/>
          </a:p>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Before: 5 features used for training</a:t>
            </a:r>
            <a:endParaRPr lang="en-US" sz="1800" dirty="0"/>
          </a:p>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Now: add features to give the model more information</a:t>
            </a:r>
            <a:endParaRPr lang="en-US" sz="1800" dirty="0"/>
          </a:p>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The idea is the same in any field</a:t>
            </a:r>
            <a:endParaRPr lang="en-US" sz="1800" dirty="0"/>
          </a:p>
        </p:txBody>
      </p:sp>
      <p:sp>
        <p:nvSpPr>
          <p:cNvPr id="5" name="Shape 3"/>
          <p:cNvSpPr/>
          <p:nvPr/>
        </p:nvSpPr>
        <p:spPr>
          <a:xfrm>
            <a:off x="819117" y="3008269"/>
            <a:ext cx="10553767" cy="2003535"/>
          </a:xfrm>
          <a:prstGeom prst="roundRect">
            <a:avLst>
              <a:gd name="adj" fmla="val 6022"/>
            </a:avLst>
          </a:prstGeom>
          <a:solidFill>
            <a:srgbClr val="F1F6FE"/>
          </a:solidFill>
          <a:ln w="12700">
            <a:solidFill>
              <a:srgbClr val="CFE0FA"/>
            </a:solidFill>
            <a:prstDash val="solid"/>
          </a:ln>
        </p:spPr>
      </p:sp>
      <p:sp>
        <p:nvSpPr>
          <p:cNvPr id="6" name="Text 4"/>
          <p:cNvSpPr/>
          <p:nvPr/>
        </p:nvSpPr>
        <p:spPr>
          <a:xfrm>
            <a:off x="1102706" y="3215680"/>
            <a:ext cx="10286186"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Before (5 features)</a:t>
            </a:r>
            <a:endParaRPr lang="en-US" sz="1400" dirty="0"/>
          </a:p>
        </p:txBody>
      </p:sp>
      <p:sp>
        <p:nvSpPr>
          <p:cNvPr id="7" name="Text 5"/>
          <p:cNvSpPr/>
          <p:nvPr/>
        </p:nvSpPr>
        <p:spPr>
          <a:xfrm>
            <a:off x="1102706" y="3505237"/>
            <a:ext cx="10286186"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E293B"/>
                </a:solidFill>
                <a:latin typeface="DM Sans" pitchFamily="34" charset="0"/>
                <a:ea typeface="DM Sans" pitchFamily="34" charset="-122"/>
                <a:cs typeface="DM Sans" pitchFamily="34" charset="-120"/>
              </a:rPr>
              <a:t>Weekly study hours, attendance rate, past exam score, homework completion rate, sleep hours</a:t>
            </a:r>
            <a:endParaRPr lang="en-US" sz="1500" dirty="0"/>
          </a:p>
        </p:txBody>
      </p:sp>
      <p:sp>
        <p:nvSpPr>
          <p:cNvPr id="8" name="Text 6"/>
          <p:cNvSpPr/>
          <p:nvPr/>
        </p:nvSpPr>
        <p:spPr>
          <a:xfrm>
            <a:off x="1102706" y="3867162"/>
            <a:ext cx="10286186"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Now (8 features)</a:t>
            </a:r>
            <a:endParaRPr lang="en-US" sz="1400" dirty="0"/>
          </a:p>
        </p:txBody>
      </p:sp>
      <p:sp>
        <p:nvSpPr>
          <p:cNvPr id="9" name="Text 7"/>
          <p:cNvSpPr/>
          <p:nvPr/>
        </p:nvSpPr>
        <p:spPr>
          <a:xfrm>
            <a:off x="1102706" y="4156720"/>
            <a:ext cx="10286186"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E293B"/>
                </a:solidFill>
                <a:latin typeface="DM Sans" pitchFamily="34" charset="0"/>
                <a:ea typeface="DM Sans" pitchFamily="34" charset="-122"/>
                <a:cs typeface="DM Sans" pitchFamily="34" charset="-120"/>
              </a:rPr>
              <a:t>The 5 above + </a:t>
            </a:r>
            <a:r>
              <a:rPr lang="en-US" sz="1500" b="1" dirty="0">
                <a:solidFill>
                  <a:srgbClr val="2563EB"/>
                </a:solidFill>
                <a:latin typeface="DM Sans" pitchFamily="34" charset="0"/>
                <a:ea typeface="DM Sans" pitchFamily="34" charset="-122"/>
                <a:cs typeface="DM Sans" pitchFamily="34" charset="-120"/>
              </a:rPr>
              <a:t>class participation count, quiz average, cram school attendance</a:t>
            </a:r>
            <a:endParaRPr lang="en-US" sz="1500" dirty="0"/>
          </a:p>
        </p:txBody>
      </p:sp>
      <p:sp>
        <p:nvSpPr>
          <p:cNvPr id="10" name="Text 8"/>
          <p:cNvSpPr/>
          <p:nvPr/>
        </p:nvSpPr>
        <p:spPr>
          <a:xfrm>
            <a:off x="1102706" y="4518645"/>
            <a:ext cx="10286186"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0F2A5C"/>
                </a:solidFill>
                <a:latin typeface="DM Sans" pitchFamily="34" charset="0"/>
                <a:ea typeface="DM Sans" pitchFamily="34" charset="-122"/>
                <a:cs typeface="DM Sans" pitchFamily="34" charset="-120"/>
              </a:rPr>
              <a:t>→ Exam score</a:t>
            </a:r>
            <a:endParaRPr lang="en-US" sz="1500" dirty="0"/>
          </a:p>
        </p:txBody>
      </p:sp>
      <p:sp>
        <p:nvSpPr>
          <p:cNvPr id="11" name="Text 9"/>
          <p:cNvSpPr/>
          <p:nvPr/>
        </p:nvSpPr>
        <p:spPr>
          <a:xfrm>
            <a:off x="812767" y="6289036"/>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DM Sans" pitchFamily="34" charset="0"/>
                <a:ea typeface="DM Sans" pitchFamily="34" charset="-122"/>
                <a:cs typeface="DM Sans" pitchFamily="34" charset="-120"/>
              </a:rPr>
              <a:t>Part 1 Tidying existing columns</a:t>
            </a:r>
            <a:endParaRPr lang="en-US" sz="1200" dirty="0"/>
          </a:p>
        </p:txBody>
      </p:sp>
      <p:sp>
        <p:nvSpPr>
          <p:cNvPr id="12" name="Text 10"/>
          <p:cNvSpPr/>
          <p:nvPr/>
        </p:nvSpPr>
        <p:spPr>
          <a:xfrm>
            <a:off x="10058433" y="6289036"/>
            <a:ext cx="1320800" cy="23877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748B"/>
                </a:solidFill>
                <a:latin typeface="DM Sans" pitchFamily="34" charset="0"/>
                <a:ea typeface="DM Sans" pitchFamily="34" charset="-122"/>
                <a:cs typeface="DM Sans" pitchFamily="34" charset="-120"/>
              </a:rPr>
              <a:t>8</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67" y="508000"/>
            <a:ext cx="10883461"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5C"/>
                </a:solidFill>
                <a:latin typeface="DM Sans" pitchFamily="34" charset="0"/>
                <a:ea typeface="DM Sans" pitchFamily="34" charset="-122"/>
                <a:cs typeface="DM Sans" pitchFamily="34" charset="-120"/>
              </a:rPr>
              <a:t>What Is a Feature?</a:t>
            </a:r>
            <a:endParaRPr lang="en-US" sz="3200" dirty="0"/>
          </a:p>
        </p:txBody>
      </p:sp>
      <p:sp>
        <p:nvSpPr>
          <p:cNvPr id="3" name="Shape 1"/>
          <p:cNvSpPr/>
          <p:nvPr/>
        </p:nvSpPr>
        <p:spPr>
          <a:xfrm>
            <a:off x="812767" y="1076914"/>
            <a:ext cx="609589" cy="50767"/>
          </a:xfrm>
          <a:prstGeom prst="roundRect">
            <a:avLst>
              <a:gd name="adj" fmla="val 50000"/>
            </a:avLst>
          </a:prstGeom>
          <a:solidFill>
            <a:srgbClr val="2563EB"/>
          </a:solidFill>
          <a:ln/>
        </p:spPr>
      </p:sp>
      <p:sp>
        <p:nvSpPr>
          <p:cNvPr id="4" name="Text 2"/>
          <p:cNvSpPr/>
          <p:nvPr/>
        </p:nvSpPr>
        <p:spPr>
          <a:xfrm>
            <a:off x="849089" y="1356271"/>
            <a:ext cx="10839519" cy="1147399"/>
          </a:xfrm>
          <a:prstGeom prst="rect">
            <a:avLst/>
          </a:prstGeom>
          <a:noFill/>
          <a:ln/>
        </p:spPr>
        <p:txBody>
          <a:bodyPr wrap="square" lIns="0" tIns="0" rIns="0" bIns="0" rtlCol="0" anchor="t">
            <a:normAutofit/>
          </a:bodyPr>
          <a:lstStyle/>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In churn prediction, it is customer behavior data</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In machine learning, we call it a “feature”</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It is also called a “variable”</a:t>
            </a:r>
            <a:endParaRPr lang="en-US" sz="1900" dirty="0"/>
          </a:p>
        </p:txBody>
      </p:sp>
      <p:sp>
        <p:nvSpPr>
          <p:cNvPr id="5" name="Shape 3"/>
          <p:cNvSpPr/>
          <p:nvPr/>
        </p:nvSpPr>
        <p:spPr>
          <a:xfrm>
            <a:off x="819117" y="2713205"/>
            <a:ext cx="10553767" cy="1383418"/>
          </a:xfrm>
          <a:prstGeom prst="roundRect">
            <a:avLst>
              <a:gd name="adj" fmla="val 8721"/>
            </a:avLst>
          </a:prstGeom>
          <a:solidFill>
            <a:srgbClr val="F1F6FE"/>
          </a:solidFill>
          <a:ln w="12700">
            <a:solidFill>
              <a:srgbClr val="CFE0FA"/>
            </a:solidFill>
            <a:prstDash val="solid"/>
          </a:ln>
        </p:spPr>
      </p:sp>
      <p:sp>
        <p:nvSpPr>
          <p:cNvPr id="6" name="Text 4"/>
          <p:cNvSpPr/>
          <p:nvPr/>
        </p:nvSpPr>
        <p:spPr>
          <a:xfrm>
            <a:off x="1102706" y="2946028"/>
            <a:ext cx="10286186"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Examples</a:t>
            </a:r>
            <a:endParaRPr lang="en-US" sz="1400" dirty="0"/>
          </a:p>
        </p:txBody>
      </p:sp>
      <p:sp>
        <p:nvSpPr>
          <p:cNvPr id="7" name="Text 5"/>
          <p:cNvSpPr/>
          <p:nvPr/>
        </p:nvSpPr>
        <p:spPr>
          <a:xfrm>
            <a:off x="1109056" y="3292754"/>
            <a:ext cx="2458123" cy="564698"/>
          </a:xfrm>
          <a:prstGeom prst="roundRect">
            <a:avLst>
              <a:gd name="adj" fmla="val 14618"/>
            </a:avLst>
          </a:prstGeom>
          <a:solidFill>
            <a:srgbClr val="FFFFFF"/>
          </a:solidFill>
          <a:ln w="12700">
            <a:solidFill>
              <a:srgbClr val="BFD4F6"/>
            </a:solidFill>
            <a:prstDash val="solid"/>
          </a:ln>
        </p:spPr>
        <p:txBody>
          <a:bodyPr wrap="none" lIns="0" tIns="0" rIns="0" bIns="0" rtlCol="0" anchor="ctr">
            <a:normAutofit/>
          </a:bodyPr>
          <a:lstStyle/>
          <a:p>
            <a:pPr algn="ctr" indent="0" marL="0">
              <a:lnSpc>
                <a:spcPts val="2380"/>
              </a:lnSpc>
              <a:buNone/>
            </a:pPr>
            <a:r>
              <a:rPr lang="en-US" sz="1700" b="1" dirty="0">
                <a:solidFill>
                  <a:srgbClr val="0F2A5C"/>
                </a:solidFill>
                <a:latin typeface="DM Sans" pitchFamily="34" charset="0"/>
                <a:ea typeface="DM Sans" pitchFamily="34" charset="-122"/>
                <a:cs typeface="DM Sans" pitchFamily="34" charset="-120"/>
              </a:rPr>
              <a:t>Months subscribed</a:t>
            </a:r>
            <a:endParaRPr lang="en-US" sz="1700" dirty="0"/>
          </a:p>
        </p:txBody>
      </p:sp>
      <p:sp>
        <p:nvSpPr>
          <p:cNvPr id="8" name="Text 6"/>
          <p:cNvSpPr/>
          <p:nvPr/>
        </p:nvSpPr>
        <p:spPr>
          <a:xfrm>
            <a:off x="3732235" y="3292754"/>
            <a:ext cx="1672475" cy="564698"/>
          </a:xfrm>
          <a:prstGeom prst="roundRect">
            <a:avLst>
              <a:gd name="adj" fmla="val 14618"/>
            </a:avLst>
          </a:prstGeom>
          <a:solidFill>
            <a:srgbClr val="FFFFFF"/>
          </a:solidFill>
          <a:ln w="12700">
            <a:solidFill>
              <a:srgbClr val="BFD4F6"/>
            </a:solidFill>
            <a:prstDash val="solid"/>
          </a:ln>
        </p:spPr>
        <p:txBody>
          <a:bodyPr wrap="none" lIns="0" tIns="0" rIns="0" bIns="0" rtlCol="0" anchor="ctr">
            <a:normAutofit/>
          </a:bodyPr>
          <a:lstStyle/>
          <a:p>
            <a:pPr algn="ctr" indent="0" marL="0">
              <a:lnSpc>
                <a:spcPts val="2380"/>
              </a:lnSpc>
              <a:buNone/>
            </a:pPr>
            <a:r>
              <a:rPr lang="en-US" sz="1700" b="1" dirty="0">
                <a:solidFill>
                  <a:srgbClr val="0F2A5C"/>
                </a:solidFill>
                <a:latin typeface="DM Sans" pitchFamily="34" charset="0"/>
                <a:ea typeface="DM Sans" pitchFamily="34" charset="-122"/>
                <a:cs typeface="DM Sans" pitchFamily="34" charset="-120"/>
              </a:rPr>
              <a:t>Monthly fee</a:t>
            </a:r>
            <a:endParaRPr lang="en-US" sz="1700" dirty="0"/>
          </a:p>
        </p:txBody>
      </p:sp>
      <p:sp>
        <p:nvSpPr>
          <p:cNvPr id="9" name="Text 7"/>
          <p:cNvSpPr/>
          <p:nvPr/>
        </p:nvSpPr>
        <p:spPr>
          <a:xfrm>
            <a:off x="5569766" y="3292754"/>
            <a:ext cx="1649876" cy="564698"/>
          </a:xfrm>
          <a:prstGeom prst="roundRect">
            <a:avLst>
              <a:gd name="adj" fmla="val 14618"/>
            </a:avLst>
          </a:prstGeom>
          <a:solidFill>
            <a:srgbClr val="FFFFFF"/>
          </a:solidFill>
          <a:ln w="12700">
            <a:solidFill>
              <a:srgbClr val="BFD4F6"/>
            </a:solidFill>
            <a:prstDash val="solid"/>
          </a:ln>
        </p:spPr>
        <p:txBody>
          <a:bodyPr wrap="none" lIns="0" tIns="0" rIns="0" bIns="0" rtlCol="0" anchor="ctr">
            <a:normAutofit/>
          </a:bodyPr>
          <a:lstStyle/>
          <a:p>
            <a:pPr algn="ctr" indent="0" marL="0">
              <a:lnSpc>
                <a:spcPts val="2380"/>
              </a:lnSpc>
              <a:buNone/>
            </a:pPr>
            <a:r>
              <a:rPr lang="en-US" sz="1700" b="1" dirty="0">
                <a:solidFill>
                  <a:srgbClr val="0F2A5C"/>
                </a:solidFill>
                <a:latin typeface="DM Sans" pitchFamily="34" charset="0"/>
                <a:ea typeface="DM Sans" pitchFamily="34" charset="-122"/>
                <a:cs typeface="DM Sans" pitchFamily="34" charset="-120"/>
              </a:rPr>
              <a:t>Login count</a:t>
            </a:r>
            <a:endParaRPr lang="en-US" sz="1700" dirty="0"/>
          </a:p>
        </p:txBody>
      </p:sp>
      <p:sp>
        <p:nvSpPr>
          <p:cNvPr id="10" name="Text 8"/>
          <p:cNvSpPr/>
          <p:nvPr/>
        </p:nvSpPr>
        <p:spPr>
          <a:xfrm>
            <a:off x="7378347" y="3397306"/>
            <a:ext cx="304800" cy="380989"/>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563EB"/>
                </a:solidFill>
                <a:latin typeface="DM Sans" pitchFamily="34" charset="0"/>
                <a:ea typeface="DM Sans" pitchFamily="34" charset="-122"/>
                <a:cs typeface="DM Sans" pitchFamily="34" charset="-120"/>
              </a:rPr>
              <a:t>＝</a:t>
            </a:r>
            <a:endParaRPr lang="en-US" sz="2000" dirty="0"/>
          </a:p>
        </p:txBody>
      </p:sp>
      <p:sp>
        <p:nvSpPr>
          <p:cNvPr id="11" name="Text 9"/>
          <p:cNvSpPr/>
          <p:nvPr/>
        </p:nvSpPr>
        <p:spPr>
          <a:xfrm>
            <a:off x="7791053" y="3292754"/>
            <a:ext cx="1342132" cy="564698"/>
          </a:xfrm>
          <a:prstGeom prst="roundRect">
            <a:avLst>
              <a:gd name="adj" fmla="val 14618"/>
            </a:avLst>
          </a:prstGeom>
          <a:solidFill>
            <a:srgbClr val="2563EB"/>
          </a:solidFill>
          <a:ln w="12700">
            <a:solidFill>
              <a:srgbClr val="2563EB"/>
            </a:solidFill>
            <a:prstDash val="solid"/>
          </a:ln>
        </p:spPr>
        <p:txBody>
          <a:bodyPr wrap="none" lIns="0" tIns="0" rIns="0" bIns="0" rtlCol="0" anchor="ctr">
            <a:normAutofit/>
          </a:bodyPr>
          <a:lstStyle/>
          <a:p>
            <a:pPr algn="ctr" indent="0" marL="0">
              <a:lnSpc>
                <a:spcPts val="2380"/>
              </a:lnSpc>
              <a:buNone/>
            </a:pPr>
            <a:r>
              <a:rPr lang="en-US" sz="1700" b="1" dirty="0">
                <a:solidFill>
                  <a:srgbClr val="FFFFFF"/>
                </a:solidFill>
                <a:latin typeface="DM Sans" pitchFamily="34" charset="0"/>
                <a:ea typeface="DM Sans" pitchFamily="34" charset="-122"/>
                <a:cs typeface="DM Sans" pitchFamily="34" charset="-120"/>
              </a:rPr>
              <a:t>Features</a:t>
            </a:r>
            <a:endParaRPr lang="en-US" sz="1700" dirty="0"/>
          </a:p>
        </p:txBody>
      </p:sp>
      <p:sp>
        <p:nvSpPr>
          <p:cNvPr id="12" name="Text 10"/>
          <p:cNvSpPr/>
          <p:nvPr/>
        </p:nvSpPr>
        <p:spPr>
          <a:xfrm>
            <a:off x="812767" y="6289036"/>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DM Sans" pitchFamily="34" charset="0"/>
                <a:ea typeface="DM Sans" pitchFamily="34" charset="-122"/>
                <a:cs typeface="DM Sans" pitchFamily="34" charset="-120"/>
              </a:rPr>
              <a:t>Part 1 Tidying existing columns</a:t>
            </a:r>
            <a:endParaRPr lang="en-US" sz="1200" dirty="0"/>
          </a:p>
        </p:txBody>
      </p:sp>
      <p:sp>
        <p:nvSpPr>
          <p:cNvPr id="13" name="Text 11"/>
          <p:cNvSpPr/>
          <p:nvPr/>
        </p:nvSpPr>
        <p:spPr>
          <a:xfrm>
            <a:off x="10058433" y="6289036"/>
            <a:ext cx="1320800" cy="23877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748B"/>
                </a:solidFill>
                <a:latin typeface="DM Sans" pitchFamily="34" charset="0"/>
                <a:ea typeface="DM Sans" pitchFamily="34" charset="-122"/>
                <a:cs typeface="DM Sans" pitchFamily="34" charset="-120"/>
              </a:rPr>
              <a:t>9</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67" y="508000"/>
            <a:ext cx="10883461"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5C"/>
                </a:solidFill>
                <a:latin typeface="DM Sans" pitchFamily="34" charset="0"/>
                <a:ea typeface="DM Sans" pitchFamily="34" charset="-122"/>
                <a:cs typeface="DM Sans" pitchFamily="34" charset="-120"/>
              </a:rPr>
              <a:t>What Is Feature Engineering?</a:t>
            </a:r>
            <a:endParaRPr lang="en-US" sz="3200" dirty="0"/>
          </a:p>
        </p:txBody>
      </p:sp>
      <p:sp>
        <p:nvSpPr>
          <p:cNvPr id="3" name="Shape 1"/>
          <p:cNvSpPr/>
          <p:nvPr/>
        </p:nvSpPr>
        <p:spPr>
          <a:xfrm>
            <a:off x="812767" y="1076908"/>
            <a:ext cx="609589" cy="50767"/>
          </a:xfrm>
          <a:prstGeom prst="roundRect">
            <a:avLst>
              <a:gd name="adj" fmla="val 50000"/>
            </a:avLst>
          </a:prstGeom>
          <a:solidFill>
            <a:srgbClr val="2563EB"/>
          </a:solidFill>
          <a:ln/>
        </p:spPr>
      </p:sp>
      <p:sp>
        <p:nvSpPr>
          <p:cNvPr id="4" name="Text 2"/>
          <p:cNvSpPr/>
          <p:nvPr/>
        </p:nvSpPr>
        <p:spPr>
          <a:xfrm>
            <a:off x="856201" y="1356265"/>
            <a:ext cx="10832407" cy="1442464"/>
          </a:xfrm>
          <a:prstGeom prst="rect">
            <a:avLst/>
          </a:prstGeom>
          <a:noFill/>
          <a:ln/>
        </p:spPr>
        <p:txBody>
          <a:bodyPr wrap="square" lIns="0" tIns="0" rIns="0" bIns="0" rtlCol="0" anchor="t">
            <a:normAutofit/>
          </a:bodyPr>
          <a:lstStyle/>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Definition: the process of selecting, transforming, and creating input variables (features) from raw data</a:t>
            </a:r>
            <a:endParaRPr lang="en-US" sz="1800" dirty="0"/>
          </a:p>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Goal: help machine learning learn patterns and improve prediction accuracy</a:t>
            </a:r>
            <a:endParaRPr lang="en-US" sz="1800" dirty="0"/>
          </a:p>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Position: after raw data, before model training</a:t>
            </a:r>
            <a:endParaRPr lang="en-US" sz="1800" dirty="0"/>
          </a:p>
        </p:txBody>
      </p:sp>
      <p:sp>
        <p:nvSpPr>
          <p:cNvPr id="5" name="Shape 3"/>
          <p:cNvSpPr/>
          <p:nvPr/>
        </p:nvSpPr>
        <p:spPr>
          <a:xfrm>
            <a:off x="819117" y="3008263"/>
            <a:ext cx="10553767" cy="1365614"/>
          </a:xfrm>
          <a:prstGeom prst="roundRect">
            <a:avLst>
              <a:gd name="adj" fmla="val 8835"/>
            </a:avLst>
          </a:prstGeom>
          <a:solidFill>
            <a:srgbClr val="F1F6FE"/>
          </a:solidFill>
          <a:ln w="12700">
            <a:solidFill>
              <a:srgbClr val="CFE0FA"/>
            </a:solidFill>
            <a:prstDash val="solid"/>
          </a:ln>
        </p:spPr>
      </p:sp>
      <p:sp>
        <p:nvSpPr>
          <p:cNvPr id="6" name="Text 4"/>
          <p:cNvSpPr/>
          <p:nvPr/>
        </p:nvSpPr>
        <p:spPr>
          <a:xfrm>
            <a:off x="1102706" y="3241086"/>
            <a:ext cx="10286186"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Where it fits</a:t>
            </a:r>
            <a:endParaRPr lang="en-US" sz="1400" dirty="0"/>
          </a:p>
        </p:txBody>
      </p:sp>
      <p:sp>
        <p:nvSpPr>
          <p:cNvPr id="7" name="Text 5"/>
          <p:cNvSpPr/>
          <p:nvPr/>
        </p:nvSpPr>
        <p:spPr>
          <a:xfrm>
            <a:off x="1109056" y="3587812"/>
            <a:ext cx="1329454" cy="546894"/>
          </a:xfrm>
          <a:prstGeom prst="roundRect">
            <a:avLst>
              <a:gd name="adj" fmla="val 15094"/>
            </a:avLst>
          </a:prstGeom>
          <a:solidFill>
            <a:srgbClr val="FFFFFF"/>
          </a:solidFill>
          <a:ln w="12700">
            <a:solidFill>
              <a:srgbClr val="BFD4F6"/>
            </a:solidFill>
            <a:prstDash val="solid"/>
          </a:ln>
        </p:spPr>
        <p:txBody>
          <a:bodyPr wrap="none" lIns="0" tIns="0" rIns="0" bIns="0" rtlCol="0" anchor="ctr">
            <a:normAutofit/>
          </a:bodyPr>
          <a:lstStyle/>
          <a:p>
            <a:pPr algn="ctr" indent="0" marL="0">
              <a:lnSpc>
                <a:spcPts val="2240"/>
              </a:lnSpc>
              <a:buNone/>
            </a:pPr>
            <a:r>
              <a:rPr lang="en-US" sz="1600" b="1" dirty="0">
                <a:solidFill>
                  <a:srgbClr val="0F2A5C"/>
                </a:solidFill>
                <a:latin typeface="DM Sans" pitchFamily="34" charset="0"/>
                <a:ea typeface="DM Sans" pitchFamily="34" charset="-122"/>
                <a:cs typeface="DM Sans" pitchFamily="34" charset="-120"/>
              </a:rPr>
              <a:t>Raw data</a:t>
            </a:r>
            <a:endParaRPr lang="en-US" sz="1600" dirty="0"/>
          </a:p>
        </p:txBody>
      </p:sp>
      <p:sp>
        <p:nvSpPr>
          <p:cNvPr id="8" name="Text 6"/>
          <p:cNvSpPr/>
          <p:nvPr/>
        </p:nvSpPr>
        <p:spPr>
          <a:xfrm>
            <a:off x="2597216" y="3683440"/>
            <a:ext cx="304800" cy="380989"/>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563EB"/>
                </a:solidFill>
                <a:latin typeface="DM Sans" pitchFamily="34" charset="0"/>
                <a:ea typeface="DM Sans" pitchFamily="34" charset="-122"/>
                <a:cs typeface="DM Sans" pitchFamily="34" charset="-120"/>
              </a:rPr>
              <a:t>→</a:t>
            </a:r>
            <a:endParaRPr lang="en-US" sz="2000" dirty="0"/>
          </a:p>
        </p:txBody>
      </p:sp>
      <p:sp>
        <p:nvSpPr>
          <p:cNvPr id="9" name="Text 7"/>
          <p:cNvSpPr/>
          <p:nvPr/>
        </p:nvSpPr>
        <p:spPr>
          <a:xfrm>
            <a:off x="3009922" y="3587812"/>
            <a:ext cx="2407742" cy="546894"/>
          </a:xfrm>
          <a:prstGeom prst="roundRect">
            <a:avLst>
              <a:gd name="adj" fmla="val 15094"/>
            </a:avLst>
          </a:prstGeom>
          <a:solidFill>
            <a:srgbClr val="2563EB"/>
          </a:solidFill>
          <a:ln w="12700">
            <a:solidFill>
              <a:srgbClr val="2563EB"/>
            </a:solidFill>
            <a:prstDash val="solid"/>
          </a:ln>
        </p:spPr>
        <p:txBody>
          <a:bodyPr wrap="none" lIns="0" tIns="0" rIns="0" bIns="0" rtlCol="0" anchor="ctr">
            <a:normAutofit/>
          </a:bodyPr>
          <a:lstStyle/>
          <a:p>
            <a:pPr algn="ctr" indent="0" marL="0">
              <a:lnSpc>
                <a:spcPts val="2240"/>
              </a:lnSpc>
              <a:buNone/>
            </a:pPr>
            <a:r>
              <a:rPr lang="en-US" sz="1600" b="1" dirty="0">
                <a:solidFill>
                  <a:srgbClr val="FFFFFF"/>
                </a:solidFill>
                <a:latin typeface="DM Sans" pitchFamily="34" charset="0"/>
                <a:ea typeface="DM Sans" pitchFamily="34" charset="-122"/>
                <a:cs typeface="DM Sans" pitchFamily="34" charset="-120"/>
              </a:rPr>
              <a:t>Feature engineering</a:t>
            </a:r>
            <a:endParaRPr lang="en-US" sz="1600" dirty="0"/>
          </a:p>
        </p:txBody>
      </p:sp>
      <p:sp>
        <p:nvSpPr>
          <p:cNvPr id="10" name="Text 8"/>
          <p:cNvSpPr/>
          <p:nvPr/>
        </p:nvSpPr>
        <p:spPr>
          <a:xfrm>
            <a:off x="5576370" y="3683440"/>
            <a:ext cx="304800" cy="380989"/>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563EB"/>
                </a:solidFill>
                <a:latin typeface="DM Sans" pitchFamily="34" charset="0"/>
                <a:ea typeface="DM Sans" pitchFamily="34" charset="-122"/>
                <a:cs typeface="DM Sans" pitchFamily="34" charset="-120"/>
              </a:rPr>
              <a:t>→</a:t>
            </a:r>
            <a:endParaRPr lang="en-US" sz="2000" dirty="0"/>
          </a:p>
        </p:txBody>
      </p:sp>
      <p:sp>
        <p:nvSpPr>
          <p:cNvPr id="11" name="Text 9"/>
          <p:cNvSpPr/>
          <p:nvPr/>
        </p:nvSpPr>
        <p:spPr>
          <a:xfrm>
            <a:off x="5989076" y="3587812"/>
            <a:ext cx="1491401" cy="546894"/>
          </a:xfrm>
          <a:prstGeom prst="roundRect">
            <a:avLst>
              <a:gd name="adj" fmla="val 15094"/>
            </a:avLst>
          </a:prstGeom>
          <a:solidFill>
            <a:srgbClr val="FFFFFF"/>
          </a:solidFill>
          <a:ln w="12700">
            <a:solidFill>
              <a:srgbClr val="BFD4F6"/>
            </a:solidFill>
            <a:prstDash val="solid"/>
          </a:ln>
        </p:spPr>
        <p:txBody>
          <a:bodyPr wrap="none" lIns="0" tIns="0" rIns="0" bIns="0" rtlCol="0" anchor="ctr">
            <a:normAutofit/>
          </a:bodyPr>
          <a:lstStyle/>
          <a:p>
            <a:pPr algn="ctr" indent="0" marL="0">
              <a:lnSpc>
                <a:spcPts val="2240"/>
              </a:lnSpc>
              <a:buNone/>
            </a:pPr>
            <a:r>
              <a:rPr lang="en-US" sz="1600" b="1" dirty="0">
                <a:solidFill>
                  <a:srgbClr val="0F2A5C"/>
                </a:solidFill>
                <a:latin typeface="DM Sans" pitchFamily="34" charset="0"/>
                <a:ea typeface="DM Sans" pitchFamily="34" charset="-122"/>
                <a:cs typeface="DM Sans" pitchFamily="34" charset="-120"/>
              </a:rPr>
              <a:t>Clean data</a:t>
            </a:r>
            <a:endParaRPr lang="en-US" sz="1600" dirty="0"/>
          </a:p>
        </p:txBody>
      </p:sp>
      <p:sp>
        <p:nvSpPr>
          <p:cNvPr id="12" name="Text 10"/>
          <p:cNvSpPr/>
          <p:nvPr/>
        </p:nvSpPr>
        <p:spPr>
          <a:xfrm>
            <a:off x="7639183" y="3683440"/>
            <a:ext cx="304800" cy="380989"/>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563EB"/>
                </a:solidFill>
                <a:latin typeface="DM Sans" pitchFamily="34" charset="0"/>
                <a:ea typeface="DM Sans" pitchFamily="34" charset="-122"/>
                <a:cs typeface="DM Sans" pitchFamily="34" charset="-120"/>
              </a:rPr>
              <a:t>→</a:t>
            </a:r>
            <a:endParaRPr lang="en-US" sz="2000" dirty="0"/>
          </a:p>
        </p:txBody>
      </p:sp>
      <p:sp>
        <p:nvSpPr>
          <p:cNvPr id="13" name="Text 11"/>
          <p:cNvSpPr/>
          <p:nvPr/>
        </p:nvSpPr>
        <p:spPr>
          <a:xfrm>
            <a:off x="8051888" y="3587812"/>
            <a:ext cx="1849691" cy="546894"/>
          </a:xfrm>
          <a:prstGeom prst="roundRect">
            <a:avLst>
              <a:gd name="adj" fmla="val 15094"/>
            </a:avLst>
          </a:prstGeom>
          <a:solidFill>
            <a:srgbClr val="FFFFFF"/>
          </a:solidFill>
          <a:ln w="12700">
            <a:solidFill>
              <a:srgbClr val="BFD4F6"/>
            </a:solidFill>
            <a:prstDash val="solid"/>
          </a:ln>
        </p:spPr>
        <p:txBody>
          <a:bodyPr wrap="none" lIns="0" tIns="0" rIns="0" bIns="0" rtlCol="0" anchor="ctr">
            <a:normAutofit/>
          </a:bodyPr>
          <a:lstStyle/>
          <a:p>
            <a:pPr algn="ctr" indent="0" marL="0">
              <a:lnSpc>
                <a:spcPts val="2240"/>
              </a:lnSpc>
              <a:buNone/>
            </a:pPr>
            <a:r>
              <a:rPr lang="en-US" sz="1600" b="1" dirty="0">
                <a:solidFill>
                  <a:srgbClr val="0F2A5C"/>
                </a:solidFill>
                <a:latin typeface="DM Sans" pitchFamily="34" charset="0"/>
                <a:ea typeface="DM Sans" pitchFamily="34" charset="-122"/>
                <a:cs typeface="DM Sans" pitchFamily="34" charset="-120"/>
              </a:rPr>
              <a:t>Model training</a:t>
            </a:r>
            <a:endParaRPr lang="en-US" sz="1600" dirty="0"/>
          </a:p>
        </p:txBody>
      </p:sp>
      <p:sp>
        <p:nvSpPr>
          <p:cNvPr id="14" name="Text 12"/>
          <p:cNvSpPr/>
          <p:nvPr/>
        </p:nvSpPr>
        <p:spPr>
          <a:xfrm>
            <a:off x="812767" y="6289030"/>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DM Sans" pitchFamily="34" charset="0"/>
                <a:ea typeface="DM Sans" pitchFamily="34" charset="-122"/>
                <a:cs typeface="DM Sans" pitchFamily="34" charset="-120"/>
              </a:rPr>
              <a:t>Part 1 Tidying existing columns</a:t>
            </a:r>
            <a:endParaRPr lang="en-US" sz="1200" dirty="0"/>
          </a:p>
        </p:txBody>
      </p:sp>
      <p:sp>
        <p:nvSpPr>
          <p:cNvPr id="15" name="Text 13"/>
          <p:cNvSpPr/>
          <p:nvPr/>
        </p:nvSpPr>
        <p:spPr>
          <a:xfrm>
            <a:off x="10058433" y="6289030"/>
            <a:ext cx="1320800" cy="23877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748B"/>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67" y="508000"/>
            <a:ext cx="10883461"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5C"/>
                </a:solidFill>
                <a:latin typeface="DM Sans" pitchFamily="34" charset="0"/>
                <a:ea typeface="DM Sans" pitchFamily="34" charset="-122"/>
                <a:cs typeface="DM Sans" pitchFamily="34" charset="-120"/>
              </a:rPr>
              <a:t>Types of Feature Engineering</a:t>
            </a:r>
            <a:endParaRPr lang="en-US" sz="3200" dirty="0"/>
          </a:p>
        </p:txBody>
      </p:sp>
      <p:sp>
        <p:nvSpPr>
          <p:cNvPr id="3" name="Shape 1"/>
          <p:cNvSpPr/>
          <p:nvPr/>
        </p:nvSpPr>
        <p:spPr>
          <a:xfrm>
            <a:off x="812767" y="1076908"/>
            <a:ext cx="609589" cy="50767"/>
          </a:xfrm>
          <a:prstGeom prst="roundRect">
            <a:avLst>
              <a:gd name="adj" fmla="val 50000"/>
            </a:avLst>
          </a:prstGeom>
          <a:solidFill>
            <a:srgbClr val="2563EB"/>
          </a:solidFill>
          <a:ln/>
        </p:spPr>
      </p:sp>
      <p:sp>
        <p:nvSpPr>
          <p:cNvPr id="4" name="Text 2"/>
          <p:cNvSpPr/>
          <p:nvPr/>
        </p:nvSpPr>
        <p:spPr>
          <a:xfrm>
            <a:off x="849089" y="1356265"/>
            <a:ext cx="10839519" cy="1147399"/>
          </a:xfrm>
          <a:prstGeom prst="rect">
            <a:avLst/>
          </a:prstGeom>
          <a:noFill/>
          <a:ln/>
        </p:spPr>
        <p:txBody>
          <a:bodyPr wrap="square" lIns="0" tIns="0" rIns="0" bIns="0" rtlCol="0" anchor="t">
            <a:normAutofit/>
          </a:bodyPr>
          <a:lstStyle/>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Select: choose the relevant variables</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Transform: reformat existing variables</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Create: build new features from existing ones</a:t>
            </a:r>
            <a:endParaRPr lang="en-US" sz="1900" dirty="0"/>
          </a:p>
        </p:txBody>
      </p:sp>
      <p:sp>
        <p:nvSpPr>
          <p:cNvPr id="5" name="Shape 3"/>
          <p:cNvSpPr/>
          <p:nvPr/>
        </p:nvSpPr>
        <p:spPr>
          <a:xfrm>
            <a:off x="819117" y="2713199"/>
            <a:ext cx="10553767" cy="2527355"/>
          </a:xfrm>
          <a:prstGeom prst="roundRect">
            <a:avLst>
              <a:gd name="adj" fmla="val 4774"/>
            </a:avLst>
          </a:prstGeom>
          <a:solidFill>
            <a:srgbClr val="F1F6FE"/>
          </a:solidFill>
          <a:ln w="12700">
            <a:solidFill>
              <a:srgbClr val="CFE0FA"/>
            </a:solidFill>
            <a:prstDash val="solid"/>
          </a:ln>
        </p:spPr>
      </p:sp>
      <p:sp>
        <p:nvSpPr>
          <p:cNvPr id="6" name="Text 4"/>
          <p:cNvSpPr/>
          <p:nvPr/>
        </p:nvSpPr>
        <p:spPr>
          <a:xfrm>
            <a:off x="1102706" y="2946022"/>
            <a:ext cx="10286186"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Examples</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113290" y="3258838"/>
          <a:ext cx="9976005" cy="1748896"/>
        </p:xfrm>
        <a:graphic>
          <a:graphicData uri="http://schemas.openxmlformats.org/drawingml/2006/table">
            <a:tbl>
              <a:tblPr/>
              <a:tblGrid>
                <a:gridCol w="2394241"/>
                <a:gridCol w="7581764"/>
              </a:tblGrid>
              <a:tr h="437224">
                <a:tc>
                  <a:txBody>
                    <a:bodyPr/>
                    <a:lstStyle/>
                    <a:p>
                      <a:pPr indent="0" marL="0">
                        <a:lnSpc>
                          <a:spcPts val="2240"/>
                        </a:lnSpc>
                        <a:buNone/>
                      </a:pPr>
                      <a:r>
                        <a:rPr lang="en-US" sz="1600" b="1" dirty="0">
                          <a:solidFill>
                            <a:srgbClr val="0F2A5C"/>
                          </a:solidFill>
                          <a:latin typeface="DM Sans" pitchFamily="34" charset="0"/>
                          <a:ea typeface="DM Sans" pitchFamily="34" charset="-122"/>
                          <a:cs typeface="DM Sans" pitchFamily="34" charset="-120"/>
                        </a:rPr>
                        <a:t>Type</a:t>
                      </a:r>
                      <a:endParaRPr lang="en-US" sz="1600" dirty="0">
                        <a:latin typeface="DM Sans" charset="0"/>
                        <a:ea typeface="DM Sans" charset="0"/>
                        <a:cs typeface="DM Sans" charset="0"/>
                      </a:endParaRPr>
                    </a:p>
                  </a:txBody>
                  <a:tcPr marL="71120" marR="71120" marT="71120" marB="71120" anchor="t">
                    <a:lnL w="12700" cap="flat" cmpd="sng" algn="ctr">
                      <a:solidFill>
                        <a:srgbClr val="C0C4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2240"/>
                        </a:lnSpc>
                        <a:buNone/>
                      </a:pPr>
                      <a:r>
                        <a:rPr lang="en-US" sz="1600" b="1" dirty="0">
                          <a:solidFill>
                            <a:srgbClr val="0F2A5C"/>
                          </a:solidFill>
                          <a:latin typeface="DM Sans" pitchFamily="34" charset="0"/>
                          <a:ea typeface="DM Sans" pitchFamily="34" charset="-122"/>
                          <a:cs typeface="DM Sans" pitchFamily="34" charset="-120"/>
                        </a:rPr>
                        <a:t>Example</a:t>
                      </a:r>
                      <a:endParaRPr lang="en-US" sz="1600" dirty="0">
                        <a:latin typeface="DM Sans" charset="0"/>
                        <a:ea typeface="DM Sans" charset="0"/>
                        <a:cs typeface="DM Sans" charset="0"/>
                      </a:endParaRPr>
                    </a:p>
                  </a:txBody>
                  <a:tcPr marL="71120" marR="71120" marT="71120" marB="71120"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r>
              <a:tr h="437224">
                <a:tc>
                  <a:txBody>
                    <a:bodyPr/>
                    <a:lstStyle/>
                    <a:p>
                      <a:pPr indent="0" marL="0">
                        <a:lnSpc>
                          <a:spcPts val="2240"/>
                        </a:lnSpc>
                        <a:buNone/>
                      </a:pPr>
                      <a:r>
                        <a:rPr lang="en-US" sz="1600" dirty="0">
                          <a:solidFill>
                            <a:srgbClr val="1E293B"/>
                          </a:solidFill>
                          <a:latin typeface="DM Sans" pitchFamily="34" charset="0"/>
                          <a:ea typeface="DM Sans" pitchFamily="34" charset="-122"/>
                          <a:cs typeface="DM Sans" pitchFamily="34" charset="-120"/>
                        </a:rPr>
                        <a:t>Select</a:t>
                      </a:r>
                      <a:endParaRPr lang="en-US" sz="1600" dirty="0">
                        <a:latin typeface="DM Sans" charset="0"/>
                        <a:ea typeface="DM Sans" charset="0"/>
                        <a:cs typeface="DM Sans" charset="0"/>
                      </a:endParaRPr>
                    </a:p>
                  </a:txBody>
                  <a:tcPr marL="71120" marR="71120" marT="71120" marB="71120"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DM Sans" pitchFamily="34" charset="0"/>
                          <a:ea typeface="DM Sans" pitchFamily="34" charset="-122"/>
                          <a:cs typeface="DM Sans" pitchFamily="34" charset="-120"/>
                        </a:rPr>
                        <a:t>Drop customer name, keep monthly fee</a:t>
                      </a:r>
                      <a:endParaRPr lang="en-US" sz="1600" dirty="0">
                        <a:latin typeface="DM Sans" charset="0"/>
                        <a:ea typeface="DM Sans" charset="0"/>
                        <a:cs typeface="DM Sans"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37224">
                <a:tc>
                  <a:txBody>
                    <a:bodyPr/>
                    <a:lstStyle/>
                    <a:p>
                      <a:pPr indent="0" marL="0">
                        <a:lnSpc>
                          <a:spcPts val="2240"/>
                        </a:lnSpc>
                        <a:buNone/>
                      </a:pPr>
                      <a:r>
                        <a:rPr lang="en-US" sz="1600" dirty="0">
                          <a:solidFill>
                            <a:srgbClr val="1E293B"/>
                          </a:solidFill>
                          <a:latin typeface="DM Sans" pitchFamily="34" charset="0"/>
                          <a:ea typeface="DM Sans" pitchFamily="34" charset="-122"/>
                          <a:cs typeface="DM Sans" pitchFamily="34" charset="-120"/>
                        </a:rPr>
                        <a:t>Transform</a:t>
                      </a:r>
                      <a:endParaRPr lang="en-US" sz="1600" dirty="0">
                        <a:latin typeface="DM Sans" charset="0"/>
                        <a:ea typeface="DM Sans" charset="0"/>
                        <a:cs typeface="DM Sans" charset="0"/>
                      </a:endParaRPr>
                    </a:p>
                  </a:txBody>
                  <a:tcPr marL="71120" marR="71120" marT="71120" marB="71120"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DM Sans" pitchFamily="34" charset="0"/>
                          <a:ea typeface="DM Sans" pitchFamily="34" charset="-122"/>
                          <a:cs typeface="DM Sans" pitchFamily="34" charset="-120"/>
                        </a:rPr>
                        <a:t>Weather (text) → 0/1 columns</a:t>
                      </a:r>
                      <a:endParaRPr lang="en-US" sz="1600" dirty="0">
                        <a:latin typeface="DM Sans" charset="0"/>
                        <a:ea typeface="DM Sans" charset="0"/>
                        <a:cs typeface="DM Sans"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37224">
                <a:tc>
                  <a:txBody>
                    <a:bodyPr/>
                    <a:lstStyle/>
                    <a:p>
                      <a:pPr indent="0" marL="0">
                        <a:lnSpc>
                          <a:spcPts val="2240"/>
                        </a:lnSpc>
                        <a:buNone/>
                      </a:pPr>
                      <a:r>
                        <a:rPr lang="en-US" sz="1600" dirty="0">
                          <a:solidFill>
                            <a:srgbClr val="1E293B"/>
                          </a:solidFill>
                          <a:latin typeface="DM Sans" pitchFamily="34" charset="0"/>
                          <a:ea typeface="DM Sans" pitchFamily="34" charset="-122"/>
                          <a:cs typeface="DM Sans" pitchFamily="34" charset="-120"/>
                        </a:rPr>
                        <a:t>Create</a:t>
                      </a:r>
                      <a:endParaRPr lang="en-US" sz="1600" dirty="0">
                        <a:latin typeface="DM Sans" charset="0"/>
                        <a:ea typeface="DM Sans" charset="0"/>
                        <a:cs typeface="DM Sans" charset="0"/>
                      </a:endParaRPr>
                    </a:p>
                  </a:txBody>
                  <a:tcPr marL="71120" marR="71120" marT="71120" marB="71120"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DM Sans" pitchFamily="34" charset="0"/>
                          <a:ea typeface="DM Sans" pitchFamily="34" charset="-122"/>
                          <a:cs typeface="DM Sans" pitchFamily="34" charset="-120"/>
                        </a:rPr>
                        <a:t>Submitted ÷ total → submission rate</a:t>
                      </a:r>
                      <a:endParaRPr lang="en-US" sz="1600" dirty="0">
                        <a:latin typeface="DM Sans" charset="0"/>
                        <a:ea typeface="DM Sans" charset="0"/>
                        <a:cs typeface="DM Sans"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8" name="Text 5"/>
          <p:cNvSpPr/>
          <p:nvPr/>
        </p:nvSpPr>
        <p:spPr>
          <a:xfrm>
            <a:off x="812767" y="6289036"/>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DM Sans" pitchFamily="34" charset="0"/>
                <a:ea typeface="DM Sans" pitchFamily="34" charset="-122"/>
                <a:cs typeface="DM Sans" pitchFamily="34" charset="-120"/>
              </a:rPr>
              <a:t>Part 1 Tidying existing columns</a:t>
            </a:r>
            <a:endParaRPr lang="en-US" sz="1200" dirty="0"/>
          </a:p>
        </p:txBody>
      </p:sp>
      <p:sp>
        <p:nvSpPr>
          <p:cNvPr id="9" name="Text 6"/>
          <p:cNvSpPr/>
          <p:nvPr/>
        </p:nvSpPr>
        <p:spPr>
          <a:xfrm>
            <a:off x="10058433" y="6289036"/>
            <a:ext cx="1320800" cy="23877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748B"/>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67" y="508000"/>
            <a:ext cx="10883461"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5C"/>
                </a:solidFill>
                <a:latin typeface="DM Sans" pitchFamily="34" charset="0"/>
                <a:ea typeface="DM Sans" pitchFamily="34" charset="-122"/>
                <a:cs typeface="DM Sans" pitchFamily="34" charset="-120"/>
              </a:rPr>
              <a:t>Select</a:t>
            </a:r>
            <a:endParaRPr lang="en-US" sz="3200" dirty="0"/>
          </a:p>
        </p:txBody>
      </p:sp>
      <p:sp>
        <p:nvSpPr>
          <p:cNvPr id="3" name="Shape 1"/>
          <p:cNvSpPr/>
          <p:nvPr/>
        </p:nvSpPr>
        <p:spPr>
          <a:xfrm>
            <a:off x="812767" y="1076908"/>
            <a:ext cx="609589" cy="50767"/>
          </a:xfrm>
          <a:prstGeom prst="roundRect">
            <a:avLst>
              <a:gd name="adj" fmla="val 50000"/>
            </a:avLst>
          </a:prstGeom>
          <a:solidFill>
            <a:srgbClr val="2563EB"/>
          </a:solidFill>
          <a:ln/>
        </p:spPr>
      </p:sp>
      <p:sp>
        <p:nvSpPr>
          <p:cNvPr id="4" name="Text 2"/>
          <p:cNvSpPr/>
          <p:nvPr/>
        </p:nvSpPr>
        <p:spPr>
          <a:xfrm>
            <a:off x="876775" y="1305440"/>
            <a:ext cx="10811833" cy="970128"/>
          </a:xfrm>
          <a:prstGeom prst="rect">
            <a:avLst/>
          </a:prstGeom>
          <a:noFill/>
          <a:ln/>
        </p:spPr>
        <p:txBody>
          <a:bodyPr wrap="square" lIns="0" tIns="0" rIns="0" bIns="0" rtlCol="0" anchor="t">
            <a:normAutofit/>
          </a:bodyPr>
          <a:lstStyle/>
          <a:p>
            <a:pPr algn="l" marL="189992" indent="-189992">
              <a:lnSpc>
                <a:spcPts val="2480"/>
              </a:lnSpc>
              <a:buSzPct val="100000"/>
              <a:buChar char="•"/>
            </a:pPr>
            <a:r>
              <a:rPr lang="en-US" sz="1600" dirty="0">
                <a:solidFill>
                  <a:srgbClr val="1E293B"/>
                </a:solidFill>
                <a:latin typeface="DM Sans" pitchFamily="34" charset="0"/>
                <a:ea typeface="DM Sans" pitchFamily="34" charset="-122"/>
                <a:cs typeface="DM Sans" pitchFamily="34" charset="-120"/>
              </a:rPr>
              <a:t>Choose the relevant variables from the raw data</a:t>
            </a:r>
            <a:endParaRPr lang="en-US" sz="1600" dirty="0"/>
          </a:p>
          <a:p>
            <a:pPr algn="l" marL="189992" indent="-189992">
              <a:lnSpc>
                <a:spcPts val="2480"/>
              </a:lnSpc>
              <a:buSzPct val="100000"/>
              <a:buChar char="•"/>
            </a:pPr>
            <a:r>
              <a:rPr lang="en-US" sz="1600" dirty="0">
                <a:solidFill>
                  <a:srgbClr val="1E293B"/>
                </a:solidFill>
                <a:latin typeface="DM Sans" pitchFamily="34" charset="0"/>
                <a:ea typeface="DM Sans" pitchFamily="34" charset="-122"/>
                <a:cs typeface="DM Sans" pitchFamily="34" charset="-120"/>
              </a:rPr>
              <a:t>Judge each column by its link to churn</a:t>
            </a:r>
            <a:endParaRPr lang="en-US" sz="1600" dirty="0"/>
          </a:p>
          <a:p>
            <a:pPr algn="l" marL="189992" indent="-189992">
              <a:lnSpc>
                <a:spcPts val="2480"/>
              </a:lnSpc>
              <a:buSzPct val="100000"/>
              <a:buChar char="•"/>
            </a:pPr>
            <a:r>
              <a:rPr lang="en-US" sz="1600" dirty="0">
                <a:solidFill>
                  <a:srgbClr val="1E293B"/>
                </a:solidFill>
                <a:latin typeface="DM Sans" pitchFamily="34" charset="0"/>
                <a:ea typeface="DM Sans" pitchFamily="34" charset="-122"/>
                <a:cs typeface="DM Sans" pitchFamily="34" charset="-120"/>
              </a:rPr>
              <a:t>Only the necessary columns remain</a:t>
            </a:r>
            <a:endParaRPr lang="en-US" sz="1600" dirty="0"/>
          </a:p>
        </p:txBody>
      </p:sp>
      <p:sp>
        <p:nvSpPr>
          <p:cNvPr id="5" name="Shape 3"/>
          <p:cNvSpPr/>
          <p:nvPr/>
        </p:nvSpPr>
        <p:spPr>
          <a:xfrm>
            <a:off x="819117" y="2434289"/>
            <a:ext cx="10553767" cy="1123520"/>
          </a:xfrm>
          <a:prstGeom prst="roundRect">
            <a:avLst>
              <a:gd name="adj" fmla="val 10739"/>
            </a:avLst>
          </a:prstGeom>
          <a:solidFill>
            <a:srgbClr val="F1F6FE"/>
          </a:solidFill>
          <a:ln w="12700">
            <a:solidFill>
              <a:srgbClr val="CFE0FA"/>
            </a:solidFill>
            <a:prstDash val="solid"/>
          </a:ln>
        </p:spPr>
      </p:sp>
      <p:sp>
        <p:nvSpPr>
          <p:cNvPr id="6" name="Text 4"/>
          <p:cNvSpPr/>
          <p:nvPr/>
        </p:nvSpPr>
        <p:spPr>
          <a:xfrm>
            <a:off x="1051939" y="2590874"/>
            <a:ext cx="10390766"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① Raw data</a:t>
            </a:r>
            <a:endParaRPr lang="en-US" sz="1400" dirty="0"/>
          </a:p>
        </p:txBody>
      </p:sp>
      <p:sp>
        <p:nvSpPr>
          <p:cNvPr id="7" name="Text 5"/>
          <p:cNvSpPr/>
          <p:nvPr/>
        </p:nvSpPr>
        <p:spPr>
          <a:xfrm>
            <a:off x="1051939" y="2867751"/>
            <a:ext cx="10390766" cy="558866"/>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E293B"/>
                </a:solidFill>
                <a:latin typeface="DM Sans" pitchFamily="34" charset="0"/>
                <a:ea typeface="DM Sans" pitchFamily="34" charset="-122"/>
                <a:cs typeface="DM Sans" pitchFamily="34" charset="-120"/>
              </a:rPr>
              <a:t>Customer ID, name, sign-up date, phone number, monthly fee, contract type, months subscribed, favorite color, support calls, churned</a:t>
            </a:r>
            <a:endParaRPr lang="en-US" sz="1400" dirty="0"/>
          </a:p>
        </p:txBody>
      </p:sp>
      <p:sp>
        <p:nvSpPr>
          <p:cNvPr id="8" name="Shape 6"/>
          <p:cNvSpPr/>
          <p:nvPr/>
        </p:nvSpPr>
        <p:spPr>
          <a:xfrm>
            <a:off x="819117" y="3748274"/>
            <a:ext cx="4752942" cy="1986393"/>
          </a:xfrm>
          <a:prstGeom prst="roundRect">
            <a:avLst>
              <a:gd name="adj" fmla="val 6074"/>
            </a:avLst>
          </a:prstGeom>
          <a:solidFill>
            <a:srgbClr val="F1F6FE"/>
          </a:solidFill>
          <a:ln w="12700">
            <a:solidFill>
              <a:srgbClr val="CFE0FA"/>
            </a:solidFill>
            <a:prstDash val="solid"/>
          </a:ln>
        </p:spPr>
      </p:sp>
      <p:sp>
        <p:nvSpPr>
          <p:cNvPr id="9" name="Text 7"/>
          <p:cNvSpPr/>
          <p:nvPr/>
        </p:nvSpPr>
        <p:spPr>
          <a:xfrm>
            <a:off x="1051939" y="3930272"/>
            <a:ext cx="4415917"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② Pick</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1062523" y="4230413"/>
          <a:ext cx="4276714" cy="1322255"/>
        </p:xfrm>
        <a:graphic>
          <a:graphicData uri="http://schemas.openxmlformats.org/drawingml/2006/table">
            <a:tbl>
              <a:tblPr/>
              <a:tblGrid>
                <a:gridCol w="1539617"/>
                <a:gridCol w="898110"/>
                <a:gridCol w="1838987"/>
              </a:tblGrid>
              <a:tr h="330564">
                <a:tc>
                  <a:txBody>
                    <a:bodyPr/>
                    <a:lstStyle/>
                    <a:p>
                      <a:pPr indent="0" marL="0">
                        <a:lnSpc>
                          <a:spcPts val="1680"/>
                        </a:lnSpc>
                        <a:buNone/>
                      </a:pPr>
                      <a:r>
                        <a:rPr lang="en-US" sz="1200" b="1" dirty="0">
                          <a:solidFill>
                            <a:srgbClr val="0F2A5C"/>
                          </a:solidFill>
                          <a:latin typeface="DM Sans" pitchFamily="34" charset="0"/>
                          <a:ea typeface="DM Sans" pitchFamily="34" charset="-122"/>
                          <a:cs typeface="DM Sans" pitchFamily="34" charset="-120"/>
                        </a:rPr>
                        <a:t>Column</a:t>
                      </a:r>
                      <a:endParaRPr lang="en-US" sz="1200" dirty="0">
                        <a:latin typeface="DM Sans" charset="0"/>
                        <a:ea typeface="DM Sans" charset="0"/>
                        <a:cs typeface="DM Sans" charset="0"/>
                      </a:endParaRPr>
                    </a:p>
                  </a:txBody>
                  <a:tcPr marL="53340" marR="53340" marT="53340" marB="53340" anchor="t">
                    <a:lnL w="12700" cap="flat" cmpd="sng" algn="ctr">
                      <a:solidFill>
                        <a:srgbClr val="C0C4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1680"/>
                        </a:lnSpc>
                        <a:buNone/>
                      </a:pPr>
                      <a:r>
                        <a:rPr lang="en-US" sz="1200" b="1" dirty="0">
                          <a:solidFill>
                            <a:srgbClr val="0F2A5C"/>
                          </a:solidFill>
                          <a:latin typeface="DM Sans" pitchFamily="34" charset="0"/>
                          <a:ea typeface="DM Sans" pitchFamily="34" charset="-122"/>
                          <a:cs typeface="DM Sans" pitchFamily="34" charset="-120"/>
                        </a:rPr>
                        <a:t>Verdict</a:t>
                      </a:r>
                      <a:endParaRPr lang="en-US" sz="1200" dirty="0">
                        <a:latin typeface="DM Sans" charset="0"/>
                        <a:ea typeface="DM Sans" charset="0"/>
                        <a:cs typeface="DM Sans" charset="0"/>
                      </a:endParaRPr>
                    </a:p>
                  </a:txBody>
                  <a:tcPr marL="53340" marR="53340" marT="53340" marB="53340"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1680"/>
                        </a:lnSpc>
                        <a:buNone/>
                      </a:pPr>
                      <a:r>
                        <a:rPr lang="en-US" sz="1200" b="1" dirty="0">
                          <a:solidFill>
                            <a:srgbClr val="0F2A5C"/>
                          </a:solidFill>
                          <a:latin typeface="DM Sans" pitchFamily="34" charset="0"/>
                          <a:ea typeface="DM Sans" pitchFamily="34" charset="-122"/>
                          <a:cs typeface="DM Sans" pitchFamily="34" charset="-120"/>
                        </a:rPr>
                        <a:t>Reason</a:t>
                      </a:r>
                      <a:endParaRPr lang="en-US" sz="1200" dirty="0">
                        <a:latin typeface="DM Sans" charset="0"/>
                        <a:ea typeface="DM Sans" charset="0"/>
                        <a:cs typeface="DM Sans" charset="0"/>
                      </a:endParaRPr>
                    </a:p>
                  </a:txBody>
                  <a:tcPr marL="53340" marR="53340" marT="53340" marB="53340"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r>
              <a:tr h="330564">
                <a:tc>
                  <a:txBody>
                    <a:bodyPr/>
                    <a:lstStyle/>
                    <a:p>
                      <a:pPr indent="0" marL="0">
                        <a:lnSpc>
                          <a:spcPts val="1680"/>
                        </a:lnSpc>
                        <a:buNone/>
                      </a:pPr>
                      <a:r>
                        <a:rPr lang="en-US" sz="1200" dirty="0">
                          <a:solidFill>
                            <a:srgbClr val="1E293B"/>
                          </a:solidFill>
                          <a:latin typeface="DM Sans" pitchFamily="34" charset="0"/>
                          <a:ea typeface="DM Sans" pitchFamily="34" charset="-122"/>
                          <a:cs typeface="DM Sans" pitchFamily="34" charset="-120"/>
                        </a:rPr>
                        <a:t>Name</a:t>
                      </a:r>
                      <a:endParaRPr lang="en-US" sz="1200" dirty="0">
                        <a:latin typeface="DM Sans" charset="0"/>
                        <a:ea typeface="DM Sans" charset="0"/>
                        <a:cs typeface="DM Sans" charset="0"/>
                      </a:endParaRPr>
                    </a:p>
                  </a:txBody>
                  <a:tcPr marL="53340" marR="53340" marT="53340" marB="53340"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93B"/>
                          </a:solidFill>
                          <a:latin typeface="DM Sans" pitchFamily="34" charset="0"/>
                          <a:ea typeface="DM Sans" pitchFamily="34" charset="-122"/>
                          <a:cs typeface="DM Sans" pitchFamily="34" charset="-120"/>
                        </a:rPr>
                        <a:t>Drop</a:t>
                      </a:r>
                      <a:endParaRPr lang="en-US" sz="1200" dirty="0">
                        <a:latin typeface="DM Sans" charset="0"/>
                        <a:ea typeface="DM Sans" charset="0"/>
                        <a:cs typeface="DM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93B"/>
                          </a:solidFill>
                          <a:latin typeface="DM Sans" pitchFamily="34" charset="0"/>
                          <a:ea typeface="DM Sans" pitchFamily="34" charset="-122"/>
                          <a:cs typeface="DM Sans" pitchFamily="34" charset="-120"/>
                        </a:rPr>
                        <a:t>No link to churn</a:t>
                      </a:r>
                      <a:endParaRPr lang="en-US" sz="1200" dirty="0">
                        <a:latin typeface="DM Sans" charset="0"/>
                        <a:ea typeface="DM Sans" charset="0"/>
                        <a:cs typeface="DM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0564">
                <a:tc>
                  <a:txBody>
                    <a:bodyPr/>
                    <a:lstStyle/>
                    <a:p>
                      <a:pPr indent="0" marL="0">
                        <a:lnSpc>
                          <a:spcPts val="1680"/>
                        </a:lnSpc>
                        <a:buNone/>
                      </a:pPr>
                      <a:r>
                        <a:rPr lang="en-US" sz="1200" dirty="0">
                          <a:solidFill>
                            <a:srgbClr val="1E293B"/>
                          </a:solidFill>
                          <a:latin typeface="DM Sans" pitchFamily="34" charset="0"/>
                          <a:ea typeface="DM Sans" pitchFamily="34" charset="-122"/>
                          <a:cs typeface="DM Sans" pitchFamily="34" charset="-120"/>
                        </a:rPr>
                        <a:t>Monthly fee</a:t>
                      </a:r>
                      <a:endParaRPr lang="en-US" sz="1200" dirty="0">
                        <a:latin typeface="DM Sans" charset="0"/>
                        <a:ea typeface="DM Sans" charset="0"/>
                        <a:cs typeface="DM Sans" charset="0"/>
                      </a:endParaRPr>
                    </a:p>
                  </a:txBody>
                  <a:tcPr marL="53340" marR="53340" marT="53340" marB="53340"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93B"/>
                          </a:solidFill>
                          <a:latin typeface="DM Sans" pitchFamily="34" charset="0"/>
                          <a:ea typeface="DM Sans" pitchFamily="34" charset="-122"/>
                          <a:cs typeface="DM Sans" pitchFamily="34" charset="-120"/>
                        </a:rPr>
                        <a:t>Keep</a:t>
                      </a:r>
                      <a:endParaRPr lang="en-US" sz="1200" dirty="0">
                        <a:latin typeface="DM Sans" charset="0"/>
                        <a:ea typeface="DM Sans" charset="0"/>
                        <a:cs typeface="DM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93B"/>
                          </a:solidFill>
                          <a:latin typeface="DM Sans" pitchFamily="34" charset="0"/>
                          <a:ea typeface="DM Sans" pitchFamily="34" charset="-122"/>
                          <a:cs typeface="DM Sans" pitchFamily="34" charset="-120"/>
                        </a:rPr>
                        <a:t>Price sensitivity</a:t>
                      </a:r>
                      <a:endParaRPr lang="en-US" sz="1200" dirty="0">
                        <a:latin typeface="DM Sans" charset="0"/>
                        <a:ea typeface="DM Sans" charset="0"/>
                        <a:cs typeface="DM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0564">
                <a:tc>
                  <a:txBody>
                    <a:bodyPr/>
                    <a:lstStyle/>
                    <a:p>
                      <a:pPr indent="0" marL="0">
                        <a:lnSpc>
                          <a:spcPts val="1680"/>
                        </a:lnSpc>
                        <a:buNone/>
                      </a:pPr>
                      <a:r>
                        <a:rPr lang="en-US" sz="1200" dirty="0">
                          <a:solidFill>
                            <a:srgbClr val="1E293B"/>
                          </a:solidFill>
                          <a:latin typeface="DM Sans" pitchFamily="34" charset="0"/>
                          <a:ea typeface="DM Sans" pitchFamily="34" charset="-122"/>
                          <a:cs typeface="DM Sans" pitchFamily="34" charset="-120"/>
                        </a:rPr>
                        <a:t>Contract type</a:t>
                      </a:r>
                      <a:endParaRPr lang="en-US" sz="1200" dirty="0">
                        <a:latin typeface="DM Sans" charset="0"/>
                        <a:ea typeface="DM Sans" charset="0"/>
                        <a:cs typeface="DM Sans" charset="0"/>
                      </a:endParaRPr>
                    </a:p>
                  </a:txBody>
                  <a:tcPr marL="53340" marR="53340" marT="53340" marB="53340"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93B"/>
                          </a:solidFill>
                          <a:latin typeface="DM Sans" pitchFamily="34" charset="0"/>
                          <a:ea typeface="DM Sans" pitchFamily="34" charset="-122"/>
                          <a:cs typeface="DM Sans" pitchFamily="34" charset="-120"/>
                        </a:rPr>
                        <a:t>Keep</a:t>
                      </a:r>
                      <a:endParaRPr lang="en-US" sz="1200" dirty="0">
                        <a:latin typeface="DM Sans" charset="0"/>
                        <a:ea typeface="DM Sans" charset="0"/>
                        <a:cs typeface="DM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93B"/>
                          </a:solidFill>
                          <a:latin typeface="DM Sans" pitchFamily="34" charset="0"/>
                          <a:ea typeface="DM Sans" pitchFamily="34" charset="-122"/>
                          <a:cs typeface="DM Sans" pitchFamily="34" charset="-120"/>
                        </a:rPr>
                        <a:t>Higher churn risk</a:t>
                      </a:r>
                      <a:endParaRPr lang="en-US" sz="1200" dirty="0">
                        <a:latin typeface="DM Sans" charset="0"/>
                        <a:ea typeface="DM Sans" charset="0"/>
                        <a:cs typeface="DM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11" name="Shape 8"/>
          <p:cNvSpPr/>
          <p:nvPr/>
        </p:nvSpPr>
        <p:spPr>
          <a:xfrm>
            <a:off x="5762526" y="3748274"/>
            <a:ext cx="5610358" cy="1986393"/>
          </a:xfrm>
          <a:prstGeom prst="roundRect">
            <a:avLst>
              <a:gd name="adj" fmla="val 6074"/>
            </a:avLst>
          </a:prstGeom>
          <a:solidFill>
            <a:srgbClr val="F1F6FE"/>
          </a:solidFill>
          <a:ln w="12700">
            <a:solidFill>
              <a:srgbClr val="CFE0FA"/>
            </a:solidFill>
            <a:prstDash val="solid"/>
          </a:ln>
        </p:spPr>
      </p:sp>
      <p:sp>
        <p:nvSpPr>
          <p:cNvPr id="12" name="Text 9"/>
          <p:cNvSpPr/>
          <p:nvPr/>
        </p:nvSpPr>
        <p:spPr>
          <a:xfrm>
            <a:off x="5995348" y="3930272"/>
            <a:ext cx="5299054"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③ Clean data</a:t>
            </a:r>
            <a:endParaRPr lang="en-US" sz="14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005932" y="4230413"/>
          <a:ext cx="5134130" cy="874503"/>
        </p:xfrm>
        <a:graphic>
          <a:graphicData uri="http://schemas.openxmlformats.org/drawingml/2006/table">
            <a:tbl>
              <a:tblPr/>
              <a:tblGrid>
                <a:gridCol w="1026826"/>
                <a:gridCol w="1078167"/>
                <a:gridCol w="1180850"/>
                <a:gridCol w="924143"/>
                <a:gridCol w="924143"/>
              </a:tblGrid>
              <a:tr h="543939">
                <a:tc>
                  <a:txBody>
                    <a:bodyPr/>
                    <a:lstStyle/>
                    <a:p>
                      <a:pPr indent="0" marL="0">
                        <a:lnSpc>
                          <a:spcPts val="1680"/>
                        </a:lnSpc>
                        <a:buNone/>
                      </a:pPr>
                      <a:r>
                        <a:rPr lang="en-US" sz="1200" b="1" dirty="0">
                          <a:solidFill>
                            <a:srgbClr val="0F2A5C"/>
                          </a:solidFill>
                          <a:latin typeface="DM Sans" pitchFamily="34" charset="0"/>
                          <a:ea typeface="DM Sans" pitchFamily="34" charset="-122"/>
                          <a:cs typeface="DM Sans" pitchFamily="34" charset="-120"/>
                        </a:rPr>
                        <a:t>Monthly fee</a:t>
                      </a:r>
                      <a:endParaRPr lang="en-US" sz="1200" dirty="0">
                        <a:latin typeface="DM Sans" charset="0"/>
                        <a:ea typeface="DM Sans" charset="0"/>
                        <a:cs typeface="DM Sans" charset="0"/>
                      </a:endParaRPr>
                    </a:p>
                  </a:txBody>
                  <a:tcPr marL="53340" marR="53340" marT="53340" marB="53340" anchor="t">
                    <a:lnL w="12700" cap="flat" cmpd="sng" algn="ctr">
                      <a:solidFill>
                        <a:srgbClr val="C0C4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1680"/>
                        </a:lnSpc>
                        <a:buNone/>
                      </a:pPr>
                      <a:r>
                        <a:rPr lang="en-US" sz="1200" b="1" dirty="0">
                          <a:solidFill>
                            <a:srgbClr val="0F2A5C"/>
                          </a:solidFill>
                          <a:latin typeface="DM Sans" pitchFamily="34" charset="0"/>
                          <a:ea typeface="DM Sans" pitchFamily="34" charset="-122"/>
                          <a:cs typeface="DM Sans" pitchFamily="34" charset="-120"/>
                        </a:rPr>
                        <a:t>Contract type</a:t>
                      </a:r>
                      <a:endParaRPr lang="en-US" sz="1200" dirty="0">
                        <a:latin typeface="DM Sans" charset="0"/>
                        <a:ea typeface="DM Sans" charset="0"/>
                        <a:cs typeface="DM Sans" charset="0"/>
                      </a:endParaRPr>
                    </a:p>
                  </a:txBody>
                  <a:tcPr marL="53340" marR="53340" marT="53340" marB="53340"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1680"/>
                        </a:lnSpc>
                        <a:buNone/>
                      </a:pPr>
                      <a:r>
                        <a:rPr lang="en-US" sz="1200" b="1" dirty="0">
                          <a:solidFill>
                            <a:srgbClr val="0F2A5C"/>
                          </a:solidFill>
                          <a:latin typeface="DM Sans" pitchFamily="34" charset="0"/>
                          <a:ea typeface="DM Sans" pitchFamily="34" charset="-122"/>
                          <a:cs typeface="DM Sans" pitchFamily="34" charset="-120"/>
                        </a:rPr>
                        <a:t>Months subscribed</a:t>
                      </a:r>
                      <a:endParaRPr lang="en-US" sz="1200" dirty="0">
                        <a:latin typeface="DM Sans" charset="0"/>
                        <a:ea typeface="DM Sans" charset="0"/>
                        <a:cs typeface="DM Sans" charset="0"/>
                      </a:endParaRPr>
                    </a:p>
                  </a:txBody>
                  <a:tcPr marL="53340" marR="53340" marT="53340" marB="53340"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1680"/>
                        </a:lnSpc>
                        <a:buNone/>
                      </a:pPr>
                      <a:r>
                        <a:rPr lang="en-US" sz="1200" b="1" dirty="0">
                          <a:solidFill>
                            <a:srgbClr val="0F2A5C"/>
                          </a:solidFill>
                          <a:latin typeface="DM Sans" pitchFamily="34" charset="0"/>
                          <a:ea typeface="DM Sans" pitchFamily="34" charset="-122"/>
                          <a:cs typeface="DM Sans" pitchFamily="34" charset="-120"/>
                        </a:rPr>
                        <a:t>Support calls</a:t>
                      </a:r>
                      <a:endParaRPr lang="en-US" sz="1200" dirty="0">
                        <a:latin typeface="DM Sans" charset="0"/>
                        <a:ea typeface="DM Sans" charset="0"/>
                        <a:cs typeface="DM Sans" charset="0"/>
                      </a:endParaRPr>
                    </a:p>
                  </a:txBody>
                  <a:tcPr marL="53340" marR="53340" marT="53340" marB="53340"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1680"/>
                        </a:lnSpc>
                        <a:buNone/>
                      </a:pPr>
                      <a:r>
                        <a:rPr lang="en-US" sz="1200" b="1" dirty="0">
                          <a:solidFill>
                            <a:srgbClr val="0F2A5C"/>
                          </a:solidFill>
                          <a:latin typeface="DM Sans" pitchFamily="34" charset="0"/>
                          <a:ea typeface="DM Sans" pitchFamily="34" charset="-122"/>
                          <a:cs typeface="DM Sans" pitchFamily="34" charset="-120"/>
                        </a:rPr>
                        <a:t>Churned</a:t>
                      </a:r>
                      <a:endParaRPr lang="en-US" sz="1200" dirty="0">
                        <a:latin typeface="DM Sans" charset="0"/>
                        <a:ea typeface="DM Sans" charset="0"/>
                        <a:cs typeface="DM Sans" charset="0"/>
                      </a:endParaRPr>
                    </a:p>
                  </a:txBody>
                  <a:tcPr marL="53340" marR="53340" marT="53340" marB="53340"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r>
              <a:tr h="330564">
                <a:tc>
                  <a:txBody>
                    <a:bodyPr/>
                    <a:lstStyle/>
                    <a:p>
                      <a:pPr indent="0" marL="0">
                        <a:lnSpc>
                          <a:spcPts val="1680"/>
                        </a:lnSpc>
                        <a:buNone/>
                      </a:pPr>
                      <a:r>
                        <a:rPr lang="en-US" sz="1200" dirty="0">
                          <a:solidFill>
                            <a:srgbClr val="1E293B"/>
                          </a:solidFill>
                          <a:latin typeface="DM Sans" pitchFamily="34" charset="0"/>
                          <a:ea typeface="DM Sans" pitchFamily="34" charset="-122"/>
                          <a:cs typeface="DM Sans" pitchFamily="34" charset="-120"/>
                        </a:rPr>
                        <a:t>89.50</a:t>
                      </a:r>
                      <a:endParaRPr lang="en-US" sz="1200" dirty="0">
                        <a:latin typeface="DM Sans" charset="0"/>
                        <a:ea typeface="DM Sans" charset="0"/>
                        <a:cs typeface="DM Sans" charset="0"/>
                      </a:endParaRPr>
                    </a:p>
                  </a:txBody>
                  <a:tcPr marL="53340" marR="53340" marT="53340" marB="53340"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93B"/>
                          </a:solidFill>
                          <a:latin typeface="DM Sans" pitchFamily="34" charset="0"/>
                          <a:ea typeface="DM Sans" pitchFamily="34" charset="-122"/>
                          <a:cs typeface="DM Sans" pitchFamily="34" charset="-120"/>
                        </a:rPr>
                        <a:t>Monthly</a:t>
                      </a:r>
                      <a:endParaRPr lang="en-US" sz="1200" dirty="0">
                        <a:latin typeface="DM Sans" charset="0"/>
                        <a:ea typeface="DM Sans" charset="0"/>
                        <a:cs typeface="DM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93B"/>
                          </a:solidFill>
                          <a:latin typeface="DM Sans" pitchFamily="34" charset="0"/>
                          <a:ea typeface="DM Sans" pitchFamily="34" charset="-122"/>
                          <a:cs typeface="DM Sans" pitchFamily="34" charset="-120"/>
                        </a:rPr>
                        <a:t>4</a:t>
                      </a:r>
                      <a:endParaRPr lang="en-US" sz="1200" dirty="0">
                        <a:latin typeface="DM Sans" charset="0"/>
                        <a:ea typeface="DM Sans" charset="0"/>
                        <a:cs typeface="DM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93B"/>
                          </a:solidFill>
                          <a:latin typeface="DM Sans" pitchFamily="34" charset="0"/>
                          <a:ea typeface="DM Sans" pitchFamily="34" charset="-122"/>
                          <a:cs typeface="DM Sans" pitchFamily="34" charset="-120"/>
                        </a:rPr>
                        <a:t>5</a:t>
                      </a:r>
                      <a:endParaRPr lang="en-US" sz="1200" dirty="0">
                        <a:latin typeface="DM Sans" charset="0"/>
                        <a:ea typeface="DM Sans" charset="0"/>
                        <a:cs typeface="DM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93B"/>
                          </a:solidFill>
                          <a:latin typeface="DM Sans" pitchFamily="34" charset="0"/>
                          <a:ea typeface="DM Sans" pitchFamily="34" charset="-122"/>
                          <a:cs typeface="DM Sans" pitchFamily="34" charset="-120"/>
                        </a:rPr>
                        <a:t>Yes</a:t>
                      </a:r>
                      <a:endParaRPr lang="en-US" sz="1200" dirty="0">
                        <a:latin typeface="DM Sans" charset="0"/>
                        <a:ea typeface="DM Sans" charset="0"/>
                        <a:cs typeface="DM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14" name="Text 10"/>
          <p:cNvSpPr/>
          <p:nvPr/>
        </p:nvSpPr>
        <p:spPr>
          <a:xfrm>
            <a:off x="812767" y="6289036"/>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DM Sans" pitchFamily="34" charset="0"/>
                <a:ea typeface="DM Sans" pitchFamily="34" charset="-122"/>
                <a:cs typeface="DM Sans" pitchFamily="34" charset="-120"/>
              </a:rPr>
              <a:t>Part 1 Tidying existing columns</a:t>
            </a:r>
            <a:endParaRPr lang="en-US" sz="1200" dirty="0"/>
          </a:p>
        </p:txBody>
      </p:sp>
      <p:sp>
        <p:nvSpPr>
          <p:cNvPr id="15" name="Text 11"/>
          <p:cNvSpPr/>
          <p:nvPr/>
        </p:nvSpPr>
        <p:spPr>
          <a:xfrm>
            <a:off x="10058433" y="6289036"/>
            <a:ext cx="1320800" cy="23877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748B"/>
                </a:solidFill>
                <a:latin typeface="DM Sans" pitchFamily="34" charset="0"/>
                <a:ea typeface="DM Sans" pitchFamily="34" charset="-122"/>
                <a:cs typeface="DM Sans" pitchFamily="34" charset="-120"/>
              </a:rPr>
              <a:t>12</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67" y="508000"/>
            <a:ext cx="10883461"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5C"/>
                </a:solidFill>
                <a:latin typeface="DM Sans" pitchFamily="34" charset="0"/>
                <a:ea typeface="DM Sans" pitchFamily="34" charset="-122"/>
                <a:cs typeface="DM Sans" pitchFamily="34" charset="-120"/>
              </a:rPr>
              <a:t>Today’s Data</a:t>
            </a:r>
            <a:endParaRPr lang="en-US" sz="3200" dirty="0"/>
          </a:p>
        </p:txBody>
      </p:sp>
      <p:sp>
        <p:nvSpPr>
          <p:cNvPr id="3" name="Shape 1"/>
          <p:cNvSpPr/>
          <p:nvPr/>
        </p:nvSpPr>
        <p:spPr>
          <a:xfrm>
            <a:off x="812767" y="1076908"/>
            <a:ext cx="609589" cy="50767"/>
          </a:xfrm>
          <a:prstGeom prst="roundRect">
            <a:avLst>
              <a:gd name="adj" fmla="val 50000"/>
            </a:avLst>
          </a:prstGeom>
          <a:solidFill>
            <a:srgbClr val="2563EB"/>
          </a:solidFill>
          <a:ln/>
        </p:spPr>
      </p:sp>
      <p:sp>
        <p:nvSpPr>
          <p:cNvPr id="4" name="Text 2"/>
          <p:cNvSpPr/>
          <p:nvPr/>
        </p:nvSpPr>
        <p:spPr>
          <a:xfrm>
            <a:off x="856201" y="1330852"/>
            <a:ext cx="10832407" cy="1088198"/>
          </a:xfrm>
          <a:prstGeom prst="rect">
            <a:avLst/>
          </a:prstGeom>
          <a:noFill/>
          <a:ln/>
        </p:spPr>
        <p:txBody>
          <a:bodyPr wrap="square" lIns="0" tIns="0" rIns="0" bIns="0" rtlCol="0" anchor="t">
            <a:normAutofit/>
          </a:bodyPr>
          <a:lstStyle/>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Predict the number of bikes rented</a:t>
            </a:r>
            <a:endParaRPr lang="en-US" sz="1800" dirty="0"/>
          </a:p>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Hourly data (date-time, weather, temperature, humidity, holiday)</a:t>
            </a:r>
            <a:endParaRPr lang="en-US" sz="1800" dirty="0"/>
          </a:p>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Target column: rentals (bikes rented in that hour)</a:t>
            </a:r>
            <a:endParaRPr lang="en-US" sz="1800" dirty="0"/>
          </a:p>
        </p:txBody>
      </p:sp>
      <p:sp>
        <p:nvSpPr>
          <p:cNvPr id="5" name="Shape 3"/>
          <p:cNvSpPr/>
          <p:nvPr/>
        </p:nvSpPr>
        <p:spPr>
          <a:xfrm>
            <a:off x="819117" y="2603178"/>
            <a:ext cx="10553767" cy="3177514"/>
          </a:xfrm>
          <a:prstGeom prst="roundRect">
            <a:avLst>
              <a:gd name="adj" fmla="val 3797"/>
            </a:avLst>
          </a:prstGeom>
          <a:solidFill>
            <a:srgbClr val="F1F6FE"/>
          </a:solidFill>
          <a:ln w="12700">
            <a:solidFill>
              <a:srgbClr val="CFE0FA"/>
            </a:solidFill>
            <a:prstDash val="solid"/>
          </a:ln>
        </p:spPr>
      </p:sp>
      <p:sp>
        <p:nvSpPr>
          <p:cNvPr id="6" name="Text 4"/>
          <p:cNvSpPr/>
          <p:nvPr/>
        </p:nvSpPr>
        <p:spPr>
          <a:xfrm>
            <a:off x="1102706" y="2785176"/>
            <a:ext cx="10286186"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Columns in the data</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113290" y="3097992"/>
          <a:ext cx="9976005" cy="2500698"/>
        </p:xfrm>
        <a:graphic>
          <a:graphicData uri="http://schemas.openxmlformats.org/drawingml/2006/table">
            <a:tbl>
              <a:tblPr/>
              <a:tblGrid>
                <a:gridCol w="1995201"/>
                <a:gridCol w="1396641"/>
                <a:gridCol w="6584163"/>
              </a:tblGrid>
              <a:tr h="357243">
                <a:tc>
                  <a:txBody>
                    <a:bodyPr/>
                    <a:lstStyle/>
                    <a:p>
                      <a:pPr indent="0" marL="0">
                        <a:lnSpc>
                          <a:spcPts val="1820"/>
                        </a:lnSpc>
                        <a:buNone/>
                      </a:pPr>
                      <a:r>
                        <a:rPr lang="en-US" sz="1300" b="1" dirty="0">
                          <a:solidFill>
                            <a:srgbClr val="0F2A5C"/>
                          </a:solidFill>
                          <a:latin typeface="DM Sans" pitchFamily="34" charset="0"/>
                          <a:ea typeface="DM Sans" pitchFamily="34" charset="-122"/>
                          <a:cs typeface="DM Sans" pitchFamily="34" charset="-120"/>
                        </a:rPr>
                        <a:t>Column</a:t>
                      </a:r>
                      <a:endParaRPr lang="en-US" sz="1300" dirty="0">
                        <a:latin typeface="DM Sans" charset="0"/>
                        <a:ea typeface="DM Sans" charset="0"/>
                        <a:cs typeface="DM Sans" charset="0"/>
                      </a:endParaRPr>
                    </a:p>
                  </a:txBody>
                  <a:tcPr marL="57785" marR="57785" marT="57785" marB="57785" anchor="t">
                    <a:lnL w="12700" cap="flat" cmpd="sng" algn="ctr">
                      <a:solidFill>
                        <a:srgbClr val="C0C4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1820"/>
                        </a:lnSpc>
                        <a:buNone/>
                      </a:pPr>
                      <a:r>
                        <a:rPr lang="en-US" sz="1300" b="1" dirty="0">
                          <a:solidFill>
                            <a:srgbClr val="0F2A5C"/>
                          </a:solidFill>
                          <a:latin typeface="DM Sans" pitchFamily="34" charset="0"/>
                          <a:ea typeface="DM Sans" pitchFamily="34" charset="-122"/>
                          <a:cs typeface="DM Sans" pitchFamily="34" charset="-120"/>
                        </a:rPr>
                        <a:t>Type</a:t>
                      </a:r>
                      <a:endParaRPr lang="en-US" sz="1300" dirty="0">
                        <a:latin typeface="DM Sans" charset="0"/>
                        <a:ea typeface="DM Sans" charset="0"/>
                        <a:cs typeface="DM Sans" charset="0"/>
                      </a:endParaRPr>
                    </a:p>
                  </a:txBody>
                  <a:tcPr marL="57785" marR="57785" marT="57785" marB="57785"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1820"/>
                        </a:lnSpc>
                        <a:buNone/>
                      </a:pPr>
                      <a:r>
                        <a:rPr lang="en-US" sz="1300" b="1" dirty="0">
                          <a:solidFill>
                            <a:srgbClr val="0F2A5C"/>
                          </a:solidFill>
                          <a:latin typeface="DM Sans" pitchFamily="34" charset="0"/>
                          <a:ea typeface="DM Sans" pitchFamily="34" charset="-122"/>
                          <a:cs typeface="DM Sans" pitchFamily="34" charset="-120"/>
                        </a:rPr>
                        <a:t>Meaning</a:t>
                      </a:r>
                      <a:endParaRPr lang="en-US" sz="1300" dirty="0">
                        <a:latin typeface="DM Sans" charset="0"/>
                        <a:ea typeface="DM Sans" charset="0"/>
                        <a:cs typeface="DM Sans" charset="0"/>
                      </a:endParaRPr>
                    </a:p>
                  </a:txBody>
                  <a:tcPr marL="57785" marR="57785" marT="57785" marB="57785"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r>
              <a:tr h="357243">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datetime</a:t>
                      </a:r>
                      <a:endParaRPr lang="en-US" sz="1300" dirty="0">
                        <a:latin typeface="DM Sans" charset="0"/>
                        <a:ea typeface="DM Sans" charset="0"/>
                        <a:cs typeface="DM Sans" charset="0"/>
                      </a:endParaRPr>
                    </a:p>
                  </a:txBody>
                  <a:tcPr marL="57785" marR="57785" marT="57785" marB="57785"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Datetime</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Hourly, e.g. 2026-04-01 00:00</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7243">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weather</a:t>
                      </a:r>
                      <a:endParaRPr lang="en-US" sz="1300" dirty="0">
                        <a:latin typeface="DM Sans" charset="0"/>
                        <a:ea typeface="DM Sans" charset="0"/>
                        <a:cs typeface="DM Sans" charset="0"/>
                      </a:endParaRPr>
                    </a:p>
                  </a:txBody>
                  <a:tcPr marL="57785" marR="57785" marT="57785" marB="57785"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Text</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sunny / cloudy / rainy</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7243">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temp</a:t>
                      </a:r>
                      <a:endParaRPr lang="en-US" sz="1300" dirty="0">
                        <a:latin typeface="DM Sans" charset="0"/>
                        <a:ea typeface="DM Sans" charset="0"/>
                        <a:cs typeface="DM Sans" charset="0"/>
                      </a:endParaRPr>
                    </a:p>
                  </a:txBody>
                  <a:tcPr marL="57785" marR="57785" marT="57785" marB="57785"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Number</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Temperature (°C)</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7243">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humidity</a:t>
                      </a:r>
                      <a:endParaRPr lang="en-US" sz="1300" dirty="0">
                        <a:latin typeface="DM Sans" charset="0"/>
                        <a:ea typeface="DM Sans" charset="0"/>
                        <a:cs typeface="DM Sans" charset="0"/>
                      </a:endParaRPr>
                    </a:p>
                  </a:txBody>
                  <a:tcPr marL="57785" marR="57785" marT="57785" marB="57785"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Number</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Humidity (%)</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7243">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holiday</a:t>
                      </a:r>
                      <a:endParaRPr lang="en-US" sz="1300" dirty="0">
                        <a:latin typeface="DM Sans" charset="0"/>
                        <a:ea typeface="DM Sans" charset="0"/>
                        <a:cs typeface="DM Sans" charset="0"/>
                      </a:endParaRPr>
                    </a:p>
                  </a:txBody>
                  <a:tcPr marL="57785" marR="57785" marT="57785" marB="57785"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0/1</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1 on weekends and holidays</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7243">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rentals</a:t>
                      </a:r>
                      <a:endParaRPr lang="en-US" sz="1300" dirty="0">
                        <a:latin typeface="DM Sans" charset="0"/>
                        <a:ea typeface="DM Sans" charset="0"/>
                        <a:cs typeface="DM Sans" charset="0"/>
                      </a:endParaRPr>
                    </a:p>
                  </a:txBody>
                  <a:tcPr marL="57785" marR="57785" marT="57785" marB="57785"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Number</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Bikes rented in that hour (the target)</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8" name="Text 5"/>
          <p:cNvSpPr/>
          <p:nvPr/>
        </p:nvSpPr>
        <p:spPr>
          <a:xfrm>
            <a:off x="812767" y="6289036"/>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DM Sans" pitchFamily="34" charset="0"/>
                <a:ea typeface="DM Sans" pitchFamily="34" charset="-122"/>
                <a:cs typeface="DM Sans" pitchFamily="34" charset="-120"/>
              </a:rPr>
              <a:t>Part 1 Tidying existing columns</a:t>
            </a:r>
            <a:endParaRPr lang="en-US" sz="1200" dirty="0"/>
          </a:p>
        </p:txBody>
      </p:sp>
      <p:sp>
        <p:nvSpPr>
          <p:cNvPr id="9" name="Text 6"/>
          <p:cNvSpPr/>
          <p:nvPr/>
        </p:nvSpPr>
        <p:spPr>
          <a:xfrm>
            <a:off x="10058433" y="6289036"/>
            <a:ext cx="1320800" cy="23877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748B"/>
                </a:solidFill>
                <a:latin typeface="DM Sans" pitchFamily="34" charset="0"/>
                <a:ea typeface="DM Sans" pitchFamily="34" charset="-122"/>
                <a:cs typeface="DM Sans" pitchFamily="34" charset="-120"/>
              </a:rPr>
              <a:t>13</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67" y="508000"/>
            <a:ext cx="10883461"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5C"/>
                </a:solidFill>
                <a:latin typeface="DM Sans" pitchFamily="34" charset="0"/>
                <a:ea typeface="DM Sans" pitchFamily="34" charset="-122"/>
                <a:cs typeface="DM Sans" pitchFamily="34" charset="-120"/>
              </a:rPr>
              <a:t>Transform</a:t>
            </a:r>
            <a:endParaRPr lang="en-US" sz="3200" dirty="0"/>
          </a:p>
        </p:txBody>
      </p:sp>
      <p:sp>
        <p:nvSpPr>
          <p:cNvPr id="3" name="Shape 1"/>
          <p:cNvSpPr/>
          <p:nvPr/>
        </p:nvSpPr>
        <p:spPr>
          <a:xfrm>
            <a:off x="812767" y="1076908"/>
            <a:ext cx="609589" cy="50767"/>
          </a:xfrm>
          <a:prstGeom prst="roundRect">
            <a:avLst>
              <a:gd name="adj" fmla="val 50000"/>
            </a:avLst>
          </a:prstGeom>
          <a:solidFill>
            <a:srgbClr val="2563EB"/>
          </a:solidFill>
          <a:ln/>
        </p:spPr>
      </p:sp>
      <p:sp>
        <p:nvSpPr>
          <p:cNvPr id="4" name="Text 2"/>
          <p:cNvSpPr/>
          <p:nvPr/>
        </p:nvSpPr>
        <p:spPr>
          <a:xfrm>
            <a:off x="849089" y="1356265"/>
            <a:ext cx="10839519" cy="1147399"/>
          </a:xfrm>
          <a:prstGeom prst="rect">
            <a:avLst/>
          </a:prstGeom>
          <a:noFill/>
          <a:ln/>
        </p:spPr>
        <p:txBody>
          <a:bodyPr wrap="square" lIns="0" tIns="0" rIns="0" bIns="0" rtlCol="0" anchor="t">
            <a:normAutofit/>
          </a:bodyPr>
          <a:lstStyle/>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Convert raw data into a format machine learning can learn from</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Example 1: turn text columns into 0/1 columns</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Example 2: put numbers on a similar scale</a:t>
            </a:r>
            <a:endParaRPr lang="en-US" sz="1900" dirty="0"/>
          </a:p>
        </p:txBody>
      </p:sp>
      <p:sp>
        <p:nvSpPr>
          <p:cNvPr id="5" name="Shape 3"/>
          <p:cNvSpPr/>
          <p:nvPr/>
        </p:nvSpPr>
        <p:spPr>
          <a:xfrm>
            <a:off x="819117" y="2713199"/>
            <a:ext cx="10553767" cy="2090131"/>
          </a:xfrm>
          <a:prstGeom prst="roundRect">
            <a:avLst>
              <a:gd name="adj" fmla="val 5772"/>
            </a:avLst>
          </a:prstGeom>
          <a:solidFill>
            <a:srgbClr val="F1F6FE"/>
          </a:solidFill>
          <a:ln w="12700">
            <a:solidFill>
              <a:srgbClr val="CFE0FA"/>
            </a:solidFill>
            <a:prstDash val="solid"/>
          </a:ln>
        </p:spPr>
      </p:sp>
      <p:sp>
        <p:nvSpPr>
          <p:cNvPr id="6" name="Text 4"/>
          <p:cNvSpPr/>
          <p:nvPr/>
        </p:nvSpPr>
        <p:spPr>
          <a:xfrm>
            <a:off x="1102706" y="2946022"/>
            <a:ext cx="10286186"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Examples</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113290" y="3258838"/>
          <a:ext cx="9976005" cy="1311672"/>
        </p:xfrm>
        <a:graphic>
          <a:graphicData uri="http://schemas.openxmlformats.org/drawingml/2006/table">
            <a:tbl>
              <a:tblPr/>
              <a:tblGrid>
                <a:gridCol w="2992801"/>
                <a:gridCol w="6983203"/>
              </a:tblGrid>
              <a:tr h="437224">
                <a:tc>
                  <a:txBody>
                    <a:bodyPr/>
                    <a:lstStyle/>
                    <a:p>
                      <a:pPr indent="0" marL="0">
                        <a:lnSpc>
                          <a:spcPts val="2240"/>
                        </a:lnSpc>
                        <a:buNone/>
                      </a:pPr>
                      <a:r>
                        <a:rPr lang="en-US" sz="1600" b="1" dirty="0">
                          <a:solidFill>
                            <a:srgbClr val="0F2A5C"/>
                          </a:solidFill>
                          <a:latin typeface="DM Sans" pitchFamily="34" charset="0"/>
                          <a:ea typeface="DM Sans" pitchFamily="34" charset="-122"/>
                          <a:cs typeface="DM Sans" pitchFamily="34" charset="-120"/>
                        </a:rPr>
                        <a:t>Method</a:t>
                      </a:r>
                      <a:endParaRPr lang="en-US" sz="1600" dirty="0">
                        <a:latin typeface="DM Sans" charset="0"/>
                        <a:ea typeface="DM Sans" charset="0"/>
                        <a:cs typeface="DM Sans" charset="0"/>
                      </a:endParaRPr>
                    </a:p>
                  </a:txBody>
                  <a:tcPr marL="71120" marR="71120" marT="71120" marB="71120" anchor="t">
                    <a:lnL w="12700" cap="flat" cmpd="sng" algn="ctr">
                      <a:solidFill>
                        <a:srgbClr val="C0C4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2240"/>
                        </a:lnSpc>
                        <a:buNone/>
                      </a:pPr>
                      <a:r>
                        <a:rPr lang="en-US" sz="1600" b="1" dirty="0">
                          <a:solidFill>
                            <a:srgbClr val="0F2A5C"/>
                          </a:solidFill>
                          <a:latin typeface="DM Sans" pitchFamily="34" charset="0"/>
                          <a:ea typeface="DM Sans" pitchFamily="34" charset="-122"/>
                          <a:cs typeface="DM Sans" pitchFamily="34" charset="-120"/>
                        </a:rPr>
                        <a:t>Example</a:t>
                      </a:r>
                      <a:endParaRPr lang="en-US" sz="1600" dirty="0">
                        <a:latin typeface="DM Sans" charset="0"/>
                        <a:ea typeface="DM Sans" charset="0"/>
                        <a:cs typeface="DM Sans" charset="0"/>
                      </a:endParaRPr>
                    </a:p>
                  </a:txBody>
                  <a:tcPr marL="71120" marR="71120" marT="71120" marB="71120"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r>
              <a:tr h="437224">
                <a:tc>
                  <a:txBody>
                    <a:bodyPr/>
                    <a:lstStyle/>
                    <a:p>
                      <a:pPr indent="0" marL="0">
                        <a:lnSpc>
                          <a:spcPts val="2240"/>
                        </a:lnSpc>
                        <a:buNone/>
                      </a:pPr>
                      <a:r>
                        <a:rPr lang="en-US" sz="1600" dirty="0">
                          <a:solidFill>
                            <a:srgbClr val="1E293B"/>
                          </a:solidFill>
                          <a:latin typeface="DM Sans" pitchFamily="34" charset="0"/>
                          <a:ea typeface="DM Sans" pitchFamily="34" charset="-122"/>
                          <a:cs typeface="DM Sans" pitchFamily="34" charset="-120"/>
                        </a:rPr>
                        <a:t>One-hot encoding</a:t>
                      </a:r>
                      <a:endParaRPr lang="en-US" sz="1600" dirty="0">
                        <a:latin typeface="DM Sans" charset="0"/>
                        <a:ea typeface="DM Sans" charset="0"/>
                        <a:cs typeface="DM Sans" charset="0"/>
                      </a:endParaRPr>
                    </a:p>
                  </a:txBody>
                  <a:tcPr marL="71120" marR="71120" marT="71120" marB="71120"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DM Sans" pitchFamily="34" charset="0"/>
                          <a:ea typeface="DM Sans" pitchFamily="34" charset="-122"/>
                          <a:cs typeface="DM Sans" pitchFamily="34" charset="-120"/>
                        </a:rPr>
                        <a:t>Weather (sunny / cloudy / rainy) → 0/1 columns</a:t>
                      </a:r>
                      <a:endParaRPr lang="en-US" sz="1600" dirty="0">
                        <a:latin typeface="DM Sans" charset="0"/>
                        <a:ea typeface="DM Sans" charset="0"/>
                        <a:cs typeface="DM Sans"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37224">
                <a:tc>
                  <a:txBody>
                    <a:bodyPr/>
                    <a:lstStyle/>
                    <a:p>
                      <a:pPr indent="0" marL="0">
                        <a:lnSpc>
                          <a:spcPts val="2240"/>
                        </a:lnSpc>
                        <a:buNone/>
                      </a:pPr>
                      <a:r>
                        <a:rPr lang="en-US" sz="1600" dirty="0">
                          <a:solidFill>
                            <a:srgbClr val="1E293B"/>
                          </a:solidFill>
                          <a:latin typeface="DM Sans" pitchFamily="34" charset="0"/>
                          <a:ea typeface="DM Sans" pitchFamily="34" charset="-122"/>
                          <a:cs typeface="DM Sans" pitchFamily="34" charset="-120"/>
                        </a:rPr>
                        <a:t>Scaling</a:t>
                      </a:r>
                      <a:endParaRPr lang="en-US" sz="1600" dirty="0">
                        <a:latin typeface="DM Sans" charset="0"/>
                        <a:ea typeface="DM Sans" charset="0"/>
                        <a:cs typeface="DM Sans" charset="0"/>
                      </a:endParaRPr>
                    </a:p>
                  </a:txBody>
                  <a:tcPr marL="71120" marR="71120" marT="71120" marB="71120"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DM Sans" pitchFamily="34" charset="0"/>
                          <a:ea typeface="DM Sans" pitchFamily="34" charset="-122"/>
                          <a:cs typeface="DM Sans" pitchFamily="34" charset="-120"/>
                        </a:rPr>
                        <a:t>Temperature (10, 20, 30 °C) → 0, 0.5, 1</a:t>
                      </a:r>
                      <a:endParaRPr lang="en-US" sz="1600" dirty="0">
                        <a:latin typeface="DM Sans" charset="0"/>
                        <a:ea typeface="DM Sans" charset="0"/>
                        <a:cs typeface="DM Sans"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8" name="Text 5"/>
          <p:cNvSpPr/>
          <p:nvPr/>
        </p:nvSpPr>
        <p:spPr>
          <a:xfrm>
            <a:off x="812767" y="6289036"/>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DM Sans" pitchFamily="34" charset="0"/>
                <a:ea typeface="DM Sans" pitchFamily="34" charset="-122"/>
                <a:cs typeface="DM Sans" pitchFamily="34" charset="-120"/>
              </a:rPr>
              <a:t>Part 1 Tidying existing columns</a:t>
            </a:r>
            <a:endParaRPr lang="en-US" sz="1200" dirty="0"/>
          </a:p>
        </p:txBody>
      </p:sp>
      <p:sp>
        <p:nvSpPr>
          <p:cNvPr id="9" name="Text 6"/>
          <p:cNvSpPr/>
          <p:nvPr/>
        </p:nvSpPr>
        <p:spPr>
          <a:xfrm>
            <a:off x="10058433" y="6289036"/>
            <a:ext cx="1320800" cy="23877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748B"/>
                </a:solidFill>
                <a:latin typeface="DM Sans" pitchFamily="34" charset="0"/>
                <a:ea typeface="DM Sans" pitchFamily="34" charset="-122"/>
                <a:cs typeface="DM Sans" pitchFamily="34" charset="-120"/>
              </a:rPr>
              <a:t>14</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67" y="508000"/>
            <a:ext cx="10883461"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5C"/>
                </a:solidFill>
                <a:latin typeface="DM Sans" pitchFamily="34" charset="0"/>
                <a:ea typeface="DM Sans" pitchFamily="34" charset="-122"/>
                <a:cs typeface="DM Sans" pitchFamily="34" charset="-120"/>
              </a:rPr>
              <a:t>One-Hot Encoding</a:t>
            </a:r>
            <a:endParaRPr lang="en-US" sz="3200" dirty="0"/>
          </a:p>
        </p:txBody>
      </p:sp>
      <p:sp>
        <p:nvSpPr>
          <p:cNvPr id="3" name="Shape 1"/>
          <p:cNvSpPr/>
          <p:nvPr/>
        </p:nvSpPr>
        <p:spPr>
          <a:xfrm>
            <a:off x="812767" y="1076908"/>
            <a:ext cx="609589" cy="50767"/>
          </a:xfrm>
          <a:prstGeom prst="roundRect">
            <a:avLst>
              <a:gd name="adj" fmla="val 50000"/>
            </a:avLst>
          </a:prstGeom>
          <a:solidFill>
            <a:srgbClr val="2563EB"/>
          </a:solidFill>
          <a:ln/>
        </p:spPr>
      </p:sp>
      <p:sp>
        <p:nvSpPr>
          <p:cNvPr id="4" name="Text 2"/>
          <p:cNvSpPr/>
          <p:nvPr/>
        </p:nvSpPr>
        <p:spPr>
          <a:xfrm>
            <a:off x="856201" y="1356265"/>
            <a:ext cx="10832407" cy="1088198"/>
          </a:xfrm>
          <a:prstGeom prst="rect">
            <a:avLst/>
          </a:prstGeom>
          <a:noFill/>
          <a:ln/>
        </p:spPr>
        <p:txBody>
          <a:bodyPr wrap="square" lIns="0" tIns="0" rIns="0" bIns="0" rtlCol="0" anchor="t">
            <a:normAutofit/>
          </a:bodyPr>
          <a:lstStyle/>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Turn a text column into several 0/1 columns</a:t>
            </a:r>
            <a:endParaRPr lang="en-US" sz="1800" dirty="0"/>
          </a:p>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Models handle numbers (0/1) better than text</a:t>
            </a:r>
            <a:endParaRPr lang="en-US" sz="1800" dirty="0"/>
          </a:p>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Only the matching category’s column becomes 1</a:t>
            </a:r>
            <a:endParaRPr lang="en-US" sz="1800" dirty="0"/>
          </a:p>
        </p:txBody>
      </p:sp>
      <p:sp>
        <p:nvSpPr>
          <p:cNvPr id="5" name="Shape 3"/>
          <p:cNvSpPr/>
          <p:nvPr/>
        </p:nvSpPr>
        <p:spPr>
          <a:xfrm>
            <a:off x="819117" y="2653996"/>
            <a:ext cx="4238438" cy="1999070"/>
          </a:xfrm>
          <a:prstGeom prst="roundRect">
            <a:avLst>
              <a:gd name="adj" fmla="val 6035"/>
            </a:avLst>
          </a:prstGeom>
          <a:solidFill>
            <a:srgbClr val="F1F6FE"/>
          </a:solidFill>
          <a:ln w="12700">
            <a:solidFill>
              <a:srgbClr val="CFE0FA"/>
            </a:solidFill>
            <a:prstDash val="solid"/>
          </a:ln>
        </p:spPr>
      </p:sp>
      <p:sp>
        <p:nvSpPr>
          <p:cNvPr id="6" name="Text 4"/>
          <p:cNvSpPr/>
          <p:nvPr/>
        </p:nvSpPr>
        <p:spPr>
          <a:xfrm>
            <a:off x="1077350" y="2836001"/>
            <a:ext cx="3833630"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Before</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087934" y="3148817"/>
          <a:ext cx="3711388" cy="1322255"/>
        </p:xfrm>
        <a:graphic>
          <a:graphicData uri="http://schemas.openxmlformats.org/drawingml/2006/table">
            <a:tbl>
              <a:tblPr/>
              <a:tblGrid>
                <a:gridCol w="1855694"/>
                <a:gridCol w="1039189"/>
                <a:gridCol w="816505"/>
              </a:tblGrid>
              <a:tr h="330564">
                <a:tc>
                  <a:txBody>
                    <a:bodyPr/>
                    <a:lstStyle/>
                    <a:p>
                      <a:pPr indent="0" marL="0">
                        <a:lnSpc>
                          <a:spcPts val="1680"/>
                        </a:lnSpc>
                        <a:buNone/>
                      </a:pPr>
                      <a:r>
                        <a:rPr lang="en-US" sz="1200" b="1" dirty="0">
                          <a:solidFill>
                            <a:srgbClr val="0F2A5C"/>
                          </a:solidFill>
                          <a:latin typeface="DM Sans" pitchFamily="34" charset="0"/>
                          <a:ea typeface="DM Sans" pitchFamily="34" charset="-122"/>
                          <a:cs typeface="DM Sans" pitchFamily="34" charset="-120"/>
                        </a:rPr>
                        <a:t>datetime</a:t>
                      </a:r>
                      <a:endParaRPr lang="en-US" sz="1200" dirty="0">
                        <a:latin typeface="DM Sans" charset="0"/>
                        <a:ea typeface="DM Sans" charset="0"/>
                        <a:cs typeface="DM Sans" charset="0"/>
                      </a:endParaRPr>
                    </a:p>
                  </a:txBody>
                  <a:tcPr marL="53340" marR="53340" marT="53340" marB="53340" anchor="t">
                    <a:lnL w="12700" cap="flat" cmpd="sng" algn="ctr">
                      <a:solidFill>
                        <a:srgbClr val="C0C4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1680"/>
                        </a:lnSpc>
                        <a:buNone/>
                      </a:pPr>
                      <a:r>
                        <a:rPr lang="en-US" sz="1200" b="1" dirty="0">
                          <a:solidFill>
                            <a:srgbClr val="0F2A5C"/>
                          </a:solidFill>
                          <a:latin typeface="DM Sans" pitchFamily="34" charset="0"/>
                          <a:ea typeface="DM Sans" pitchFamily="34" charset="-122"/>
                          <a:cs typeface="DM Sans" pitchFamily="34" charset="-120"/>
                        </a:rPr>
                        <a:t>weather</a:t>
                      </a:r>
                      <a:endParaRPr lang="en-US" sz="1200" dirty="0">
                        <a:latin typeface="DM Sans" charset="0"/>
                        <a:ea typeface="DM Sans" charset="0"/>
                        <a:cs typeface="DM Sans" charset="0"/>
                      </a:endParaRPr>
                    </a:p>
                  </a:txBody>
                  <a:tcPr marL="53340" marR="53340" marT="53340" marB="53340"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1680"/>
                        </a:lnSpc>
                        <a:buNone/>
                      </a:pPr>
                      <a:r>
                        <a:rPr lang="en-US" sz="1200" b="1" dirty="0">
                          <a:solidFill>
                            <a:srgbClr val="0F2A5C"/>
                          </a:solidFill>
                          <a:latin typeface="DM Sans" pitchFamily="34" charset="0"/>
                          <a:ea typeface="DM Sans" pitchFamily="34" charset="-122"/>
                          <a:cs typeface="DM Sans" pitchFamily="34" charset="-120"/>
                        </a:rPr>
                        <a:t>temp</a:t>
                      </a:r>
                      <a:endParaRPr lang="en-US" sz="1200" dirty="0">
                        <a:latin typeface="DM Sans" charset="0"/>
                        <a:ea typeface="DM Sans" charset="0"/>
                        <a:cs typeface="DM Sans" charset="0"/>
                      </a:endParaRPr>
                    </a:p>
                  </a:txBody>
                  <a:tcPr marL="53340" marR="53340" marT="53340" marB="53340"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r>
              <a:tr h="330564">
                <a:tc>
                  <a:txBody>
                    <a:bodyPr/>
                    <a:lstStyle/>
                    <a:p>
                      <a:pPr indent="0" marL="0">
                        <a:lnSpc>
                          <a:spcPts val="1680"/>
                        </a:lnSpc>
                        <a:buNone/>
                      </a:pPr>
                      <a:r>
                        <a:rPr lang="en-US" sz="1200" dirty="0">
                          <a:solidFill>
                            <a:srgbClr val="1E293B"/>
                          </a:solidFill>
                          <a:latin typeface="DM Sans" pitchFamily="34" charset="0"/>
                          <a:ea typeface="DM Sans" pitchFamily="34" charset="-122"/>
                          <a:cs typeface="DM Sans" pitchFamily="34" charset="-120"/>
                        </a:rPr>
                        <a:t>2026-04-01 00:00</a:t>
                      </a:r>
                      <a:endParaRPr lang="en-US" sz="1200" dirty="0">
                        <a:latin typeface="DM Sans" charset="0"/>
                        <a:ea typeface="DM Sans" charset="0"/>
                        <a:cs typeface="DM Sans" charset="0"/>
                      </a:endParaRPr>
                    </a:p>
                  </a:txBody>
                  <a:tcPr marL="53340" marR="53340" marT="53340" marB="53340"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93B"/>
                          </a:solidFill>
                          <a:latin typeface="DM Sans" pitchFamily="34" charset="0"/>
                          <a:ea typeface="DM Sans" pitchFamily="34" charset="-122"/>
                          <a:cs typeface="DM Sans" pitchFamily="34" charset="-120"/>
                        </a:rPr>
                        <a:t>sunny</a:t>
                      </a:r>
                      <a:endParaRPr lang="en-US" sz="1200" dirty="0">
                        <a:latin typeface="DM Sans" charset="0"/>
                        <a:ea typeface="DM Sans" charset="0"/>
                        <a:cs typeface="DM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93B"/>
                          </a:solidFill>
                          <a:latin typeface="DM Sans" pitchFamily="34" charset="0"/>
                          <a:ea typeface="DM Sans" pitchFamily="34" charset="-122"/>
                          <a:cs typeface="DM Sans" pitchFamily="34" charset="-120"/>
                        </a:rPr>
                        <a:t>9.5</a:t>
                      </a:r>
                      <a:endParaRPr lang="en-US" sz="1200" dirty="0">
                        <a:latin typeface="DM Sans" charset="0"/>
                        <a:ea typeface="DM Sans" charset="0"/>
                        <a:cs typeface="DM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0564">
                <a:tc>
                  <a:txBody>
                    <a:bodyPr/>
                    <a:lstStyle/>
                    <a:p>
                      <a:pPr indent="0" marL="0">
                        <a:lnSpc>
                          <a:spcPts val="1680"/>
                        </a:lnSpc>
                        <a:buNone/>
                      </a:pPr>
                      <a:r>
                        <a:rPr lang="en-US" sz="1200" dirty="0">
                          <a:solidFill>
                            <a:srgbClr val="1E293B"/>
                          </a:solidFill>
                          <a:latin typeface="DM Sans" pitchFamily="34" charset="0"/>
                          <a:ea typeface="DM Sans" pitchFamily="34" charset="-122"/>
                          <a:cs typeface="DM Sans" pitchFamily="34" charset="-120"/>
                        </a:rPr>
                        <a:t>2026-04-01 01:00</a:t>
                      </a:r>
                      <a:endParaRPr lang="en-US" sz="1200" dirty="0">
                        <a:latin typeface="DM Sans" charset="0"/>
                        <a:ea typeface="DM Sans" charset="0"/>
                        <a:cs typeface="DM Sans" charset="0"/>
                      </a:endParaRPr>
                    </a:p>
                  </a:txBody>
                  <a:tcPr marL="53340" marR="53340" marT="53340" marB="53340"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93B"/>
                          </a:solidFill>
                          <a:latin typeface="DM Sans" pitchFamily="34" charset="0"/>
                          <a:ea typeface="DM Sans" pitchFamily="34" charset="-122"/>
                          <a:cs typeface="DM Sans" pitchFamily="34" charset="-120"/>
                        </a:rPr>
                        <a:t>rainy</a:t>
                      </a:r>
                      <a:endParaRPr lang="en-US" sz="1200" dirty="0">
                        <a:latin typeface="DM Sans" charset="0"/>
                        <a:ea typeface="DM Sans" charset="0"/>
                        <a:cs typeface="DM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93B"/>
                          </a:solidFill>
                          <a:latin typeface="DM Sans" pitchFamily="34" charset="0"/>
                          <a:ea typeface="DM Sans" pitchFamily="34" charset="-122"/>
                          <a:cs typeface="DM Sans" pitchFamily="34" charset="-120"/>
                        </a:rPr>
                        <a:t>9.4</a:t>
                      </a:r>
                      <a:endParaRPr lang="en-US" sz="1200" dirty="0">
                        <a:latin typeface="DM Sans" charset="0"/>
                        <a:ea typeface="DM Sans" charset="0"/>
                        <a:cs typeface="DM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0564">
                <a:tc>
                  <a:txBody>
                    <a:bodyPr/>
                    <a:lstStyle/>
                    <a:p>
                      <a:pPr indent="0" marL="0">
                        <a:lnSpc>
                          <a:spcPts val="1680"/>
                        </a:lnSpc>
                        <a:buNone/>
                      </a:pPr>
                      <a:r>
                        <a:rPr lang="en-US" sz="1200" dirty="0">
                          <a:solidFill>
                            <a:srgbClr val="1E293B"/>
                          </a:solidFill>
                          <a:latin typeface="DM Sans" pitchFamily="34" charset="0"/>
                          <a:ea typeface="DM Sans" pitchFamily="34" charset="-122"/>
                          <a:cs typeface="DM Sans" pitchFamily="34" charset="-120"/>
                        </a:rPr>
                        <a:t>2026-04-01 02:00</a:t>
                      </a:r>
                      <a:endParaRPr lang="en-US" sz="1200" dirty="0">
                        <a:latin typeface="DM Sans" charset="0"/>
                        <a:ea typeface="DM Sans" charset="0"/>
                        <a:cs typeface="DM Sans" charset="0"/>
                      </a:endParaRPr>
                    </a:p>
                  </a:txBody>
                  <a:tcPr marL="53340" marR="53340" marT="53340" marB="53340"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93B"/>
                          </a:solidFill>
                          <a:latin typeface="DM Sans" pitchFamily="34" charset="0"/>
                          <a:ea typeface="DM Sans" pitchFamily="34" charset="-122"/>
                          <a:cs typeface="DM Sans" pitchFamily="34" charset="-120"/>
                        </a:rPr>
                        <a:t>cloudy</a:t>
                      </a:r>
                      <a:endParaRPr lang="en-US" sz="1200" dirty="0">
                        <a:latin typeface="DM Sans" charset="0"/>
                        <a:ea typeface="DM Sans" charset="0"/>
                        <a:cs typeface="DM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93B"/>
                          </a:solidFill>
                          <a:latin typeface="DM Sans" pitchFamily="34" charset="0"/>
                          <a:ea typeface="DM Sans" pitchFamily="34" charset="-122"/>
                          <a:cs typeface="DM Sans" pitchFamily="34" charset="-120"/>
                        </a:rPr>
                        <a:t>11.0</a:t>
                      </a:r>
                      <a:endParaRPr lang="en-US" sz="1200" dirty="0">
                        <a:latin typeface="DM Sans" charset="0"/>
                        <a:ea typeface="DM Sans" charset="0"/>
                        <a:cs typeface="DM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8" name="Shape 5"/>
          <p:cNvSpPr/>
          <p:nvPr/>
        </p:nvSpPr>
        <p:spPr>
          <a:xfrm>
            <a:off x="5273433" y="2653996"/>
            <a:ext cx="6099451" cy="1999070"/>
          </a:xfrm>
          <a:prstGeom prst="roundRect">
            <a:avLst>
              <a:gd name="adj" fmla="val 6035"/>
            </a:avLst>
          </a:prstGeom>
          <a:solidFill>
            <a:srgbClr val="F1F6FE"/>
          </a:solidFill>
          <a:ln w="12700">
            <a:solidFill>
              <a:srgbClr val="CFE0FA"/>
            </a:solidFill>
            <a:prstDash val="solid"/>
          </a:ln>
        </p:spPr>
      </p:sp>
      <p:sp>
        <p:nvSpPr>
          <p:cNvPr id="9" name="Text 6"/>
          <p:cNvSpPr/>
          <p:nvPr/>
        </p:nvSpPr>
        <p:spPr>
          <a:xfrm>
            <a:off x="5531666" y="2836001"/>
            <a:ext cx="5750474"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After</a:t>
            </a:r>
            <a:endParaRPr lang="en-US" sz="1400" dirty="0"/>
          </a:p>
        </p:txBody>
      </p:sp>
      <p:graphicFrame>
        <p:nvGraphicFramePr>
          <p:cNvPr id="10" name="Table 1"/>
          <p:cNvGraphicFramePr>
            <a:graphicFrameLocks noGrp="1"/>
          </p:cNvGraphicFramePr>
          <p:nvPr>
            <p:extLst>
              <p:ext uri="{D42A27DB-BD31-4B8C-83A1-F6EECF244321}">
                <p14:modId xmlns:p14="http://schemas.microsoft.com/office/powerpoint/2010/main" val="1579011935"/>
              </p:ext>
            </p:extLst>
          </p:nvPr>
        </p:nvGraphicFramePr>
        <p:xfrm>
          <a:off x="5542250" y="3148817"/>
          <a:ext cx="5572401" cy="1322255"/>
        </p:xfrm>
        <a:graphic>
          <a:graphicData uri="http://schemas.openxmlformats.org/drawingml/2006/table">
            <a:tbl>
              <a:tblPr/>
              <a:tblGrid>
                <a:gridCol w="1615996"/>
                <a:gridCol w="1504548"/>
                <a:gridCol w="1504548"/>
                <a:gridCol w="947308"/>
              </a:tblGrid>
              <a:tr h="330564">
                <a:tc>
                  <a:txBody>
                    <a:bodyPr/>
                    <a:lstStyle/>
                    <a:p>
                      <a:pPr indent="0" marL="0">
                        <a:lnSpc>
                          <a:spcPts val="1680"/>
                        </a:lnSpc>
                        <a:buNone/>
                      </a:pPr>
                      <a:r>
                        <a:rPr lang="en-US" sz="1200" b="1" dirty="0">
                          <a:solidFill>
                            <a:srgbClr val="0F2A5C"/>
                          </a:solidFill>
                          <a:latin typeface="DM Sans" pitchFamily="34" charset="0"/>
                          <a:ea typeface="DM Sans" pitchFamily="34" charset="-122"/>
                          <a:cs typeface="DM Sans" pitchFamily="34" charset="-120"/>
                        </a:rPr>
                        <a:t>weather_cloudy</a:t>
                      </a:r>
                      <a:endParaRPr lang="en-US" sz="1200" dirty="0">
                        <a:latin typeface="DM Sans" charset="0"/>
                        <a:ea typeface="DM Sans" charset="0"/>
                        <a:cs typeface="DM Sans" charset="0"/>
                      </a:endParaRPr>
                    </a:p>
                  </a:txBody>
                  <a:tcPr marL="53340" marR="53340" marT="53340" marB="53340" anchor="t">
                    <a:lnL w="12700" cap="flat" cmpd="sng" algn="ctr">
                      <a:solidFill>
                        <a:srgbClr val="C0C4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1680"/>
                        </a:lnSpc>
                        <a:buNone/>
                      </a:pPr>
                      <a:r>
                        <a:rPr lang="en-US" sz="1200" b="1" dirty="0">
                          <a:solidFill>
                            <a:srgbClr val="0F2A5C"/>
                          </a:solidFill>
                          <a:latin typeface="DM Sans" pitchFamily="34" charset="0"/>
                          <a:ea typeface="DM Sans" pitchFamily="34" charset="-122"/>
                          <a:cs typeface="DM Sans" pitchFamily="34" charset="-120"/>
                        </a:rPr>
                        <a:t>weather_rainy</a:t>
                      </a:r>
                      <a:endParaRPr lang="en-US" sz="1200" dirty="0">
                        <a:latin typeface="DM Sans" charset="0"/>
                        <a:ea typeface="DM Sans" charset="0"/>
                        <a:cs typeface="DM Sans" charset="0"/>
                      </a:endParaRPr>
                    </a:p>
                  </a:txBody>
                  <a:tcPr marL="53340" marR="53340" marT="53340" marB="53340"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1680"/>
                        </a:lnSpc>
                        <a:buNone/>
                      </a:pPr>
                      <a:r>
                        <a:rPr lang="en-US" sz="1200" b="1" dirty="0">
                          <a:solidFill>
                            <a:srgbClr val="0F2A5C"/>
                          </a:solidFill>
                          <a:latin typeface="DM Sans" pitchFamily="34" charset="0"/>
                          <a:ea typeface="DM Sans" pitchFamily="34" charset="-122"/>
                          <a:cs typeface="DM Sans" pitchFamily="34" charset="-120"/>
                        </a:rPr>
                        <a:t>weather_sunny</a:t>
                      </a:r>
                      <a:endParaRPr lang="en-US" sz="1200" dirty="0">
                        <a:latin typeface="DM Sans" charset="0"/>
                        <a:ea typeface="DM Sans" charset="0"/>
                        <a:cs typeface="DM Sans" charset="0"/>
                      </a:endParaRPr>
                    </a:p>
                  </a:txBody>
                  <a:tcPr marL="53340" marR="53340" marT="53340" marB="53340"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1680"/>
                        </a:lnSpc>
                        <a:buNone/>
                      </a:pPr>
                      <a:r>
                        <a:rPr lang="en-US" sz="1200" b="1" dirty="0">
                          <a:solidFill>
                            <a:srgbClr val="0F2A5C"/>
                          </a:solidFill>
                          <a:latin typeface="DM Sans" pitchFamily="34" charset="0"/>
                          <a:ea typeface="DM Sans" pitchFamily="34" charset="-122"/>
                          <a:cs typeface="DM Sans" pitchFamily="34" charset="-120"/>
                        </a:rPr>
                        <a:t>temp</a:t>
                      </a:r>
                      <a:endParaRPr lang="en-US" sz="1200" dirty="0">
                        <a:latin typeface="DM Sans" charset="0"/>
                        <a:ea typeface="DM Sans" charset="0"/>
                        <a:cs typeface="DM Sans" charset="0"/>
                      </a:endParaRPr>
                    </a:p>
                  </a:txBody>
                  <a:tcPr marL="53340" marR="53340" marT="53340" marB="53340"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r>
              <a:tr h="330564">
                <a:tc>
                  <a:txBody>
                    <a:bodyPr/>
                    <a:lstStyle/>
                    <a:p>
                      <a:pPr indent="0" marL="0">
                        <a:lnSpc>
                          <a:spcPts val="1680"/>
                        </a:lnSpc>
                        <a:buNone/>
                      </a:pPr>
                      <a:r>
                        <a:rPr lang="en-US" sz="1200" dirty="0">
                          <a:solidFill>
                            <a:srgbClr val="1E293B"/>
                          </a:solidFill>
                          <a:latin typeface="DM Sans" pitchFamily="34" charset="0"/>
                          <a:ea typeface="DM Sans" pitchFamily="34" charset="-122"/>
                          <a:cs typeface="DM Sans" pitchFamily="34" charset="-120"/>
                        </a:rPr>
                        <a:t>0</a:t>
                      </a:r>
                      <a:endParaRPr lang="en-US" sz="1200" dirty="0">
                        <a:latin typeface="DM Sans" charset="0"/>
                        <a:ea typeface="DM Sans" charset="0"/>
                        <a:cs typeface="DM Sans" charset="0"/>
                      </a:endParaRPr>
                    </a:p>
                  </a:txBody>
                  <a:tcPr marL="53340" marR="53340" marT="53340" marB="53340"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93B"/>
                          </a:solidFill>
                          <a:latin typeface="DM Sans" pitchFamily="34" charset="0"/>
                          <a:ea typeface="DM Sans" pitchFamily="34" charset="-122"/>
                          <a:cs typeface="DM Sans" pitchFamily="34" charset="-120"/>
                        </a:rPr>
                        <a:t>0</a:t>
                      </a:r>
                      <a:endParaRPr lang="en-US" sz="1200" dirty="0">
                        <a:latin typeface="DM Sans" charset="0"/>
                        <a:ea typeface="DM Sans" charset="0"/>
                        <a:cs typeface="DM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93B"/>
                          </a:solidFill>
                          <a:latin typeface="DM Sans" pitchFamily="34" charset="0"/>
                          <a:ea typeface="DM Sans" pitchFamily="34" charset="-122"/>
                          <a:cs typeface="DM Sans" pitchFamily="34" charset="-120"/>
                        </a:rPr>
                        <a:t>1</a:t>
                      </a:r>
                      <a:endParaRPr lang="en-US" sz="1200" dirty="0">
                        <a:latin typeface="DM Sans" charset="0"/>
                        <a:ea typeface="DM Sans" charset="0"/>
                        <a:cs typeface="DM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93B"/>
                          </a:solidFill>
                          <a:latin typeface="DM Sans" pitchFamily="34" charset="0"/>
                          <a:ea typeface="DM Sans" pitchFamily="34" charset="-122"/>
                          <a:cs typeface="DM Sans" pitchFamily="34" charset="-120"/>
                        </a:rPr>
                        <a:t>9.5</a:t>
                      </a:r>
                      <a:endParaRPr lang="en-US" sz="1200" dirty="0">
                        <a:latin typeface="DM Sans" charset="0"/>
                        <a:ea typeface="DM Sans" charset="0"/>
                        <a:cs typeface="DM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0564">
                <a:tc>
                  <a:txBody>
                    <a:bodyPr/>
                    <a:lstStyle/>
                    <a:p>
                      <a:pPr indent="0" marL="0">
                        <a:lnSpc>
                          <a:spcPts val="1680"/>
                        </a:lnSpc>
                        <a:buNone/>
                      </a:pPr>
                      <a:r>
                        <a:rPr lang="en-US" sz="1200" dirty="0">
                          <a:solidFill>
                            <a:srgbClr val="1E293B"/>
                          </a:solidFill>
                          <a:latin typeface="DM Sans" pitchFamily="34" charset="0"/>
                          <a:ea typeface="DM Sans" pitchFamily="34" charset="-122"/>
                          <a:cs typeface="DM Sans" pitchFamily="34" charset="-120"/>
                        </a:rPr>
                        <a:t>0</a:t>
                      </a:r>
                      <a:endParaRPr lang="en-US" sz="1200" dirty="0">
                        <a:latin typeface="DM Sans" charset="0"/>
                        <a:ea typeface="DM Sans" charset="0"/>
                        <a:cs typeface="DM Sans" charset="0"/>
                      </a:endParaRPr>
                    </a:p>
                  </a:txBody>
                  <a:tcPr marL="53340" marR="53340" marT="53340" marB="53340"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93B"/>
                          </a:solidFill>
                          <a:latin typeface="DM Sans" pitchFamily="34" charset="0"/>
                          <a:ea typeface="DM Sans" pitchFamily="34" charset="-122"/>
                          <a:cs typeface="DM Sans" pitchFamily="34" charset="-120"/>
                        </a:rPr>
                        <a:t>1</a:t>
                      </a:r>
                      <a:endParaRPr lang="en-US" sz="1200" dirty="0">
                        <a:latin typeface="DM Sans" charset="0"/>
                        <a:ea typeface="DM Sans" charset="0"/>
                        <a:cs typeface="DM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93B"/>
                          </a:solidFill>
                          <a:latin typeface="DM Sans" pitchFamily="34" charset="0"/>
                          <a:ea typeface="DM Sans" pitchFamily="34" charset="-122"/>
                          <a:cs typeface="DM Sans" pitchFamily="34" charset="-120"/>
                        </a:rPr>
                        <a:t>0</a:t>
                      </a:r>
                      <a:endParaRPr lang="en-US" sz="1200" dirty="0">
                        <a:latin typeface="DM Sans" charset="0"/>
                        <a:ea typeface="DM Sans" charset="0"/>
                        <a:cs typeface="DM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93B"/>
                          </a:solidFill>
                          <a:latin typeface="DM Sans" pitchFamily="34" charset="0"/>
                          <a:ea typeface="DM Sans" pitchFamily="34" charset="-122"/>
                          <a:cs typeface="DM Sans" pitchFamily="34" charset="-120"/>
                        </a:rPr>
                        <a:t>9.4</a:t>
                      </a:r>
                      <a:endParaRPr lang="en-US" sz="1200" dirty="0">
                        <a:latin typeface="DM Sans" charset="0"/>
                        <a:ea typeface="DM Sans" charset="0"/>
                        <a:cs typeface="DM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30564">
                <a:tc>
                  <a:txBody>
                    <a:bodyPr/>
                    <a:lstStyle/>
                    <a:p>
                      <a:pPr indent="0" marL="0">
                        <a:lnSpc>
                          <a:spcPts val="1680"/>
                        </a:lnSpc>
                        <a:buNone/>
                      </a:pPr>
                      <a:r>
                        <a:rPr lang="en-US" sz="1200" dirty="0">
                          <a:solidFill>
                            <a:srgbClr val="1E293B"/>
                          </a:solidFill>
                          <a:latin typeface="DM Sans" pitchFamily="34" charset="0"/>
                          <a:ea typeface="DM Sans" pitchFamily="34" charset="-122"/>
                          <a:cs typeface="DM Sans" pitchFamily="34" charset="-120"/>
                        </a:rPr>
                        <a:t>1</a:t>
                      </a:r>
                      <a:endParaRPr lang="en-US" sz="1200" dirty="0">
                        <a:latin typeface="DM Sans" charset="0"/>
                        <a:ea typeface="DM Sans" charset="0"/>
                        <a:cs typeface="DM Sans" charset="0"/>
                      </a:endParaRPr>
                    </a:p>
                  </a:txBody>
                  <a:tcPr marL="53340" marR="53340" marT="53340" marB="53340"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93B"/>
                          </a:solidFill>
                          <a:latin typeface="DM Sans" pitchFamily="34" charset="0"/>
                          <a:ea typeface="DM Sans" pitchFamily="34" charset="-122"/>
                          <a:cs typeface="DM Sans" pitchFamily="34" charset="-120"/>
                        </a:rPr>
                        <a:t>0</a:t>
                      </a:r>
                      <a:endParaRPr lang="en-US" sz="1200" dirty="0">
                        <a:latin typeface="DM Sans" charset="0"/>
                        <a:ea typeface="DM Sans" charset="0"/>
                        <a:cs typeface="DM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93B"/>
                          </a:solidFill>
                          <a:latin typeface="DM Sans" pitchFamily="34" charset="0"/>
                          <a:ea typeface="DM Sans" pitchFamily="34" charset="-122"/>
                          <a:cs typeface="DM Sans" pitchFamily="34" charset="-120"/>
                        </a:rPr>
                        <a:t>0</a:t>
                      </a:r>
                      <a:endParaRPr lang="en-US" sz="1200" dirty="0">
                        <a:latin typeface="DM Sans" charset="0"/>
                        <a:ea typeface="DM Sans" charset="0"/>
                        <a:cs typeface="DM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680"/>
                        </a:lnSpc>
                        <a:buNone/>
                      </a:pPr>
                      <a:r>
                        <a:rPr lang="en-US" sz="1200" dirty="0">
                          <a:solidFill>
                            <a:srgbClr val="1E293B"/>
                          </a:solidFill>
                          <a:latin typeface="DM Sans" pitchFamily="34" charset="0"/>
                          <a:ea typeface="DM Sans" pitchFamily="34" charset="-122"/>
                          <a:cs typeface="DM Sans" pitchFamily="34" charset="-120"/>
                        </a:rPr>
                        <a:t>11.0</a:t>
                      </a:r>
                      <a:endParaRPr lang="en-US" sz="1200" dirty="0">
                        <a:latin typeface="DM Sans" charset="0"/>
                        <a:ea typeface="DM Sans" charset="0"/>
                        <a:cs typeface="DM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11" name="Text 7"/>
          <p:cNvSpPr/>
          <p:nvPr/>
        </p:nvSpPr>
        <p:spPr>
          <a:xfrm>
            <a:off x="812767" y="4888006"/>
            <a:ext cx="10883461" cy="25652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4748B"/>
                </a:solidFill>
                <a:latin typeface="DM Sans" pitchFamily="34" charset="0"/>
                <a:ea typeface="DM Sans" pitchFamily="34" charset="-122"/>
                <a:cs typeface="DM Sans" pitchFamily="34" charset="-120"/>
              </a:rPr>
              <a:t>The other columns (humidity, holiday, rentals) stay unchanged.</a:t>
            </a:r>
            <a:endParaRPr lang="en-US" sz="1300" dirty="0"/>
          </a:p>
        </p:txBody>
      </p:sp>
      <p:sp>
        <p:nvSpPr>
          <p:cNvPr id="12" name="Text 8"/>
          <p:cNvSpPr/>
          <p:nvPr/>
        </p:nvSpPr>
        <p:spPr>
          <a:xfrm>
            <a:off x="812767" y="6289036"/>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DM Sans" pitchFamily="34" charset="0"/>
                <a:ea typeface="DM Sans" pitchFamily="34" charset="-122"/>
                <a:cs typeface="DM Sans" pitchFamily="34" charset="-120"/>
              </a:rPr>
              <a:t>Part 1 Tidying existing columns</a:t>
            </a:r>
            <a:endParaRPr lang="en-US" sz="1200" dirty="0"/>
          </a:p>
        </p:txBody>
      </p:sp>
      <p:sp>
        <p:nvSpPr>
          <p:cNvPr id="13" name="Text 9"/>
          <p:cNvSpPr/>
          <p:nvPr/>
        </p:nvSpPr>
        <p:spPr>
          <a:xfrm>
            <a:off x="10058433" y="6289036"/>
            <a:ext cx="1320800" cy="23877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748B"/>
                </a:solidFill>
                <a:latin typeface="DM Sans" pitchFamily="34" charset="0"/>
                <a:ea typeface="DM Sans" pitchFamily="34" charset="-122"/>
                <a:cs typeface="DM Sans" pitchFamily="34" charset="-120"/>
              </a:rPr>
              <a:t>15</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67" y="508000"/>
            <a:ext cx="10883461"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5C"/>
                </a:solidFill>
                <a:latin typeface="DM Sans" pitchFamily="34" charset="0"/>
                <a:ea typeface="DM Sans" pitchFamily="34" charset="-122"/>
                <a:cs typeface="DM Sans" pitchFamily="34" charset="-120"/>
              </a:rPr>
              <a:t>Exercise (Part 1)</a:t>
            </a:r>
            <a:endParaRPr lang="en-US" sz="3200" dirty="0"/>
          </a:p>
        </p:txBody>
      </p:sp>
      <p:sp>
        <p:nvSpPr>
          <p:cNvPr id="3" name="Shape 1"/>
          <p:cNvSpPr/>
          <p:nvPr/>
        </p:nvSpPr>
        <p:spPr>
          <a:xfrm>
            <a:off x="812767" y="1076920"/>
            <a:ext cx="609589" cy="50767"/>
          </a:xfrm>
          <a:prstGeom prst="roundRect">
            <a:avLst>
              <a:gd name="adj" fmla="val 50000"/>
            </a:avLst>
          </a:prstGeom>
          <a:solidFill>
            <a:srgbClr val="2563EB"/>
          </a:solidFill>
          <a:ln/>
        </p:spPr>
      </p:sp>
      <p:sp>
        <p:nvSpPr>
          <p:cNvPr id="4" name="Text 2"/>
          <p:cNvSpPr/>
          <p:nvPr/>
        </p:nvSpPr>
        <p:spPr>
          <a:xfrm>
            <a:off x="849089" y="1356271"/>
            <a:ext cx="10839519" cy="1521398"/>
          </a:xfrm>
          <a:prstGeom prst="rect">
            <a:avLst/>
          </a:prstGeom>
          <a:noFill/>
          <a:ln/>
        </p:spPr>
        <p:txBody>
          <a:bodyPr wrap="square" lIns="0" tIns="0" rIns="0" bIns="0" rtlCol="0" anchor="t">
            <a:normAutofit/>
          </a:bodyPr>
          <a:lstStyle/>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Goal: see that these operations can be done with sklearn / pandas</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Q0: load the data</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Q1: select the relevant columns</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Q2: one-hot encode the text column</a:t>
            </a:r>
            <a:endParaRPr lang="en-US" sz="1900" dirty="0"/>
          </a:p>
        </p:txBody>
      </p:sp>
      <p:sp>
        <p:nvSpPr>
          <p:cNvPr id="5" name="Shape 3"/>
          <p:cNvSpPr/>
          <p:nvPr/>
        </p:nvSpPr>
        <p:spPr>
          <a:xfrm>
            <a:off x="819117" y="3087204"/>
            <a:ext cx="10553767" cy="1383418"/>
          </a:xfrm>
          <a:prstGeom prst="roundRect">
            <a:avLst>
              <a:gd name="adj" fmla="val 8721"/>
            </a:avLst>
          </a:prstGeom>
          <a:solidFill>
            <a:srgbClr val="F1F6FE"/>
          </a:solidFill>
          <a:ln w="12700">
            <a:solidFill>
              <a:srgbClr val="CFE0FA"/>
            </a:solidFill>
            <a:prstDash val="solid"/>
          </a:ln>
        </p:spPr>
      </p:sp>
      <p:sp>
        <p:nvSpPr>
          <p:cNvPr id="6" name="Text 4"/>
          <p:cNvSpPr/>
          <p:nvPr/>
        </p:nvSpPr>
        <p:spPr>
          <a:xfrm>
            <a:off x="1102706" y="3320033"/>
            <a:ext cx="10286186"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How it works</a:t>
            </a:r>
            <a:endParaRPr lang="en-US" sz="1400" dirty="0"/>
          </a:p>
        </p:txBody>
      </p:sp>
      <p:sp>
        <p:nvSpPr>
          <p:cNvPr id="7" name="Text 5"/>
          <p:cNvSpPr/>
          <p:nvPr/>
        </p:nvSpPr>
        <p:spPr>
          <a:xfrm>
            <a:off x="1109056" y="3666753"/>
            <a:ext cx="2506575" cy="564698"/>
          </a:xfrm>
          <a:prstGeom prst="roundRect">
            <a:avLst>
              <a:gd name="adj" fmla="val 14618"/>
            </a:avLst>
          </a:prstGeom>
          <a:solidFill>
            <a:srgbClr val="FFFFFF"/>
          </a:solidFill>
          <a:ln w="12700">
            <a:solidFill>
              <a:srgbClr val="BFD4F6"/>
            </a:solidFill>
            <a:prstDash val="solid"/>
          </a:ln>
        </p:spPr>
        <p:txBody>
          <a:bodyPr wrap="none" lIns="0" tIns="0" rIns="0" bIns="0" rtlCol="0" anchor="ctr">
            <a:normAutofit/>
          </a:bodyPr>
          <a:lstStyle/>
          <a:p>
            <a:pPr algn="ctr" indent="0" marL="0">
              <a:lnSpc>
                <a:spcPts val="2380"/>
              </a:lnSpc>
              <a:buNone/>
            </a:pPr>
            <a:r>
              <a:rPr lang="en-US" sz="1700" b="1" dirty="0">
                <a:solidFill>
                  <a:srgbClr val="0F2A5C"/>
                </a:solidFill>
                <a:latin typeface="DM Sans" pitchFamily="34" charset="0"/>
                <a:ea typeface="DM Sans" pitchFamily="34" charset="-122"/>
                <a:cs typeface="DM Sans" pitchFamily="34" charset="-120"/>
              </a:rPr>
              <a:t>Code is pre-written</a:t>
            </a:r>
            <a:endParaRPr lang="en-US" sz="1700" dirty="0"/>
          </a:p>
        </p:txBody>
      </p:sp>
      <p:sp>
        <p:nvSpPr>
          <p:cNvPr id="8" name="Text 6"/>
          <p:cNvSpPr/>
          <p:nvPr/>
        </p:nvSpPr>
        <p:spPr>
          <a:xfrm>
            <a:off x="3774337" y="3771305"/>
            <a:ext cx="304800" cy="380989"/>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563EB"/>
                </a:solidFill>
                <a:latin typeface="DM Sans" pitchFamily="34" charset="0"/>
                <a:ea typeface="DM Sans" pitchFamily="34" charset="-122"/>
                <a:cs typeface="DM Sans" pitchFamily="34" charset="-120"/>
              </a:rPr>
              <a:t>→</a:t>
            </a:r>
            <a:endParaRPr lang="en-US" sz="2000" dirty="0"/>
          </a:p>
        </p:txBody>
      </p:sp>
      <p:sp>
        <p:nvSpPr>
          <p:cNvPr id="9" name="Text 7"/>
          <p:cNvSpPr/>
          <p:nvPr/>
        </p:nvSpPr>
        <p:spPr>
          <a:xfrm>
            <a:off x="4187042" y="3666753"/>
            <a:ext cx="2343249" cy="564698"/>
          </a:xfrm>
          <a:prstGeom prst="roundRect">
            <a:avLst>
              <a:gd name="adj" fmla="val 14618"/>
            </a:avLst>
          </a:prstGeom>
          <a:solidFill>
            <a:srgbClr val="FFFFFF"/>
          </a:solidFill>
          <a:ln w="12700">
            <a:solidFill>
              <a:srgbClr val="BFD4F6"/>
            </a:solidFill>
            <a:prstDash val="solid"/>
          </a:ln>
        </p:spPr>
        <p:txBody>
          <a:bodyPr wrap="none" lIns="0" tIns="0" rIns="0" bIns="0" rtlCol="0" anchor="ctr">
            <a:normAutofit/>
          </a:bodyPr>
          <a:lstStyle/>
          <a:p>
            <a:pPr algn="ctr" indent="0" marL="0">
              <a:lnSpc>
                <a:spcPts val="2380"/>
              </a:lnSpc>
              <a:buNone/>
            </a:pPr>
            <a:r>
              <a:rPr lang="en-US" sz="1700" b="1" dirty="0">
                <a:solidFill>
                  <a:srgbClr val="0F2A5C"/>
                </a:solidFill>
                <a:latin typeface="DM Sans" pitchFamily="34" charset="0"/>
                <a:ea typeface="DM Sans" pitchFamily="34" charset="-122"/>
                <a:cs typeface="DM Sans" pitchFamily="34" charset="-120"/>
              </a:rPr>
              <a:t>Run top to bottom</a:t>
            </a:r>
            <a:endParaRPr lang="en-US" sz="1700" dirty="0"/>
          </a:p>
        </p:txBody>
      </p:sp>
      <p:sp>
        <p:nvSpPr>
          <p:cNvPr id="10" name="Text 8"/>
          <p:cNvSpPr/>
          <p:nvPr/>
        </p:nvSpPr>
        <p:spPr>
          <a:xfrm>
            <a:off x="6688998" y="3771305"/>
            <a:ext cx="304800" cy="380989"/>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563EB"/>
                </a:solidFill>
                <a:latin typeface="DM Sans" pitchFamily="34" charset="0"/>
                <a:ea typeface="DM Sans" pitchFamily="34" charset="-122"/>
                <a:cs typeface="DM Sans" pitchFamily="34" charset="-120"/>
              </a:rPr>
              <a:t>→</a:t>
            </a:r>
            <a:endParaRPr lang="en-US" sz="2000" dirty="0"/>
          </a:p>
        </p:txBody>
      </p:sp>
      <p:sp>
        <p:nvSpPr>
          <p:cNvPr id="11" name="Text 9"/>
          <p:cNvSpPr/>
          <p:nvPr/>
        </p:nvSpPr>
        <p:spPr>
          <a:xfrm>
            <a:off x="7101704" y="3666753"/>
            <a:ext cx="2282009" cy="564698"/>
          </a:xfrm>
          <a:prstGeom prst="roundRect">
            <a:avLst>
              <a:gd name="adj" fmla="val 14618"/>
            </a:avLst>
          </a:prstGeom>
          <a:solidFill>
            <a:srgbClr val="2563EB"/>
          </a:solidFill>
          <a:ln w="12700">
            <a:solidFill>
              <a:srgbClr val="2563EB"/>
            </a:solidFill>
            <a:prstDash val="solid"/>
          </a:ln>
        </p:spPr>
        <p:txBody>
          <a:bodyPr wrap="none" lIns="0" tIns="0" rIns="0" bIns="0" rtlCol="0" anchor="ctr">
            <a:normAutofit/>
          </a:bodyPr>
          <a:lstStyle/>
          <a:p>
            <a:pPr algn="ctr" indent="0" marL="0">
              <a:lnSpc>
                <a:spcPts val="2380"/>
              </a:lnSpc>
              <a:buNone/>
            </a:pPr>
            <a:r>
              <a:rPr lang="en-US" sz="1700" b="1" dirty="0">
                <a:solidFill>
                  <a:srgbClr val="FFFFFF"/>
                </a:solidFill>
                <a:latin typeface="DM Sans" pitchFamily="34" charset="0"/>
                <a:ea typeface="DM Sans" pitchFamily="34" charset="-122"/>
                <a:cs typeface="DM Sans" pitchFamily="34" charset="-120"/>
              </a:rPr>
              <a:t>Check the results</a:t>
            </a:r>
            <a:endParaRPr lang="en-US" sz="1700" dirty="0"/>
          </a:p>
        </p:txBody>
      </p:sp>
      <p:sp>
        <p:nvSpPr>
          <p:cNvPr id="12" name="Text 10"/>
          <p:cNvSpPr/>
          <p:nvPr/>
        </p:nvSpPr>
        <p:spPr>
          <a:xfrm>
            <a:off x="812767" y="6289042"/>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DM Sans" pitchFamily="34" charset="0"/>
                <a:ea typeface="DM Sans" pitchFamily="34" charset="-122"/>
                <a:cs typeface="DM Sans" pitchFamily="34" charset="-120"/>
              </a:rPr>
              <a:t>Part 1 Tidying existing columns</a:t>
            </a:r>
            <a:endParaRPr lang="en-US" sz="1200" dirty="0"/>
          </a:p>
        </p:txBody>
      </p:sp>
      <p:sp>
        <p:nvSpPr>
          <p:cNvPr id="13" name="Text 11"/>
          <p:cNvSpPr/>
          <p:nvPr/>
        </p:nvSpPr>
        <p:spPr>
          <a:xfrm>
            <a:off x="10058433" y="6289042"/>
            <a:ext cx="1320800" cy="23877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748B"/>
                </a:solidFill>
                <a:latin typeface="DM Sans" pitchFamily="34" charset="0"/>
                <a:ea typeface="DM Sans" pitchFamily="34" charset="-122"/>
                <a:cs typeface="DM Sans" pitchFamily="34" charset="-120"/>
              </a:rPr>
              <a:t>16</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67" y="508000"/>
            <a:ext cx="10883461"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5C"/>
                </a:solidFill>
                <a:latin typeface="DM Sans" pitchFamily="34" charset="0"/>
                <a:ea typeface="DM Sans" pitchFamily="34" charset="-122"/>
                <a:cs typeface="DM Sans" pitchFamily="34" charset="-120"/>
              </a:rPr>
              <a:t>Recap</a:t>
            </a:r>
            <a:endParaRPr lang="en-US" sz="3200" dirty="0"/>
          </a:p>
        </p:txBody>
      </p:sp>
      <p:sp>
        <p:nvSpPr>
          <p:cNvPr id="3" name="Shape 1"/>
          <p:cNvSpPr/>
          <p:nvPr/>
        </p:nvSpPr>
        <p:spPr>
          <a:xfrm>
            <a:off x="812767" y="1076920"/>
            <a:ext cx="609589" cy="50767"/>
          </a:xfrm>
          <a:prstGeom prst="roundRect">
            <a:avLst>
              <a:gd name="adj" fmla="val 50000"/>
            </a:avLst>
          </a:prstGeom>
          <a:solidFill>
            <a:srgbClr val="2563EB"/>
          </a:solidFill>
          <a:ln/>
        </p:spPr>
      </p:sp>
      <p:sp>
        <p:nvSpPr>
          <p:cNvPr id="4" name="Text 2"/>
          <p:cNvSpPr/>
          <p:nvPr/>
        </p:nvSpPr>
        <p:spPr>
          <a:xfrm>
            <a:off x="849089" y="1356271"/>
            <a:ext cx="10839519" cy="1521398"/>
          </a:xfrm>
          <a:prstGeom prst="rect">
            <a:avLst/>
          </a:prstGeom>
          <a:noFill/>
          <a:ln/>
        </p:spPr>
        <p:txBody>
          <a:bodyPr wrap="square" lIns="0" tIns="0" rIns="0" bIns="0" rtlCol="0" anchor="t">
            <a:normAutofit/>
          </a:bodyPr>
          <a:lstStyle/>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Problem: underfitting is keeping accuracy low</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Solution: improve the input side, not the model</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Select, transform, and create features</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This whole process is called feature engineering</a:t>
            </a:r>
            <a:endParaRPr lang="en-US" sz="1900" dirty="0"/>
          </a:p>
        </p:txBody>
      </p:sp>
      <p:sp>
        <p:nvSpPr>
          <p:cNvPr id="5" name="Shape 3"/>
          <p:cNvSpPr/>
          <p:nvPr/>
        </p:nvSpPr>
        <p:spPr>
          <a:xfrm>
            <a:off x="819117" y="3087204"/>
            <a:ext cx="10553767" cy="1383418"/>
          </a:xfrm>
          <a:prstGeom prst="roundRect">
            <a:avLst>
              <a:gd name="adj" fmla="val 8721"/>
            </a:avLst>
          </a:prstGeom>
          <a:solidFill>
            <a:srgbClr val="F1F6FE"/>
          </a:solidFill>
          <a:ln w="12700">
            <a:solidFill>
              <a:srgbClr val="CFE0FA"/>
            </a:solidFill>
            <a:prstDash val="solid"/>
          </a:ln>
        </p:spPr>
      </p:sp>
      <p:sp>
        <p:nvSpPr>
          <p:cNvPr id="6" name="Text 4"/>
          <p:cNvSpPr/>
          <p:nvPr/>
        </p:nvSpPr>
        <p:spPr>
          <a:xfrm>
            <a:off x="1102706" y="3320033"/>
            <a:ext cx="10286186"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The big picture</a:t>
            </a:r>
            <a:endParaRPr lang="en-US" sz="1400" dirty="0"/>
          </a:p>
        </p:txBody>
      </p:sp>
      <p:sp>
        <p:nvSpPr>
          <p:cNvPr id="7" name="Text 5"/>
          <p:cNvSpPr/>
          <p:nvPr/>
        </p:nvSpPr>
        <p:spPr>
          <a:xfrm>
            <a:off x="1109056" y="3666753"/>
            <a:ext cx="2297223" cy="564698"/>
          </a:xfrm>
          <a:prstGeom prst="roundRect">
            <a:avLst>
              <a:gd name="adj" fmla="val 14618"/>
            </a:avLst>
          </a:prstGeom>
          <a:solidFill>
            <a:srgbClr val="FFFFFF"/>
          </a:solidFill>
          <a:ln w="12700">
            <a:solidFill>
              <a:srgbClr val="BFD4F6"/>
            </a:solidFill>
            <a:prstDash val="solid"/>
          </a:ln>
        </p:spPr>
        <p:txBody>
          <a:bodyPr wrap="none" lIns="0" tIns="0" rIns="0" bIns="0" rtlCol="0" anchor="ctr">
            <a:normAutofit/>
          </a:bodyPr>
          <a:lstStyle/>
          <a:p>
            <a:pPr algn="ctr" indent="0" marL="0">
              <a:lnSpc>
                <a:spcPts val="2380"/>
              </a:lnSpc>
              <a:buNone/>
            </a:pPr>
            <a:r>
              <a:rPr lang="en-US" sz="1700" b="1" dirty="0">
                <a:solidFill>
                  <a:srgbClr val="0F2A5C"/>
                </a:solidFill>
                <a:latin typeface="DM Sans" pitchFamily="34" charset="0"/>
                <a:ea typeface="DM Sans" pitchFamily="34" charset="-122"/>
                <a:cs typeface="DM Sans" pitchFamily="34" charset="-120"/>
              </a:rPr>
              <a:t>Improve the input</a:t>
            </a:r>
            <a:endParaRPr lang="en-US" sz="1700" dirty="0"/>
          </a:p>
        </p:txBody>
      </p:sp>
      <p:sp>
        <p:nvSpPr>
          <p:cNvPr id="8" name="Text 6"/>
          <p:cNvSpPr/>
          <p:nvPr/>
        </p:nvSpPr>
        <p:spPr>
          <a:xfrm>
            <a:off x="3564985" y="3771305"/>
            <a:ext cx="304800" cy="380989"/>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563EB"/>
                </a:solidFill>
                <a:latin typeface="DM Sans" pitchFamily="34" charset="0"/>
                <a:ea typeface="DM Sans" pitchFamily="34" charset="-122"/>
                <a:cs typeface="DM Sans" pitchFamily="34" charset="-120"/>
              </a:rPr>
              <a:t>→</a:t>
            </a:r>
            <a:endParaRPr lang="en-US" sz="2000" dirty="0"/>
          </a:p>
        </p:txBody>
      </p:sp>
      <p:sp>
        <p:nvSpPr>
          <p:cNvPr id="9" name="Text 7"/>
          <p:cNvSpPr/>
          <p:nvPr/>
        </p:nvSpPr>
        <p:spPr>
          <a:xfrm>
            <a:off x="3977691" y="3666753"/>
            <a:ext cx="2531985" cy="564698"/>
          </a:xfrm>
          <a:prstGeom prst="roundRect">
            <a:avLst>
              <a:gd name="adj" fmla="val 14618"/>
            </a:avLst>
          </a:prstGeom>
          <a:solidFill>
            <a:srgbClr val="2563EB"/>
          </a:solidFill>
          <a:ln w="12700">
            <a:solidFill>
              <a:srgbClr val="2563EB"/>
            </a:solidFill>
            <a:prstDash val="solid"/>
          </a:ln>
        </p:spPr>
        <p:txBody>
          <a:bodyPr wrap="none" lIns="0" tIns="0" rIns="0" bIns="0" rtlCol="0" anchor="ctr">
            <a:normAutofit/>
          </a:bodyPr>
          <a:lstStyle/>
          <a:p>
            <a:pPr algn="ctr" indent="0" marL="0">
              <a:lnSpc>
                <a:spcPts val="2380"/>
              </a:lnSpc>
              <a:buNone/>
            </a:pPr>
            <a:r>
              <a:rPr lang="en-US" sz="1700" b="1" dirty="0">
                <a:solidFill>
                  <a:srgbClr val="FFFFFF"/>
                </a:solidFill>
                <a:latin typeface="DM Sans" pitchFamily="34" charset="0"/>
                <a:ea typeface="DM Sans" pitchFamily="34" charset="-122"/>
                <a:cs typeface="DM Sans" pitchFamily="34" charset="-120"/>
              </a:rPr>
              <a:t>Feature engineering</a:t>
            </a:r>
            <a:endParaRPr lang="en-US" sz="1700" dirty="0"/>
          </a:p>
        </p:txBody>
      </p:sp>
      <p:sp>
        <p:nvSpPr>
          <p:cNvPr id="10" name="Text 8"/>
          <p:cNvSpPr/>
          <p:nvPr/>
        </p:nvSpPr>
        <p:spPr>
          <a:xfrm>
            <a:off x="812767" y="6289042"/>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DM Sans" pitchFamily="34" charset="0"/>
                <a:ea typeface="DM Sans" pitchFamily="34" charset="-122"/>
                <a:cs typeface="DM Sans" pitchFamily="34" charset="-120"/>
              </a:rPr>
              <a:t>Part 2 Adding new columns</a:t>
            </a:r>
            <a:endParaRPr lang="en-US" sz="1200" dirty="0"/>
          </a:p>
        </p:txBody>
      </p:sp>
      <p:sp>
        <p:nvSpPr>
          <p:cNvPr id="11" name="Text 9"/>
          <p:cNvSpPr/>
          <p:nvPr/>
        </p:nvSpPr>
        <p:spPr>
          <a:xfrm>
            <a:off x="10058433" y="6289042"/>
            <a:ext cx="1320800" cy="23877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748B"/>
                </a:solidFill>
                <a:latin typeface="DM Sans" pitchFamily="34" charset="0"/>
                <a:ea typeface="DM Sans" pitchFamily="34" charset="-122"/>
                <a:cs typeface="DM Sans" pitchFamily="34" charset="-120"/>
              </a:rPr>
              <a:t>17</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67" y="508000"/>
            <a:ext cx="10883461"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5C"/>
                </a:solidFill>
                <a:latin typeface="DM Sans" pitchFamily="34" charset="0"/>
                <a:ea typeface="DM Sans" pitchFamily="34" charset="-122"/>
                <a:cs typeface="DM Sans" pitchFamily="34" charset="-120"/>
              </a:rPr>
              <a:t>Recap: Feature Engineering</a:t>
            </a:r>
            <a:endParaRPr lang="en-US" sz="3200" dirty="0"/>
          </a:p>
        </p:txBody>
      </p:sp>
      <p:sp>
        <p:nvSpPr>
          <p:cNvPr id="3" name="Shape 1"/>
          <p:cNvSpPr/>
          <p:nvPr/>
        </p:nvSpPr>
        <p:spPr>
          <a:xfrm>
            <a:off x="812767" y="1076920"/>
            <a:ext cx="609589" cy="50767"/>
          </a:xfrm>
          <a:prstGeom prst="roundRect">
            <a:avLst>
              <a:gd name="adj" fmla="val 50000"/>
            </a:avLst>
          </a:prstGeom>
          <a:solidFill>
            <a:srgbClr val="2563EB"/>
          </a:solidFill>
          <a:ln/>
        </p:spPr>
      </p:sp>
      <p:sp>
        <p:nvSpPr>
          <p:cNvPr id="4" name="Text 2"/>
          <p:cNvSpPr/>
          <p:nvPr/>
        </p:nvSpPr>
        <p:spPr>
          <a:xfrm>
            <a:off x="849089" y="1356271"/>
            <a:ext cx="10839519" cy="1147399"/>
          </a:xfrm>
          <a:prstGeom prst="rect">
            <a:avLst/>
          </a:prstGeom>
          <a:noFill/>
          <a:ln/>
        </p:spPr>
        <p:txBody>
          <a:bodyPr wrap="square" lIns="0" tIns="0" rIns="0" bIns="0" rtlCol="0" anchor="t">
            <a:normAutofit/>
          </a:bodyPr>
          <a:lstStyle/>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Select: choose useful columns (done)</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Transform: one-hot encoding (done), min-max scaling, standardization</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Create: aggregate features, target encoding</a:t>
            </a:r>
            <a:endParaRPr lang="en-US" sz="1900" dirty="0"/>
          </a:p>
        </p:txBody>
      </p:sp>
      <p:sp>
        <p:nvSpPr>
          <p:cNvPr id="5" name="Shape 3"/>
          <p:cNvSpPr/>
          <p:nvPr/>
        </p:nvSpPr>
        <p:spPr>
          <a:xfrm>
            <a:off x="819117" y="2713211"/>
            <a:ext cx="10553767" cy="2527355"/>
          </a:xfrm>
          <a:prstGeom prst="roundRect">
            <a:avLst>
              <a:gd name="adj" fmla="val 4774"/>
            </a:avLst>
          </a:prstGeom>
          <a:solidFill>
            <a:srgbClr val="F1F6FE"/>
          </a:solidFill>
          <a:ln w="12700">
            <a:solidFill>
              <a:srgbClr val="CFE0FA"/>
            </a:solidFill>
            <a:prstDash val="solid"/>
          </a:ln>
        </p:spPr>
      </p:sp>
      <p:sp>
        <p:nvSpPr>
          <p:cNvPr id="6" name="Text 4"/>
          <p:cNvSpPr/>
          <p:nvPr/>
        </p:nvSpPr>
        <p:spPr>
          <a:xfrm>
            <a:off x="1102706" y="2946028"/>
            <a:ext cx="10286186"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Types and methods</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113290" y="3258844"/>
          <a:ext cx="9976005" cy="1748896"/>
        </p:xfrm>
        <a:graphic>
          <a:graphicData uri="http://schemas.openxmlformats.org/drawingml/2006/table">
            <a:tbl>
              <a:tblPr/>
              <a:tblGrid>
                <a:gridCol w="2394241"/>
                <a:gridCol w="7581764"/>
              </a:tblGrid>
              <a:tr h="437224">
                <a:tc>
                  <a:txBody>
                    <a:bodyPr/>
                    <a:lstStyle/>
                    <a:p>
                      <a:pPr indent="0" marL="0">
                        <a:lnSpc>
                          <a:spcPts val="2240"/>
                        </a:lnSpc>
                        <a:buNone/>
                      </a:pPr>
                      <a:r>
                        <a:rPr lang="en-US" sz="1600" b="1" dirty="0">
                          <a:solidFill>
                            <a:srgbClr val="0F2A5C"/>
                          </a:solidFill>
                          <a:latin typeface="DM Sans" pitchFamily="34" charset="0"/>
                          <a:ea typeface="DM Sans" pitchFamily="34" charset="-122"/>
                          <a:cs typeface="DM Sans" pitchFamily="34" charset="-120"/>
                        </a:rPr>
                        <a:t>Type</a:t>
                      </a:r>
                      <a:endParaRPr lang="en-US" sz="1600" dirty="0">
                        <a:latin typeface="DM Sans" charset="0"/>
                        <a:ea typeface="DM Sans" charset="0"/>
                        <a:cs typeface="DM Sans" charset="0"/>
                      </a:endParaRPr>
                    </a:p>
                  </a:txBody>
                  <a:tcPr marL="71120" marR="71120" marT="71120" marB="71120" anchor="t">
                    <a:lnL w="12700" cap="flat" cmpd="sng" algn="ctr">
                      <a:solidFill>
                        <a:srgbClr val="C0C4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2240"/>
                        </a:lnSpc>
                        <a:buNone/>
                      </a:pPr>
                      <a:r>
                        <a:rPr lang="en-US" sz="1600" b="1" dirty="0">
                          <a:solidFill>
                            <a:srgbClr val="0F2A5C"/>
                          </a:solidFill>
                          <a:latin typeface="DM Sans" pitchFamily="34" charset="0"/>
                          <a:ea typeface="DM Sans" pitchFamily="34" charset="-122"/>
                          <a:cs typeface="DM Sans" pitchFamily="34" charset="-120"/>
                        </a:rPr>
                        <a:t>Methods</a:t>
                      </a:r>
                      <a:endParaRPr lang="en-US" sz="1600" dirty="0">
                        <a:latin typeface="DM Sans" charset="0"/>
                        <a:ea typeface="DM Sans" charset="0"/>
                        <a:cs typeface="DM Sans" charset="0"/>
                      </a:endParaRPr>
                    </a:p>
                  </a:txBody>
                  <a:tcPr marL="71120" marR="71120" marT="71120" marB="71120"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r>
              <a:tr h="437224">
                <a:tc>
                  <a:txBody>
                    <a:bodyPr/>
                    <a:lstStyle/>
                    <a:p>
                      <a:pPr indent="0" marL="0">
                        <a:lnSpc>
                          <a:spcPts val="2240"/>
                        </a:lnSpc>
                        <a:buNone/>
                      </a:pPr>
                      <a:r>
                        <a:rPr lang="en-US" sz="1600" dirty="0">
                          <a:solidFill>
                            <a:srgbClr val="1E293B"/>
                          </a:solidFill>
                          <a:latin typeface="DM Sans" pitchFamily="34" charset="0"/>
                          <a:ea typeface="DM Sans" pitchFamily="34" charset="-122"/>
                          <a:cs typeface="DM Sans" pitchFamily="34" charset="-120"/>
                        </a:rPr>
                        <a:t>Select</a:t>
                      </a:r>
                      <a:endParaRPr lang="en-US" sz="1600" dirty="0">
                        <a:latin typeface="DM Sans" charset="0"/>
                        <a:ea typeface="DM Sans" charset="0"/>
                        <a:cs typeface="DM Sans" charset="0"/>
                      </a:endParaRPr>
                    </a:p>
                  </a:txBody>
                  <a:tcPr marL="71120" marR="71120" marT="71120" marB="71120"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DM Sans" pitchFamily="34" charset="0"/>
                          <a:ea typeface="DM Sans" pitchFamily="34" charset="-122"/>
                          <a:cs typeface="DM Sans" pitchFamily="34" charset="-120"/>
                        </a:rPr>
                        <a:t>Choose useful columns</a:t>
                      </a:r>
                      <a:endParaRPr lang="en-US" sz="1600" dirty="0">
                        <a:latin typeface="DM Sans" charset="0"/>
                        <a:ea typeface="DM Sans" charset="0"/>
                        <a:cs typeface="DM Sans"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37224">
                <a:tc>
                  <a:txBody>
                    <a:bodyPr/>
                    <a:lstStyle/>
                    <a:p>
                      <a:pPr indent="0" marL="0">
                        <a:lnSpc>
                          <a:spcPts val="2240"/>
                        </a:lnSpc>
                        <a:buNone/>
                      </a:pPr>
                      <a:r>
                        <a:rPr lang="en-US" sz="1600" dirty="0">
                          <a:solidFill>
                            <a:srgbClr val="1E293B"/>
                          </a:solidFill>
                          <a:latin typeface="DM Sans" pitchFamily="34" charset="0"/>
                          <a:ea typeface="DM Sans" pitchFamily="34" charset="-122"/>
                          <a:cs typeface="DM Sans" pitchFamily="34" charset="-120"/>
                        </a:rPr>
                        <a:t>Transform</a:t>
                      </a:r>
                      <a:endParaRPr lang="en-US" sz="1600" dirty="0">
                        <a:latin typeface="DM Sans" charset="0"/>
                        <a:ea typeface="DM Sans" charset="0"/>
                        <a:cs typeface="DM Sans" charset="0"/>
                      </a:endParaRPr>
                    </a:p>
                  </a:txBody>
                  <a:tcPr marL="71120" marR="71120" marT="71120" marB="71120"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DM Sans" pitchFamily="34" charset="0"/>
                          <a:ea typeface="DM Sans" pitchFamily="34" charset="-122"/>
                          <a:cs typeface="DM Sans" pitchFamily="34" charset="-120"/>
                        </a:rPr>
                        <a:t>One-hot encoding / min-max scaling / standardization</a:t>
                      </a:r>
                      <a:endParaRPr lang="en-US" sz="1600" dirty="0">
                        <a:latin typeface="DM Sans" charset="0"/>
                        <a:ea typeface="DM Sans" charset="0"/>
                        <a:cs typeface="DM Sans"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37224">
                <a:tc>
                  <a:txBody>
                    <a:bodyPr/>
                    <a:lstStyle/>
                    <a:p>
                      <a:pPr indent="0" marL="0">
                        <a:lnSpc>
                          <a:spcPts val="2240"/>
                        </a:lnSpc>
                        <a:buNone/>
                      </a:pPr>
                      <a:r>
                        <a:rPr lang="en-US" sz="1600" dirty="0">
                          <a:solidFill>
                            <a:srgbClr val="1E293B"/>
                          </a:solidFill>
                          <a:latin typeface="DM Sans" pitchFamily="34" charset="0"/>
                          <a:ea typeface="DM Sans" pitchFamily="34" charset="-122"/>
                          <a:cs typeface="DM Sans" pitchFamily="34" charset="-120"/>
                        </a:rPr>
                        <a:t>Create</a:t>
                      </a:r>
                      <a:endParaRPr lang="en-US" sz="1600" dirty="0">
                        <a:latin typeface="DM Sans" charset="0"/>
                        <a:ea typeface="DM Sans" charset="0"/>
                        <a:cs typeface="DM Sans" charset="0"/>
                      </a:endParaRPr>
                    </a:p>
                  </a:txBody>
                  <a:tcPr marL="71120" marR="71120" marT="71120" marB="71120"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DM Sans" pitchFamily="34" charset="0"/>
                          <a:ea typeface="DM Sans" pitchFamily="34" charset="-122"/>
                          <a:cs typeface="DM Sans" pitchFamily="34" charset="-120"/>
                        </a:rPr>
                        <a:t>Aggregate features / target encoding</a:t>
                      </a:r>
                      <a:endParaRPr lang="en-US" sz="1600" dirty="0">
                        <a:latin typeface="DM Sans" charset="0"/>
                        <a:ea typeface="DM Sans" charset="0"/>
                        <a:cs typeface="DM Sans"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8" name="Text 5"/>
          <p:cNvSpPr/>
          <p:nvPr/>
        </p:nvSpPr>
        <p:spPr>
          <a:xfrm>
            <a:off x="812767" y="6289042"/>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DM Sans" pitchFamily="34" charset="0"/>
                <a:ea typeface="DM Sans" pitchFamily="34" charset="-122"/>
                <a:cs typeface="DM Sans" pitchFamily="34" charset="-120"/>
              </a:rPr>
              <a:t>Part 2 Adding new columns</a:t>
            </a:r>
            <a:endParaRPr lang="en-US" sz="1200" dirty="0"/>
          </a:p>
        </p:txBody>
      </p:sp>
      <p:sp>
        <p:nvSpPr>
          <p:cNvPr id="9" name="Text 6"/>
          <p:cNvSpPr/>
          <p:nvPr/>
        </p:nvSpPr>
        <p:spPr>
          <a:xfrm>
            <a:off x="10058433" y="6289042"/>
            <a:ext cx="1320800" cy="23877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748B"/>
                </a:solidFill>
                <a:latin typeface="DM Sans" pitchFamily="34" charset="0"/>
                <a:ea typeface="DM Sans" pitchFamily="34" charset="-122"/>
                <a:cs typeface="DM Sans" pitchFamily="34" charset="-120"/>
              </a:rPr>
              <a:t>18</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67" y="508000"/>
            <a:ext cx="10883461"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5C"/>
                </a:solidFill>
                <a:latin typeface="DM Sans" pitchFamily="34" charset="0"/>
                <a:ea typeface="DM Sans" pitchFamily="34" charset="-122"/>
                <a:cs typeface="DM Sans" pitchFamily="34" charset="-120"/>
              </a:rPr>
              <a:t>Part 2: The Big Idea</a:t>
            </a:r>
            <a:endParaRPr lang="en-US" sz="3200" dirty="0"/>
          </a:p>
        </p:txBody>
      </p:sp>
      <p:sp>
        <p:nvSpPr>
          <p:cNvPr id="3" name="Shape 1"/>
          <p:cNvSpPr/>
          <p:nvPr/>
        </p:nvSpPr>
        <p:spPr>
          <a:xfrm>
            <a:off x="812767" y="1076908"/>
            <a:ext cx="609589" cy="50767"/>
          </a:xfrm>
          <a:prstGeom prst="roundRect">
            <a:avLst>
              <a:gd name="adj" fmla="val 50000"/>
            </a:avLst>
          </a:prstGeom>
          <a:solidFill>
            <a:srgbClr val="2563EB"/>
          </a:solidFill>
          <a:ln/>
        </p:spPr>
      </p:sp>
      <p:sp>
        <p:nvSpPr>
          <p:cNvPr id="4" name="Text 2"/>
          <p:cNvSpPr/>
          <p:nvPr/>
        </p:nvSpPr>
        <p:spPr>
          <a:xfrm>
            <a:off x="849089" y="1356258"/>
            <a:ext cx="10839519" cy="1147399"/>
          </a:xfrm>
          <a:prstGeom prst="rect">
            <a:avLst/>
          </a:prstGeom>
          <a:noFill/>
          <a:ln/>
        </p:spPr>
        <p:txBody>
          <a:bodyPr wrap="square" lIns="0" tIns="0" rIns="0" bIns="0" rtlCol="0" anchor="t">
            <a:normAutofit/>
          </a:bodyPr>
          <a:lstStyle/>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Add new, useful columns that help models learn</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Transform: put numbers on the same scale (min-max scaling, standardization)</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Create: aggregate features</a:t>
            </a:r>
            <a:endParaRPr lang="en-US" sz="1900" dirty="0"/>
          </a:p>
        </p:txBody>
      </p:sp>
      <p:sp>
        <p:nvSpPr>
          <p:cNvPr id="5" name="Shape 3"/>
          <p:cNvSpPr/>
          <p:nvPr/>
        </p:nvSpPr>
        <p:spPr>
          <a:xfrm>
            <a:off x="819117" y="2713199"/>
            <a:ext cx="10553767" cy="1383418"/>
          </a:xfrm>
          <a:prstGeom prst="roundRect">
            <a:avLst>
              <a:gd name="adj" fmla="val 8721"/>
            </a:avLst>
          </a:prstGeom>
          <a:solidFill>
            <a:srgbClr val="F1F6FE"/>
          </a:solidFill>
          <a:ln w="12700">
            <a:solidFill>
              <a:srgbClr val="CFE0FA"/>
            </a:solidFill>
            <a:prstDash val="solid"/>
          </a:ln>
        </p:spPr>
      </p:sp>
      <p:sp>
        <p:nvSpPr>
          <p:cNvPr id="6" name="Text 4"/>
          <p:cNvSpPr/>
          <p:nvPr/>
        </p:nvSpPr>
        <p:spPr>
          <a:xfrm>
            <a:off x="1102706" y="2946016"/>
            <a:ext cx="10286186"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Today’s goal</a:t>
            </a:r>
            <a:endParaRPr lang="en-US" sz="1400" dirty="0"/>
          </a:p>
        </p:txBody>
      </p:sp>
      <p:sp>
        <p:nvSpPr>
          <p:cNvPr id="7" name="Text 5"/>
          <p:cNvSpPr/>
          <p:nvPr/>
        </p:nvSpPr>
        <p:spPr>
          <a:xfrm>
            <a:off x="1109056" y="3292748"/>
            <a:ext cx="3322704" cy="564698"/>
          </a:xfrm>
          <a:prstGeom prst="roundRect">
            <a:avLst>
              <a:gd name="adj" fmla="val 14618"/>
            </a:avLst>
          </a:prstGeom>
          <a:solidFill>
            <a:srgbClr val="FFFFFF"/>
          </a:solidFill>
          <a:ln w="12700">
            <a:solidFill>
              <a:srgbClr val="BFD4F6"/>
            </a:solidFill>
            <a:prstDash val="solid"/>
          </a:ln>
        </p:spPr>
        <p:txBody>
          <a:bodyPr wrap="none" lIns="0" tIns="0" rIns="0" bIns="0" rtlCol="0" anchor="ctr">
            <a:normAutofit/>
          </a:bodyPr>
          <a:lstStyle/>
          <a:p>
            <a:pPr algn="ctr" indent="0" marL="0">
              <a:lnSpc>
                <a:spcPts val="2380"/>
              </a:lnSpc>
              <a:buNone/>
            </a:pPr>
            <a:r>
              <a:rPr lang="en-US" sz="1700" b="1" dirty="0">
                <a:solidFill>
                  <a:srgbClr val="0F2A5C"/>
                </a:solidFill>
                <a:latin typeface="DM Sans" pitchFamily="34" charset="0"/>
                <a:ea typeface="DM Sans" pitchFamily="34" charset="-122"/>
                <a:cs typeface="DM Sans" pitchFamily="34" charset="-120"/>
              </a:rPr>
              <a:t>Match the scale of columns</a:t>
            </a:r>
            <a:endParaRPr lang="en-US" sz="1700" dirty="0"/>
          </a:p>
        </p:txBody>
      </p:sp>
      <p:sp>
        <p:nvSpPr>
          <p:cNvPr id="8" name="Text 6"/>
          <p:cNvSpPr/>
          <p:nvPr/>
        </p:nvSpPr>
        <p:spPr>
          <a:xfrm>
            <a:off x="4590466" y="3397300"/>
            <a:ext cx="304800" cy="380989"/>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563EB"/>
                </a:solidFill>
                <a:latin typeface="DM Sans" pitchFamily="34" charset="0"/>
                <a:ea typeface="DM Sans" pitchFamily="34" charset="-122"/>
                <a:cs typeface="DM Sans" pitchFamily="34" charset="-120"/>
              </a:rPr>
              <a:t>＋</a:t>
            </a:r>
            <a:endParaRPr lang="en-US" sz="2000" dirty="0"/>
          </a:p>
        </p:txBody>
      </p:sp>
      <p:sp>
        <p:nvSpPr>
          <p:cNvPr id="9" name="Text 7"/>
          <p:cNvSpPr/>
          <p:nvPr/>
        </p:nvSpPr>
        <p:spPr>
          <a:xfrm>
            <a:off x="5003172" y="3292748"/>
            <a:ext cx="2578618" cy="564698"/>
          </a:xfrm>
          <a:prstGeom prst="roundRect">
            <a:avLst>
              <a:gd name="adj" fmla="val 14618"/>
            </a:avLst>
          </a:prstGeom>
          <a:solidFill>
            <a:srgbClr val="2563EB"/>
          </a:solidFill>
          <a:ln w="12700">
            <a:solidFill>
              <a:srgbClr val="2563EB"/>
            </a:solidFill>
            <a:prstDash val="solid"/>
          </a:ln>
        </p:spPr>
        <p:txBody>
          <a:bodyPr wrap="none" lIns="0" tIns="0" rIns="0" bIns="0" rtlCol="0" anchor="ctr">
            <a:normAutofit/>
          </a:bodyPr>
          <a:lstStyle/>
          <a:p>
            <a:pPr algn="ctr" indent="0" marL="0">
              <a:lnSpc>
                <a:spcPts val="2380"/>
              </a:lnSpc>
              <a:buNone/>
            </a:pPr>
            <a:r>
              <a:rPr lang="en-US" sz="1700" b="1" dirty="0">
                <a:solidFill>
                  <a:srgbClr val="FFFFFF"/>
                </a:solidFill>
                <a:latin typeface="DM Sans" pitchFamily="34" charset="0"/>
                <a:ea typeface="DM Sans" pitchFamily="34" charset="-122"/>
                <a:cs typeface="DM Sans" pitchFamily="34" charset="-120"/>
              </a:rPr>
              <a:t>Create new columns</a:t>
            </a:r>
            <a:endParaRPr lang="en-US" sz="1700" dirty="0"/>
          </a:p>
        </p:txBody>
      </p:sp>
      <p:sp>
        <p:nvSpPr>
          <p:cNvPr id="10" name="Text 8"/>
          <p:cNvSpPr/>
          <p:nvPr/>
        </p:nvSpPr>
        <p:spPr>
          <a:xfrm>
            <a:off x="812767" y="6289030"/>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DM Sans" pitchFamily="34" charset="0"/>
                <a:ea typeface="DM Sans" pitchFamily="34" charset="-122"/>
                <a:cs typeface="DM Sans" pitchFamily="34" charset="-120"/>
              </a:rPr>
              <a:t>Part 2 Adding new columns</a:t>
            </a:r>
            <a:endParaRPr lang="en-US" sz="1200" dirty="0"/>
          </a:p>
        </p:txBody>
      </p:sp>
      <p:sp>
        <p:nvSpPr>
          <p:cNvPr id="11" name="Text 9"/>
          <p:cNvSpPr/>
          <p:nvPr/>
        </p:nvSpPr>
        <p:spPr>
          <a:xfrm>
            <a:off x="10058433" y="6289030"/>
            <a:ext cx="1320800" cy="23877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748B"/>
                </a:solidFill>
                <a:latin typeface="DM Sans" pitchFamily="34" charset="0"/>
                <a:ea typeface="DM Sans" pitchFamily="34" charset="-122"/>
                <a:cs typeface="DM Sans" pitchFamily="34" charset="-120"/>
              </a:rPr>
              <a:t>19</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67" y="508000"/>
            <a:ext cx="10883461"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5C"/>
                </a:solidFill>
                <a:latin typeface="DM Sans" pitchFamily="34" charset="0"/>
                <a:ea typeface="DM Sans" pitchFamily="34" charset="-122"/>
                <a:cs typeface="DM Sans" pitchFamily="34" charset="-120"/>
              </a:rPr>
              <a:t>Transform: Min-Max Scaling</a:t>
            </a:r>
            <a:endParaRPr lang="en-US" sz="3200" dirty="0"/>
          </a:p>
        </p:txBody>
      </p:sp>
      <p:sp>
        <p:nvSpPr>
          <p:cNvPr id="3" name="Shape 1"/>
          <p:cNvSpPr/>
          <p:nvPr/>
        </p:nvSpPr>
        <p:spPr>
          <a:xfrm>
            <a:off x="812767" y="1076908"/>
            <a:ext cx="609589" cy="50767"/>
          </a:xfrm>
          <a:prstGeom prst="roundRect">
            <a:avLst>
              <a:gd name="adj" fmla="val 50000"/>
            </a:avLst>
          </a:prstGeom>
          <a:solidFill>
            <a:srgbClr val="2563EB"/>
          </a:solidFill>
          <a:ln/>
        </p:spPr>
      </p:sp>
      <p:sp>
        <p:nvSpPr>
          <p:cNvPr id="4" name="Text 2"/>
          <p:cNvSpPr/>
          <p:nvPr/>
        </p:nvSpPr>
        <p:spPr>
          <a:xfrm>
            <a:off x="856201" y="1356258"/>
            <a:ext cx="10832407" cy="1442464"/>
          </a:xfrm>
          <a:prstGeom prst="rect">
            <a:avLst/>
          </a:prstGeom>
          <a:noFill/>
          <a:ln/>
        </p:spPr>
        <p:txBody>
          <a:bodyPr wrap="square" lIns="0" tIns="0" rIns="0" bIns="0" rtlCol="0" anchor="t">
            <a:normAutofit/>
          </a:bodyPr>
          <a:lstStyle/>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Definition: resize numbers so every column plays on a fair, even field</a:t>
            </a:r>
            <a:endParaRPr lang="en-US" sz="1800" dirty="0"/>
          </a:p>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Machine learning trains more easily on resized inputs</a:t>
            </a:r>
            <a:endParaRPr lang="en-US" sz="1800" dirty="0"/>
          </a:p>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Problem: columns such as age and price differ hugely in scale</a:t>
            </a:r>
            <a:endParaRPr lang="en-US" sz="1800" dirty="0"/>
          </a:p>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Solution: rescale every column to the range 0 to 1</a:t>
            </a:r>
            <a:endParaRPr lang="en-US" sz="1800" dirty="0"/>
          </a:p>
        </p:txBody>
      </p:sp>
      <p:sp>
        <p:nvSpPr>
          <p:cNvPr id="5" name="Shape 3"/>
          <p:cNvSpPr/>
          <p:nvPr/>
        </p:nvSpPr>
        <p:spPr>
          <a:xfrm>
            <a:off x="819117" y="3008263"/>
            <a:ext cx="10553767" cy="1383418"/>
          </a:xfrm>
          <a:prstGeom prst="roundRect">
            <a:avLst>
              <a:gd name="adj" fmla="val 8721"/>
            </a:avLst>
          </a:prstGeom>
          <a:solidFill>
            <a:srgbClr val="F1F6FE"/>
          </a:solidFill>
          <a:ln w="12700">
            <a:solidFill>
              <a:srgbClr val="CFE0FA"/>
            </a:solidFill>
            <a:prstDash val="solid"/>
          </a:ln>
        </p:spPr>
      </p:sp>
      <p:sp>
        <p:nvSpPr>
          <p:cNvPr id="6" name="Text 4"/>
          <p:cNvSpPr/>
          <p:nvPr/>
        </p:nvSpPr>
        <p:spPr>
          <a:xfrm>
            <a:off x="1102706" y="3241080"/>
            <a:ext cx="10286186"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The scale gap</a:t>
            </a:r>
            <a:endParaRPr lang="en-US" sz="1400" dirty="0"/>
          </a:p>
        </p:txBody>
      </p:sp>
      <p:sp>
        <p:nvSpPr>
          <p:cNvPr id="7" name="Text 5"/>
          <p:cNvSpPr/>
          <p:nvPr/>
        </p:nvSpPr>
        <p:spPr>
          <a:xfrm>
            <a:off x="1109056" y="3587812"/>
            <a:ext cx="1387111" cy="564698"/>
          </a:xfrm>
          <a:prstGeom prst="roundRect">
            <a:avLst>
              <a:gd name="adj" fmla="val 14618"/>
            </a:avLst>
          </a:prstGeom>
          <a:solidFill>
            <a:srgbClr val="FFFFFF"/>
          </a:solidFill>
          <a:ln w="12700">
            <a:solidFill>
              <a:srgbClr val="BFD4F6"/>
            </a:solidFill>
            <a:prstDash val="solid"/>
          </a:ln>
        </p:spPr>
        <p:txBody>
          <a:bodyPr wrap="none" lIns="0" tIns="0" rIns="0" bIns="0" rtlCol="0" anchor="ctr">
            <a:normAutofit/>
          </a:bodyPr>
          <a:lstStyle/>
          <a:p>
            <a:pPr algn="ctr" indent="0" marL="0">
              <a:lnSpc>
                <a:spcPts val="2380"/>
              </a:lnSpc>
              <a:buNone/>
            </a:pPr>
            <a:r>
              <a:rPr lang="en-US" sz="1700" b="1" dirty="0">
                <a:solidFill>
                  <a:srgbClr val="0F2A5C"/>
                </a:solidFill>
                <a:latin typeface="DM Sans" pitchFamily="34" charset="0"/>
                <a:ea typeface="DM Sans" pitchFamily="34" charset="-122"/>
                <a:cs typeface="DM Sans" pitchFamily="34" charset="-120"/>
              </a:rPr>
              <a:t>Age: 1–10</a:t>
            </a:r>
            <a:endParaRPr lang="en-US" sz="1700" dirty="0"/>
          </a:p>
        </p:txBody>
      </p:sp>
      <p:sp>
        <p:nvSpPr>
          <p:cNvPr id="8" name="Text 6"/>
          <p:cNvSpPr/>
          <p:nvPr/>
        </p:nvSpPr>
        <p:spPr>
          <a:xfrm>
            <a:off x="2654873" y="3692364"/>
            <a:ext cx="298461" cy="380989"/>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563EB"/>
                </a:solidFill>
                <a:latin typeface="DM Sans" pitchFamily="34" charset="0"/>
                <a:ea typeface="DM Sans" pitchFamily="34" charset="-122"/>
                <a:cs typeface="DM Sans" pitchFamily="34" charset="-120"/>
              </a:rPr>
              <a:t>⇔</a:t>
            </a:r>
            <a:endParaRPr lang="en-US" sz="2000" dirty="0"/>
          </a:p>
        </p:txBody>
      </p:sp>
      <p:sp>
        <p:nvSpPr>
          <p:cNvPr id="9" name="Text 7"/>
          <p:cNvSpPr/>
          <p:nvPr/>
        </p:nvSpPr>
        <p:spPr>
          <a:xfrm>
            <a:off x="3061240" y="3587812"/>
            <a:ext cx="3037285" cy="564698"/>
          </a:xfrm>
          <a:prstGeom prst="roundRect">
            <a:avLst>
              <a:gd name="adj" fmla="val 14618"/>
            </a:avLst>
          </a:prstGeom>
          <a:solidFill>
            <a:srgbClr val="FFFFFF"/>
          </a:solidFill>
          <a:ln w="12700">
            <a:solidFill>
              <a:srgbClr val="BFD4F6"/>
            </a:solidFill>
            <a:prstDash val="solid"/>
          </a:ln>
        </p:spPr>
        <p:txBody>
          <a:bodyPr wrap="none" lIns="0" tIns="0" rIns="0" bIns="0" rtlCol="0" anchor="ctr">
            <a:normAutofit/>
          </a:bodyPr>
          <a:lstStyle/>
          <a:p>
            <a:pPr algn="ctr" indent="0" marL="0">
              <a:lnSpc>
                <a:spcPts val="2380"/>
              </a:lnSpc>
              <a:buNone/>
            </a:pPr>
            <a:r>
              <a:rPr lang="en-US" sz="1700" b="1" dirty="0">
                <a:solidFill>
                  <a:srgbClr val="0F2A5C"/>
                </a:solidFill>
                <a:latin typeface="DM Sans" pitchFamily="34" charset="0"/>
                <a:ea typeface="DM Sans" pitchFamily="34" charset="-122"/>
                <a:cs typeface="DM Sans" pitchFamily="34" charset="-120"/>
              </a:rPr>
              <a:t>Price: 100,000–500,000</a:t>
            </a:r>
            <a:endParaRPr lang="en-US" sz="1700" dirty="0"/>
          </a:p>
        </p:txBody>
      </p:sp>
      <p:sp>
        <p:nvSpPr>
          <p:cNvPr id="10" name="Text 8"/>
          <p:cNvSpPr/>
          <p:nvPr/>
        </p:nvSpPr>
        <p:spPr>
          <a:xfrm>
            <a:off x="812767" y="6289030"/>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DM Sans" pitchFamily="34" charset="0"/>
                <a:ea typeface="DM Sans" pitchFamily="34" charset="-122"/>
                <a:cs typeface="DM Sans" pitchFamily="34" charset="-120"/>
              </a:rPr>
              <a:t>Part 2 Adding new columns</a:t>
            </a:r>
            <a:endParaRPr lang="en-US" sz="1200" dirty="0"/>
          </a:p>
        </p:txBody>
      </p:sp>
      <p:sp>
        <p:nvSpPr>
          <p:cNvPr id="11" name="Text 9"/>
          <p:cNvSpPr/>
          <p:nvPr/>
        </p:nvSpPr>
        <p:spPr>
          <a:xfrm>
            <a:off x="10058433" y="6289030"/>
            <a:ext cx="1320800" cy="23877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748B"/>
                </a:solidFill>
                <a:latin typeface="DM Sans" pitchFamily="34" charset="0"/>
                <a:ea typeface="DM Sans" pitchFamily="34" charset="-122"/>
                <a:cs typeface="DM Sans" pitchFamily="34" charset="-120"/>
              </a:rPr>
              <a:t>20</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67" y="508000"/>
            <a:ext cx="10883461"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5C"/>
                </a:solidFill>
                <a:latin typeface="DM Sans" pitchFamily="34" charset="0"/>
                <a:ea typeface="DM Sans" pitchFamily="34" charset="-122"/>
                <a:cs typeface="DM Sans" pitchFamily="34" charset="-120"/>
              </a:rPr>
              <a:t>Min-Max Scaling Example</a:t>
            </a:r>
            <a:endParaRPr lang="en-US" sz="3200" dirty="0"/>
          </a:p>
        </p:txBody>
      </p:sp>
      <p:sp>
        <p:nvSpPr>
          <p:cNvPr id="3" name="Shape 1"/>
          <p:cNvSpPr/>
          <p:nvPr/>
        </p:nvSpPr>
        <p:spPr>
          <a:xfrm>
            <a:off x="812767" y="1076908"/>
            <a:ext cx="609589" cy="50767"/>
          </a:xfrm>
          <a:prstGeom prst="roundRect">
            <a:avLst>
              <a:gd name="adj" fmla="val 50000"/>
            </a:avLst>
          </a:prstGeom>
          <a:solidFill>
            <a:srgbClr val="2563EB"/>
          </a:solidFill>
          <a:ln/>
        </p:spPr>
      </p:sp>
      <p:sp>
        <p:nvSpPr>
          <p:cNvPr id="4" name="Text 2"/>
          <p:cNvSpPr/>
          <p:nvPr/>
        </p:nvSpPr>
        <p:spPr>
          <a:xfrm>
            <a:off x="849089" y="1356258"/>
            <a:ext cx="10839519" cy="1147399"/>
          </a:xfrm>
          <a:prstGeom prst="rect">
            <a:avLst/>
          </a:prstGeom>
          <a:noFill/>
          <a:ln/>
        </p:spPr>
        <p:txBody>
          <a:bodyPr wrap="square" lIns="0" tIns="0" rIns="0" bIns="0" rtlCol="0" anchor="t">
            <a:normAutofit/>
          </a:bodyPr>
          <a:lstStyle/>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In each column, the minimum becomes 0 and the maximum becomes 1</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Age and price now share the same range (0 to 1)</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The order of the values does not change</a:t>
            </a:r>
            <a:endParaRPr lang="en-US" sz="1900" dirty="0"/>
          </a:p>
        </p:txBody>
      </p:sp>
      <p:sp>
        <p:nvSpPr>
          <p:cNvPr id="5" name="Shape 3"/>
          <p:cNvSpPr/>
          <p:nvPr/>
        </p:nvSpPr>
        <p:spPr>
          <a:xfrm>
            <a:off x="819117" y="2713199"/>
            <a:ext cx="10553767" cy="2697791"/>
          </a:xfrm>
          <a:prstGeom prst="roundRect">
            <a:avLst>
              <a:gd name="adj" fmla="val 4472"/>
            </a:avLst>
          </a:prstGeom>
          <a:solidFill>
            <a:srgbClr val="F1F6FE"/>
          </a:solidFill>
          <a:ln w="12700">
            <a:solidFill>
              <a:srgbClr val="CFE0FA"/>
            </a:solidFill>
            <a:prstDash val="solid"/>
          </a:ln>
        </p:spPr>
      </p:sp>
      <p:sp>
        <p:nvSpPr>
          <p:cNvPr id="6" name="Text 4"/>
          <p:cNvSpPr/>
          <p:nvPr/>
        </p:nvSpPr>
        <p:spPr>
          <a:xfrm>
            <a:off x="1102706" y="2946016"/>
            <a:ext cx="10286186"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Before and after</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113290" y="3258832"/>
          <a:ext cx="9976005" cy="1919332"/>
        </p:xfrm>
        <a:graphic>
          <a:graphicData uri="http://schemas.openxmlformats.org/drawingml/2006/table">
            <a:tbl>
              <a:tblPr/>
              <a:tblGrid>
                <a:gridCol w="2094961"/>
                <a:gridCol w="2394241"/>
                <a:gridCol w="997600"/>
                <a:gridCol w="2094961"/>
                <a:gridCol w="2394241"/>
              </a:tblGrid>
              <a:tr h="383866">
                <a:tc>
                  <a:txBody>
                    <a:bodyPr/>
                    <a:lstStyle/>
                    <a:p>
                      <a:pPr indent="0" marL="0">
                        <a:lnSpc>
                          <a:spcPts val="1960"/>
                        </a:lnSpc>
                        <a:buNone/>
                      </a:pPr>
                      <a:r>
                        <a:rPr lang="en-US" sz="1400" b="1" dirty="0">
                          <a:solidFill>
                            <a:srgbClr val="0F2A5C"/>
                          </a:solidFill>
                          <a:latin typeface="DM Sans" pitchFamily="34" charset="0"/>
                          <a:ea typeface="DM Sans" pitchFamily="34" charset="-122"/>
                          <a:cs typeface="DM Sans" pitchFamily="34" charset="-120"/>
                        </a:rPr>
                        <a:t>Age (before)</a:t>
                      </a:r>
                      <a:endParaRPr lang="en-US" sz="1400" dirty="0">
                        <a:latin typeface="DM Sans" charset="0"/>
                        <a:ea typeface="DM Sans" charset="0"/>
                        <a:cs typeface="DM Sans" charset="0"/>
                      </a:endParaRPr>
                    </a:p>
                  </a:txBody>
                  <a:tcPr marL="62230" marR="62230" marT="62230" marB="62230" anchor="t">
                    <a:lnL w="12700" cap="flat" cmpd="sng" algn="ctr">
                      <a:solidFill>
                        <a:srgbClr val="C0C4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1960"/>
                        </a:lnSpc>
                        <a:buNone/>
                      </a:pPr>
                      <a:r>
                        <a:rPr lang="en-US" sz="1400" b="1" dirty="0">
                          <a:solidFill>
                            <a:srgbClr val="0F2A5C"/>
                          </a:solidFill>
                          <a:latin typeface="DM Sans" pitchFamily="34" charset="0"/>
                          <a:ea typeface="DM Sans" pitchFamily="34" charset="-122"/>
                          <a:cs typeface="DM Sans" pitchFamily="34" charset="-120"/>
                        </a:rPr>
                        <a:t>Price (before)</a:t>
                      </a:r>
                      <a:endParaRPr lang="en-US" sz="1400" dirty="0">
                        <a:latin typeface="DM Sans" charset="0"/>
                        <a:ea typeface="DM Sans" charset="0"/>
                        <a:cs typeface="DM Sans" charset="0"/>
                      </a:endParaRPr>
                    </a:p>
                  </a:txBody>
                  <a:tcPr marL="62230" marR="62230" marT="62230" marB="62230"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1960"/>
                        </a:lnSpc>
                        <a:buNone/>
                      </a:pPr>
                      <a:r>
                        <a:rPr lang="en-US" sz="1400" b="1" dirty="0">
                          <a:solidFill>
                            <a:srgbClr val="0F2A5C"/>
                          </a:solidFill>
                          <a:latin typeface="DM Sans" pitchFamily="34" charset="0"/>
                          <a:ea typeface="DM Sans" pitchFamily="34" charset="-122"/>
                          <a:cs typeface="DM Sans" pitchFamily="34" charset="-120"/>
                        </a:rPr>
                        <a:t>→</a:t>
                      </a:r>
                      <a:endParaRPr lang="en-US" sz="1400" dirty="0">
                        <a:latin typeface="DM Sans" charset="0"/>
                        <a:ea typeface="DM Sans" charset="0"/>
                        <a:cs typeface="DM Sans" charset="0"/>
                      </a:endParaRPr>
                    </a:p>
                  </a:txBody>
                  <a:tcPr marL="62230" marR="62230" marT="62230" marB="62230"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1960"/>
                        </a:lnSpc>
                        <a:buNone/>
                      </a:pPr>
                      <a:r>
                        <a:rPr lang="en-US" sz="1400" b="1" dirty="0">
                          <a:solidFill>
                            <a:srgbClr val="0F2A5C"/>
                          </a:solidFill>
                          <a:latin typeface="DM Sans" pitchFamily="34" charset="0"/>
                          <a:ea typeface="DM Sans" pitchFamily="34" charset="-122"/>
                          <a:cs typeface="DM Sans" pitchFamily="34" charset="-120"/>
                        </a:rPr>
                        <a:t>Age (after)</a:t>
                      </a:r>
                      <a:endParaRPr lang="en-US" sz="1400" dirty="0">
                        <a:latin typeface="DM Sans" charset="0"/>
                        <a:ea typeface="DM Sans" charset="0"/>
                        <a:cs typeface="DM Sans" charset="0"/>
                      </a:endParaRPr>
                    </a:p>
                  </a:txBody>
                  <a:tcPr marL="62230" marR="62230" marT="62230" marB="62230"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1960"/>
                        </a:lnSpc>
                        <a:buNone/>
                      </a:pPr>
                      <a:r>
                        <a:rPr lang="en-US" sz="1400" b="1" dirty="0">
                          <a:solidFill>
                            <a:srgbClr val="0F2A5C"/>
                          </a:solidFill>
                          <a:latin typeface="DM Sans" pitchFamily="34" charset="0"/>
                          <a:ea typeface="DM Sans" pitchFamily="34" charset="-122"/>
                          <a:cs typeface="DM Sans" pitchFamily="34" charset="-120"/>
                        </a:rPr>
                        <a:t>Price (after)</a:t>
                      </a:r>
                      <a:endParaRPr lang="en-US" sz="1400" dirty="0">
                        <a:latin typeface="DM Sans" charset="0"/>
                        <a:ea typeface="DM Sans" charset="0"/>
                        <a:cs typeface="DM Sans" charset="0"/>
                      </a:endParaRPr>
                    </a:p>
                  </a:txBody>
                  <a:tcPr marL="62230" marR="62230" marT="62230" marB="62230"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r>
              <a:tr h="383866">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1</a:t>
                      </a:r>
                      <a:endParaRPr lang="en-US" sz="1400" dirty="0">
                        <a:latin typeface="DM Sans" charset="0"/>
                        <a:ea typeface="DM Sans" charset="0"/>
                        <a:cs typeface="DM Sans" charset="0"/>
                      </a:endParaRPr>
                    </a:p>
                  </a:txBody>
                  <a:tcPr marL="62230" marR="62230" marT="62230" marB="62230"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500,000</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0.00</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1.00</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3866">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4</a:t>
                      </a:r>
                      <a:endParaRPr lang="en-US" sz="1400" dirty="0">
                        <a:latin typeface="DM Sans" charset="0"/>
                        <a:ea typeface="DM Sans" charset="0"/>
                        <a:cs typeface="DM Sans" charset="0"/>
                      </a:endParaRPr>
                    </a:p>
                  </a:txBody>
                  <a:tcPr marL="62230" marR="62230" marT="62230" marB="62230"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200,000</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0.33</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0.25</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3866">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6</a:t>
                      </a:r>
                      <a:endParaRPr lang="en-US" sz="1400" dirty="0">
                        <a:latin typeface="DM Sans" charset="0"/>
                        <a:ea typeface="DM Sans" charset="0"/>
                        <a:cs typeface="DM Sans" charset="0"/>
                      </a:endParaRPr>
                    </a:p>
                  </a:txBody>
                  <a:tcPr marL="62230" marR="62230" marT="62230" marB="62230"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100,000</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0.56</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0.00</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3866">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10</a:t>
                      </a:r>
                      <a:endParaRPr lang="en-US" sz="1400" dirty="0">
                        <a:latin typeface="DM Sans" charset="0"/>
                        <a:ea typeface="DM Sans" charset="0"/>
                        <a:cs typeface="DM Sans" charset="0"/>
                      </a:endParaRPr>
                    </a:p>
                  </a:txBody>
                  <a:tcPr marL="62230" marR="62230" marT="62230" marB="62230"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400,000</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1.00</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0.75</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8" name="Text 5"/>
          <p:cNvSpPr/>
          <p:nvPr/>
        </p:nvSpPr>
        <p:spPr>
          <a:xfrm>
            <a:off x="812767" y="6289030"/>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DM Sans" pitchFamily="34" charset="0"/>
                <a:ea typeface="DM Sans" pitchFamily="34" charset="-122"/>
                <a:cs typeface="DM Sans" pitchFamily="34" charset="-120"/>
              </a:rPr>
              <a:t>Part 2 Adding new columns</a:t>
            </a:r>
            <a:endParaRPr lang="en-US" sz="1200" dirty="0"/>
          </a:p>
        </p:txBody>
      </p:sp>
      <p:sp>
        <p:nvSpPr>
          <p:cNvPr id="9" name="Text 6"/>
          <p:cNvSpPr/>
          <p:nvPr/>
        </p:nvSpPr>
        <p:spPr>
          <a:xfrm>
            <a:off x="10058433" y="6289030"/>
            <a:ext cx="1320800" cy="23877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748B"/>
                </a:solidFill>
                <a:latin typeface="DM Sans" pitchFamily="34" charset="0"/>
                <a:ea typeface="DM Sans" pitchFamily="34" charset="-122"/>
                <a:cs typeface="DM Sans" pitchFamily="34" charset="-120"/>
              </a:rPr>
              <a:t>21</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67" y="508000"/>
            <a:ext cx="10883461"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5C"/>
                </a:solidFill>
                <a:latin typeface="DM Sans" pitchFamily="34" charset="0"/>
                <a:ea typeface="DM Sans" pitchFamily="34" charset="-122"/>
                <a:cs typeface="DM Sans" pitchFamily="34" charset="-120"/>
              </a:rPr>
              <a:t>Min-Max Scaling in a Chart</a:t>
            </a:r>
            <a:endParaRPr lang="en-US" sz="3200" dirty="0"/>
          </a:p>
        </p:txBody>
      </p:sp>
      <p:sp>
        <p:nvSpPr>
          <p:cNvPr id="3" name="Shape 1"/>
          <p:cNvSpPr/>
          <p:nvPr/>
        </p:nvSpPr>
        <p:spPr>
          <a:xfrm>
            <a:off x="812767" y="1076908"/>
            <a:ext cx="609589" cy="50767"/>
          </a:xfrm>
          <a:prstGeom prst="roundRect">
            <a:avLst>
              <a:gd name="adj" fmla="val 50000"/>
            </a:avLst>
          </a:prstGeom>
          <a:solidFill>
            <a:srgbClr val="2563EB"/>
          </a:solidFill>
          <a:ln/>
        </p:spPr>
      </p:sp>
      <p:sp>
        <p:nvSpPr>
          <p:cNvPr id="4" name="Text 2"/>
          <p:cNvSpPr/>
          <p:nvPr/>
        </p:nvSpPr>
        <p:spPr>
          <a:xfrm>
            <a:off x="856201" y="1330846"/>
            <a:ext cx="10832407" cy="1088198"/>
          </a:xfrm>
          <a:prstGeom prst="rect">
            <a:avLst/>
          </a:prstGeom>
          <a:noFill/>
          <a:ln/>
        </p:spPr>
        <p:txBody>
          <a:bodyPr wrap="square" lIns="0" tIns="0" rIns="0" bIns="0" rtlCol="0" anchor="t">
            <a:normAutofit/>
          </a:bodyPr>
          <a:lstStyle/>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Before: the horizontal and vertical ranges differ greatly</a:t>
            </a:r>
            <a:endParaRPr lang="en-US" sz="1800" dirty="0"/>
          </a:p>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After: both axes fall within 0 to 1</a:t>
            </a:r>
            <a:endParaRPr lang="en-US" sz="1800" dirty="0"/>
          </a:p>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The positions of the points relative to each other (the shape) are preserved</a:t>
            </a:r>
            <a:endParaRPr lang="en-US" sz="1800" dirty="0"/>
          </a:p>
        </p:txBody>
      </p:sp>
      <p:sp>
        <p:nvSpPr>
          <p:cNvPr id="5" name="Shape 3"/>
          <p:cNvSpPr/>
          <p:nvPr/>
        </p:nvSpPr>
        <p:spPr>
          <a:xfrm>
            <a:off x="819117" y="2603178"/>
            <a:ext cx="5168944" cy="2865856"/>
          </a:xfrm>
          <a:prstGeom prst="roundRect">
            <a:avLst>
              <a:gd name="adj" fmla="val 4210"/>
            </a:avLst>
          </a:prstGeom>
          <a:solidFill>
            <a:srgbClr val="F1F6FE"/>
          </a:solidFill>
          <a:ln w="12700">
            <a:solidFill>
              <a:srgbClr val="CFE0FA"/>
            </a:solidFill>
            <a:prstDash val="solid"/>
          </a:ln>
        </p:spPr>
      </p:sp>
      <p:sp>
        <p:nvSpPr>
          <p:cNvPr id="6" name="Text 4"/>
          <p:cNvSpPr/>
          <p:nvPr/>
        </p:nvSpPr>
        <p:spPr>
          <a:xfrm>
            <a:off x="1077350" y="2785170"/>
            <a:ext cx="4792052"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Before</a:t>
            </a:r>
            <a:endParaRPr lang="en-US" sz="1400" dirty="0"/>
          </a:p>
        </p:txBody>
      </p:sp>
      <p:pic>
        <p:nvPicPr>
          <p:cNvPr id="7" name="Image 0" descr="Scatter plot before scaling: four points for age and price">    </p:cNvPr>
          <p:cNvPicPr>
            <a:picLocks noChangeAspect="1"/>
          </p:cNvPicPr>
          <p:nvPr/>
        </p:nvPicPr>
        <p:blipFill>
          <a:blip r:embed="rId1"/>
          <a:srcRect l="0" r="0" t="0" b="0"/>
          <a:stretch/>
        </p:blipFill>
        <p:spPr>
          <a:xfrm>
            <a:off x="1077350" y="3074727"/>
            <a:ext cx="4445000" cy="1905000"/>
          </a:xfrm>
          <a:prstGeom prst="rect">
            <a:avLst/>
          </a:prstGeom>
        </p:spPr>
      </p:pic>
      <p:sp>
        <p:nvSpPr>
          <p:cNvPr id="8" name="Text 5"/>
          <p:cNvSpPr/>
          <p:nvPr/>
        </p:nvSpPr>
        <p:spPr>
          <a:xfrm>
            <a:off x="1077350" y="5055902"/>
            <a:ext cx="4792052" cy="25652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155"/>
                </a:solidFill>
                <a:latin typeface="DM Sans" pitchFamily="34" charset="0"/>
                <a:ea typeface="DM Sans" pitchFamily="34" charset="-122"/>
                <a:cs typeface="DM Sans" pitchFamily="34" charset="-120"/>
              </a:rPr>
              <a:t>Horizontal: age (1–10) / Vertical: price (100k–500k)</a:t>
            </a:r>
            <a:endParaRPr lang="en-US" sz="1300" dirty="0"/>
          </a:p>
        </p:txBody>
      </p:sp>
      <p:sp>
        <p:nvSpPr>
          <p:cNvPr id="9" name="Shape 6"/>
          <p:cNvSpPr/>
          <p:nvPr/>
        </p:nvSpPr>
        <p:spPr>
          <a:xfrm>
            <a:off x="6203939" y="2603178"/>
            <a:ext cx="5168944" cy="2865856"/>
          </a:xfrm>
          <a:prstGeom prst="roundRect">
            <a:avLst>
              <a:gd name="adj" fmla="val 4210"/>
            </a:avLst>
          </a:prstGeom>
          <a:solidFill>
            <a:srgbClr val="F1F6FE"/>
          </a:solidFill>
          <a:ln w="12700">
            <a:solidFill>
              <a:srgbClr val="CFE0FA"/>
            </a:solidFill>
            <a:prstDash val="solid"/>
          </a:ln>
        </p:spPr>
      </p:sp>
      <p:sp>
        <p:nvSpPr>
          <p:cNvPr id="10" name="Text 7"/>
          <p:cNvSpPr/>
          <p:nvPr/>
        </p:nvSpPr>
        <p:spPr>
          <a:xfrm>
            <a:off x="6462173" y="2785170"/>
            <a:ext cx="4792052"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After</a:t>
            </a:r>
            <a:endParaRPr lang="en-US" sz="1400" dirty="0"/>
          </a:p>
        </p:txBody>
      </p:sp>
      <p:pic>
        <p:nvPicPr>
          <p:cNvPr id="11" name="Image 1" descr="Scatter plot after scaling: the same four points, with age and price both within 0 to 1">    </p:cNvPr>
          <p:cNvPicPr>
            <a:picLocks noChangeAspect="1"/>
          </p:cNvPicPr>
          <p:nvPr/>
        </p:nvPicPr>
        <p:blipFill>
          <a:blip r:embed="rId2"/>
          <a:srcRect l="0" r="0" t="0" b="0"/>
          <a:stretch/>
        </p:blipFill>
        <p:spPr>
          <a:xfrm>
            <a:off x="6462173" y="3074727"/>
            <a:ext cx="4445000" cy="1905000"/>
          </a:xfrm>
          <a:prstGeom prst="rect">
            <a:avLst/>
          </a:prstGeom>
        </p:spPr>
      </p:pic>
      <p:sp>
        <p:nvSpPr>
          <p:cNvPr id="12" name="Text 8"/>
          <p:cNvSpPr/>
          <p:nvPr/>
        </p:nvSpPr>
        <p:spPr>
          <a:xfrm>
            <a:off x="6462173" y="5055902"/>
            <a:ext cx="4792052" cy="25652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34155"/>
                </a:solidFill>
                <a:latin typeface="DM Sans" pitchFamily="34" charset="0"/>
                <a:ea typeface="DM Sans" pitchFamily="34" charset="-122"/>
                <a:cs typeface="DM Sans" pitchFamily="34" charset="-120"/>
              </a:rPr>
              <a:t>Horizontal: age (0–1) / Vertical: price (0–1)</a:t>
            </a:r>
            <a:endParaRPr lang="en-US" sz="1300" dirty="0"/>
          </a:p>
        </p:txBody>
      </p:sp>
      <p:sp>
        <p:nvSpPr>
          <p:cNvPr id="13" name="Text 9"/>
          <p:cNvSpPr/>
          <p:nvPr/>
        </p:nvSpPr>
        <p:spPr>
          <a:xfrm>
            <a:off x="812767" y="6289030"/>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DM Sans" pitchFamily="34" charset="0"/>
                <a:ea typeface="DM Sans" pitchFamily="34" charset="-122"/>
                <a:cs typeface="DM Sans" pitchFamily="34" charset="-120"/>
              </a:rPr>
              <a:t>Part 2 Adding new columns</a:t>
            </a:r>
            <a:endParaRPr lang="en-US" sz="1200" dirty="0"/>
          </a:p>
        </p:txBody>
      </p:sp>
      <p:sp>
        <p:nvSpPr>
          <p:cNvPr id="14" name="Text 10"/>
          <p:cNvSpPr/>
          <p:nvPr/>
        </p:nvSpPr>
        <p:spPr>
          <a:xfrm>
            <a:off x="10058433" y="6289030"/>
            <a:ext cx="1320800" cy="23877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748B"/>
                </a:solidFill>
                <a:latin typeface="DM Sans" pitchFamily="34" charset="0"/>
                <a:ea typeface="DM Sans" pitchFamily="34" charset="-122"/>
                <a:cs typeface="DM Sans" pitchFamily="34" charset="-120"/>
              </a:rPr>
              <a:t>22</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67" y="508000"/>
            <a:ext cx="10883461"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5C"/>
                </a:solidFill>
                <a:latin typeface="DM Sans" pitchFamily="34" charset="0"/>
                <a:ea typeface="DM Sans" pitchFamily="34" charset="-122"/>
                <a:cs typeface="DM Sans" pitchFamily="34" charset="-120"/>
              </a:rPr>
              <a:t>Transform: Standardization</a:t>
            </a:r>
            <a:endParaRPr lang="en-US" sz="3200" dirty="0"/>
          </a:p>
        </p:txBody>
      </p:sp>
      <p:sp>
        <p:nvSpPr>
          <p:cNvPr id="3" name="Shape 1"/>
          <p:cNvSpPr/>
          <p:nvPr/>
        </p:nvSpPr>
        <p:spPr>
          <a:xfrm>
            <a:off x="812767" y="1076908"/>
            <a:ext cx="609589" cy="50767"/>
          </a:xfrm>
          <a:prstGeom prst="roundRect">
            <a:avLst>
              <a:gd name="adj" fmla="val 50000"/>
            </a:avLst>
          </a:prstGeom>
          <a:solidFill>
            <a:srgbClr val="2563EB"/>
          </a:solidFill>
          <a:ln/>
        </p:spPr>
      </p:sp>
      <p:sp>
        <p:nvSpPr>
          <p:cNvPr id="4" name="Text 2"/>
          <p:cNvSpPr/>
          <p:nvPr/>
        </p:nvSpPr>
        <p:spPr>
          <a:xfrm>
            <a:off x="849089" y="1356258"/>
            <a:ext cx="10839519" cy="1147399"/>
          </a:xfrm>
          <a:prstGeom prst="rect">
            <a:avLst/>
          </a:prstGeom>
          <a:noFill/>
          <a:ln/>
        </p:spPr>
        <p:txBody>
          <a:bodyPr wrap="square" lIns="0" tIns="0" rIns="0" bIns="0" rtlCol="0" anchor="t">
            <a:normAutofit/>
          </a:bodyPr>
          <a:lstStyle/>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Rescale every feature to mean 0 and standard deviation 1</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The range is not fixed (for example, −1.3 to +1.45)</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Unlike min-max scaling, values need not fall within 0 to 1</a:t>
            </a:r>
            <a:endParaRPr lang="en-US" sz="1900" dirty="0"/>
          </a:p>
        </p:txBody>
      </p:sp>
      <p:sp>
        <p:nvSpPr>
          <p:cNvPr id="5" name="Shape 3"/>
          <p:cNvSpPr/>
          <p:nvPr/>
        </p:nvSpPr>
        <p:spPr>
          <a:xfrm>
            <a:off x="819117" y="2713199"/>
            <a:ext cx="10553767" cy="2090131"/>
          </a:xfrm>
          <a:prstGeom prst="roundRect">
            <a:avLst>
              <a:gd name="adj" fmla="val 5772"/>
            </a:avLst>
          </a:prstGeom>
          <a:solidFill>
            <a:srgbClr val="F1F6FE"/>
          </a:solidFill>
          <a:ln w="12700">
            <a:solidFill>
              <a:srgbClr val="CFE0FA"/>
            </a:solidFill>
            <a:prstDash val="solid"/>
          </a:ln>
        </p:spPr>
      </p:sp>
      <p:sp>
        <p:nvSpPr>
          <p:cNvPr id="6" name="Text 4"/>
          <p:cNvSpPr/>
          <p:nvPr/>
        </p:nvSpPr>
        <p:spPr>
          <a:xfrm>
            <a:off x="1102706" y="2946016"/>
            <a:ext cx="10286186"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Compared with min-max scaling</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113290" y="3258832"/>
          <a:ext cx="9976005" cy="1311672"/>
        </p:xfrm>
        <a:graphic>
          <a:graphicData uri="http://schemas.openxmlformats.org/drawingml/2006/table">
            <a:tbl>
              <a:tblPr/>
              <a:tblGrid>
                <a:gridCol w="2394241"/>
                <a:gridCol w="3790882"/>
                <a:gridCol w="3790882"/>
              </a:tblGrid>
              <a:tr h="437224">
                <a:tc>
                  <a:txBody>
                    <a:bodyPr/>
                    <a:lstStyle/>
                    <a:p>
                      <a:pPr indent="0" marL="0">
                        <a:lnSpc>
                          <a:spcPts val="2240"/>
                        </a:lnSpc>
                        <a:buNone/>
                      </a:pPr>
                      <a:r>
                        <a:rPr lang="en-US" sz="1600" b="1" dirty="0">
                          <a:solidFill>
                            <a:srgbClr val="0F2A5C"/>
                          </a:solidFill>
                          <a:latin typeface="DM Sans" pitchFamily="34" charset="0"/>
                          <a:ea typeface="DM Sans" pitchFamily="34" charset="-122"/>
                          <a:cs typeface="DM Sans" pitchFamily="34" charset="-120"/>
                        </a:rPr>
                        <a:t>Item</a:t>
                      </a:r>
                      <a:endParaRPr lang="en-US" sz="1600" dirty="0">
                        <a:latin typeface="DM Sans" charset="0"/>
                        <a:ea typeface="DM Sans" charset="0"/>
                        <a:cs typeface="DM Sans" charset="0"/>
                      </a:endParaRPr>
                    </a:p>
                  </a:txBody>
                  <a:tcPr marL="71120" marR="71120" marT="71120" marB="71120" anchor="t">
                    <a:lnL w="12700" cap="flat" cmpd="sng" algn="ctr">
                      <a:solidFill>
                        <a:srgbClr val="C0C4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2240"/>
                        </a:lnSpc>
                        <a:buNone/>
                      </a:pPr>
                      <a:r>
                        <a:rPr lang="en-US" sz="1600" b="1" dirty="0">
                          <a:solidFill>
                            <a:srgbClr val="0F2A5C"/>
                          </a:solidFill>
                          <a:latin typeface="DM Sans" pitchFamily="34" charset="0"/>
                          <a:ea typeface="DM Sans" pitchFamily="34" charset="-122"/>
                          <a:cs typeface="DM Sans" pitchFamily="34" charset="-120"/>
                        </a:rPr>
                        <a:t>Min-max scaling</a:t>
                      </a:r>
                      <a:endParaRPr lang="en-US" sz="1600" dirty="0">
                        <a:latin typeface="DM Sans" charset="0"/>
                        <a:ea typeface="DM Sans" charset="0"/>
                        <a:cs typeface="DM Sans" charset="0"/>
                      </a:endParaRPr>
                    </a:p>
                  </a:txBody>
                  <a:tcPr marL="71120" marR="71120" marT="71120" marB="71120"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2240"/>
                        </a:lnSpc>
                        <a:buNone/>
                      </a:pPr>
                      <a:r>
                        <a:rPr lang="en-US" sz="1600" b="1" dirty="0">
                          <a:solidFill>
                            <a:srgbClr val="0F2A5C"/>
                          </a:solidFill>
                          <a:latin typeface="DM Sans" pitchFamily="34" charset="0"/>
                          <a:ea typeface="DM Sans" pitchFamily="34" charset="-122"/>
                          <a:cs typeface="DM Sans" pitchFamily="34" charset="-120"/>
                        </a:rPr>
                        <a:t>Standardization</a:t>
                      </a:r>
                      <a:endParaRPr lang="en-US" sz="1600" dirty="0">
                        <a:latin typeface="DM Sans" charset="0"/>
                        <a:ea typeface="DM Sans" charset="0"/>
                        <a:cs typeface="DM Sans" charset="0"/>
                      </a:endParaRPr>
                    </a:p>
                  </a:txBody>
                  <a:tcPr marL="71120" marR="71120" marT="71120" marB="71120"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r>
              <a:tr h="437224">
                <a:tc>
                  <a:txBody>
                    <a:bodyPr/>
                    <a:lstStyle/>
                    <a:p>
                      <a:pPr indent="0" marL="0">
                        <a:lnSpc>
                          <a:spcPts val="2240"/>
                        </a:lnSpc>
                        <a:buNone/>
                      </a:pPr>
                      <a:r>
                        <a:rPr lang="en-US" sz="1600" dirty="0">
                          <a:solidFill>
                            <a:srgbClr val="1E293B"/>
                          </a:solidFill>
                          <a:latin typeface="DM Sans" pitchFamily="34" charset="0"/>
                          <a:ea typeface="DM Sans" pitchFamily="34" charset="-122"/>
                          <a:cs typeface="DM Sans" pitchFamily="34" charset="-120"/>
                        </a:rPr>
                        <a:t>How it scales</a:t>
                      </a:r>
                      <a:endParaRPr lang="en-US" sz="1600" dirty="0">
                        <a:latin typeface="DM Sans" charset="0"/>
                        <a:ea typeface="DM Sans" charset="0"/>
                        <a:cs typeface="DM Sans" charset="0"/>
                      </a:endParaRPr>
                    </a:p>
                  </a:txBody>
                  <a:tcPr marL="71120" marR="71120" marT="71120" marB="71120"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DM Sans" pitchFamily="34" charset="0"/>
                          <a:ea typeface="DM Sans" pitchFamily="34" charset="-122"/>
                          <a:cs typeface="DM Sans" pitchFamily="34" charset="-120"/>
                        </a:rPr>
                        <a:t>Min 0, max 1</a:t>
                      </a:r>
                      <a:endParaRPr lang="en-US" sz="1600" dirty="0">
                        <a:latin typeface="DM Sans" charset="0"/>
                        <a:ea typeface="DM Sans" charset="0"/>
                        <a:cs typeface="DM Sans"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DM Sans" pitchFamily="34" charset="0"/>
                          <a:ea typeface="DM Sans" pitchFamily="34" charset="-122"/>
                          <a:cs typeface="DM Sans" pitchFamily="34" charset="-120"/>
                        </a:rPr>
                        <a:t>Mean 0, std dev 1</a:t>
                      </a:r>
                      <a:endParaRPr lang="en-US" sz="1600" dirty="0">
                        <a:latin typeface="DM Sans" charset="0"/>
                        <a:ea typeface="DM Sans" charset="0"/>
                        <a:cs typeface="DM Sans"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37224">
                <a:tc>
                  <a:txBody>
                    <a:bodyPr/>
                    <a:lstStyle/>
                    <a:p>
                      <a:pPr indent="0" marL="0">
                        <a:lnSpc>
                          <a:spcPts val="2240"/>
                        </a:lnSpc>
                        <a:buNone/>
                      </a:pPr>
                      <a:r>
                        <a:rPr lang="en-US" sz="1600" dirty="0">
                          <a:solidFill>
                            <a:srgbClr val="1E293B"/>
                          </a:solidFill>
                          <a:latin typeface="DM Sans" pitchFamily="34" charset="0"/>
                          <a:ea typeface="DM Sans" pitchFamily="34" charset="-122"/>
                          <a:cs typeface="DM Sans" pitchFamily="34" charset="-120"/>
                        </a:rPr>
                        <a:t>Range</a:t>
                      </a:r>
                      <a:endParaRPr lang="en-US" sz="1600" dirty="0">
                        <a:latin typeface="DM Sans" charset="0"/>
                        <a:ea typeface="DM Sans" charset="0"/>
                        <a:cs typeface="DM Sans" charset="0"/>
                      </a:endParaRPr>
                    </a:p>
                  </a:txBody>
                  <a:tcPr marL="71120" marR="71120" marT="71120" marB="71120"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DM Sans" pitchFamily="34" charset="0"/>
                          <a:ea typeface="DM Sans" pitchFamily="34" charset="-122"/>
                          <a:cs typeface="DM Sans" pitchFamily="34" charset="-120"/>
                        </a:rPr>
                        <a:t>0 to 1 (fixed)</a:t>
                      </a:r>
                      <a:endParaRPr lang="en-US" sz="1600" dirty="0">
                        <a:latin typeface="DM Sans" charset="0"/>
                        <a:ea typeface="DM Sans" charset="0"/>
                        <a:cs typeface="DM Sans"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DM Sans" pitchFamily="34" charset="0"/>
                          <a:ea typeface="DM Sans" pitchFamily="34" charset="-122"/>
                          <a:cs typeface="DM Sans" pitchFamily="34" charset="-120"/>
                        </a:rPr>
                        <a:t>Not fixed</a:t>
                      </a:r>
                      <a:endParaRPr lang="en-US" sz="1600" dirty="0">
                        <a:latin typeface="DM Sans" charset="0"/>
                        <a:ea typeface="DM Sans" charset="0"/>
                        <a:cs typeface="DM Sans"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8" name="Text 5"/>
          <p:cNvSpPr/>
          <p:nvPr/>
        </p:nvSpPr>
        <p:spPr>
          <a:xfrm>
            <a:off x="812767" y="6289030"/>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DM Sans" pitchFamily="34" charset="0"/>
                <a:ea typeface="DM Sans" pitchFamily="34" charset="-122"/>
                <a:cs typeface="DM Sans" pitchFamily="34" charset="-120"/>
              </a:rPr>
              <a:t>Part 2 Adding new columns</a:t>
            </a:r>
            <a:endParaRPr lang="en-US" sz="1200" dirty="0"/>
          </a:p>
        </p:txBody>
      </p:sp>
      <p:sp>
        <p:nvSpPr>
          <p:cNvPr id="9" name="Text 6"/>
          <p:cNvSpPr/>
          <p:nvPr/>
        </p:nvSpPr>
        <p:spPr>
          <a:xfrm>
            <a:off x="10058433" y="6289030"/>
            <a:ext cx="1320800" cy="23877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748B"/>
                </a:solidFill>
                <a:latin typeface="DM Sans" pitchFamily="34" charset="0"/>
                <a:ea typeface="DM Sans" pitchFamily="34" charset="-122"/>
                <a:cs typeface="DM Sans" pitchFamily="34" charset="-120"/>
              </a:rPr>
              <a:t>23</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67" y="508000"/>
            <a:ext cx="10883461"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5C"/>
                </a:solidFill>
                <a:latin typeface="DM Sans" pitchFamily="34" charset="0"/>
                <a:ea typeface="DM Sans" pitchFamily="34" charset="-122"/>
                <a:cs typeface="DM Sans" pitchFamily="34" charset="-120"/>
              </a:rPr>
              <a:t>Standardization Example</a:t>
            </a:r>
            <a:endParaRPr lang="en-US" sz="3200" dirty="0"/>
          </a:p>
        </p:txBody>
      </p:sp>
      <p:sp>
        <p:nvSpPr>
          <p:cNvPr id="3" name="Shape 1"/>
          <p:cNvSpPr/>
          <p:nvPr/>
        </p:nvSpPr>
        <p:spPr>
          <a:xfrm>
            <a:off x="812767" y="1076908"/>
            <a:ext cx="609589" cy="50767"/>
          </a:xfrm>
          <a:prstGeom prst="roundRect">
            <a:avLst>
              <a:gd name="adj" fmla="val 50000"/>
            </a:avLst>
          </a:prstGeom>
          <a:solidFill>
            <a:srgbClr val="2563EB"/>
          </a:solidFill>
          <a:ln/>
        </p:spPr>
      </p:sp>
      <p:sp>
        <p:nvSpPr>
          <p:cNvPr id="4" name="Text 2"/>
          <p:cNvSpPr/>
          <p:nvPr/>
        </p:nvSpPr>
        <p:spPr>
          <a:xfrm>
            <a:off x="849089" y="1356258"/>
            <a:ext cx="10839519" cy="1147399"/>
          </a:xfrm>
          <a:prstGeom prst="rect">
            <a:avLst/>
          </a:prstGeom>
          <a:noFill/>
          <a:ln/>
        </p:spPr>
        <p:txBody>
          <a:bodyPr wrap="square" lIns="0" tIns="0" rIns="0" bIns="0" rtlCol="0" anchor="t">
            <a:normAutofit/>
          </a:bodyPr>
          <a:lstStyle/>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Values above the mean become positive; values below become negative</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Age and price can be compared on one scale</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Values spread out, for example from −1.3 to +1.45</a:t>
            </a:r>
            <a:endParaRPr lang="en-US" sz="1900" dirty="0"/>
          </a:p>
        </p:txBody>
      </p:sp>
      <p:sp>
        <p:nvSpPr>
          <p:cNvPr id="5" name="Shape 3"/>
          <p:cNvSpPr/>
          <p:nvPr/>
        </p:nvSpPr>
        <p:spPr>
          <a:xfrm>
            <a:off x="819117" y="2713199"/>
            <a:ext cx="10553767" cy="2697791"/>
          </a:xfrm>
          <a:prstGeom prst="roundRect">
            <a:avLst>
              <a:gd name="adj" fmla="val 4472"/>
            </a:avLst>
          </a:prstGeom>
          <a:solidFill>
            <a:srgbClr val="F1F6FE"/>
          </a:solidFill>
          <a:ln w="12700">
            <a:solidFill>
              <a:srgbClr val="CFE0FA"/>
            </a:solidFill>
            <a:prstDash val="solid"/>
          </a:ln>
        </p:spPr>
      </p:sp>
      <p:sp>
        <p:nvSpPr>
          <p:cNvPr id="6" name="Text 4"/>
          <p:cNvSpPr/>
          <p:nvPr/>
        </p:nvSpPr>
        <p:spPr>
          <a:xfrm>
            <a:off x="1102706" y="2946016"/>
            <a:ext cx="10286186"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Before and after</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113290" y="3258832"/>
          <a:ext cx="9976005" cy="1919332"/>
        </p:xfrm>
        <a:graphic>
          <a:graphicData uri="http://schemas.openxmlformats.org/drawingml/2006/table">
            <a:tbl>
              <a:tblPr/>
              <a:tblGrid>
                <a:gridCol w="2094961"/>
                <a:gridCol w="2394241"/>
                <a:gridCol w="997600"/>
                <a:gridCol w="2094961"/>
                <a:gridCol w="2394241"/>
              </a:tblGrid>
              <a:tr h="383866">
                <a:tc>
                  <a:txBody>
                    <a:bodyPr/>
                    <a:lstStyle/>
                    <a:p>
                      <a:pPr indent="0" marL="0">
                        <a:lnSpc>
                          <a:spcPts val="1960"/>
                        </a:lnSpc>
                        <a:buNone/>
                      </a:pPr>
                      <a:r>
                        <a:rPr lang="en-US" sz="1400" b="1" dirty="0">
                          <a:solidFill>
                            <a:srgbClr val="0F2A5C"/>
                          </a:solidFill>
                          <a:latin typeface="DM Sans" pitchFamily="34" charset="0"/>
                          <a:ea typeface="DM Sans" pitchFamily="34" charset="-122"/>
                          <a:cs typeface="DM Sans" pitchFamily="34" charset="-120"/>
                        </a:rPr>
                        <a:t>Age (before)</a:t>
                      </a:r>
                      <a:endParaRPr lang="en-US" sz="1400" dirty="0">
                        <a:latin typeface="DM Sans" charset="0"/>
                        <a:ea typeface="DM Sans" charset="0"/>
                        <a:cs typeface="DM Sans" charset="0"/>
                      </a:endParaRPr>
                    </a:p>
                  </a:txBody>
                  <a:tcPr marL="62230" marR="62230" marT="62230" marB="62230" anchor="t">
                    <a:lnL w="12700" cap="flat" cmpd="sng" algn="ctr">
                      <a:solidFill>
                        <a:srgbClr val="C0C4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1960"/>
                        </a:lnSpc>
                        <a:buNone/>
                      </a:pPr>
                      <a:r>
                        <a:rPr lang="en-US" sz="1400" b="1" dirty="0">
                          <a:solidFill>
                            <a:srgbClr val="0F2A5C"/>
                          </a:solidFill>
                          <a:latin typeface="DM Sans" pitchFamily="34" charset="0"/>
                          <a:ea typeface="DM Sans" pitchFamily="34" charset="-122"/>
                          <a:cs typeface="DM Sans" pitchFamily="34" charset="-120"/>
                        </a:rPr>
                        <a:t>Price (before)</a:t>
                      </a:r>
                      <a:endParaRPr lang="en-US" sz="1400" dirty="0">
                        <a:latin typeface="DM Sans" charset="0"/>
                        <a:ea typeface="DM Sans" charset="0"/>
                        <a:cs typeface="DM Sans" charset="0"/>
                      </a:endParaRPr>
                    </a:p>
                  </a:txBody>
                  <a:tcPr marL="62230" marR="62230" marT="62230" marB="62230"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1960"/>
                        </a:lnSpc>
                        <a:buNone/>
                      </a:pPr>
                      <a:r>
                        <a:rPr lang="en-US" sz="1400" b="1" dirty="0">
                          <a:solidFill>
                            <a:srgbClr val="0F2A5C"/>
                          </a:solidFill>
                          <a:latin typeface="DM Sans" pitchFamily="34" charset="0"/>
                          <a:ea typeface="DM Sans" pitchFamily="34" charset="-122"/>
                          <a:cs typeface="DM Sans" pitchFamily="34" charset="-120"/>
                        </a:rPr>
                        <a:t>→</a:t>
                      </a:r>
                      <a:endParaRPr lang="en-US" sz="1400" dirty="0">
                        <a:latin typeface="DM Sans" charset="0"/>
                        <a:ea typeface="DM Sans" charset="0"/>
                        <a:cs typeface="DM Sans" charset="0"/>
                      </a:endParaRPr>
                    </a:p>
                  </a:txBody>
                  <a:tcPr marL="62230" marR="62230" marT="62230" marB="62230"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1960"/>
                        </a:lnSpc>
                        <a:buNone/>
                      </a:pPr>
                      <a:r>
                        <a:rPr lang="en-US" sz="1400" b="1" dirty="0">
                          <a:solidFill>
                            <a:srgbClr val="0F2A5C"/>
                          </a:solidFill>
                          <a:latin typeface="DM Sans" pitchFamily="34" charset="0"/>
                          <a:ea typeface="DM Sans" pitchFamily="34" charset="-122"/>
                          <a:cs typeface="DM Sans" pitchFamily="34" charset="-120"/>
                        </a:rPr>
                        <a:t>Age (after)</a:t>
                      </a:r>
                      <a:endParaRPr lang="en-US" sz="1400" dirty="0">
                        <a:latin typeface="DM Sans" charset="0"/>
                        <a:ea typeface="DM Sans" charset="0"/>
                        <a:cs typeface="DM Sans" charset="0"/>
                      </a:endParaRPr>
                    </a:p>
                  </a:txBody>
                  <a:tcPr marL="62230" marR="62230" marT="62230" marB="62230"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1960"/>
                        </a:lnSpc>
                        <a:buNone/>
                      </a:pPr>
                      <a:r>
                        <a:rPr lang="en-US" sz="1400" b="1" dirty="0">
                          <a:solidFill>
                            <a:srgbClr val="0F2A5C"/>
                          </a:solidFill>
                          <a:latin typeface="DM Sans" pitchFamily="34" charset="0"/>
                          <a:ea typeface="DM Sans" pitchFamily="34" charset="-122"/>
                          <a:cs typeface="DM Sans" pitchFamily="34" charset="-120"/>
                        </a:rPr>
                        <a:t>Price (after)</a:t>
                      </a:r>
                      <a:endParaRPr lang="en-US" sz="1400" dirty="0">
                        <a:latin typeface="DM Sans" charset="0"/>
                        <a:ea typeface="DM Sans" charset="0"/>
                        <a:cs typeface="DM Sans" charset="0"/>
                      </a:endParaRPr>
                    </a:p>
                  </a:txBody>
                  <a:tcPr marL="62230" marR="62230" marT="62230" marB="62230"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r>
              <a:tr h="383866">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1</a:t>
                      </a:r>
                      <a:endParaRPr lang="en-US" sz="1400" dirty="0">
                        <a:latin typeface="DM Sans" charset="0"/>
                        <a:ea typeface="DM Sans" charset="0"/>
                        <a:cs typeface="DM Sans" charset="0"/>
                      </a:endParaRPr>
                    </a:p>
                  </a:txBody>
                  <a:tcPr marL="62230" marR="62230" marT="62230" marB="62230"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500,000</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−1.30</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+1.26</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3866">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4</a:t>
                      </a:r>
                      <a:endParaRPr lang="en-US" sz="1400" dirty="0">
                        <a:latin typeface="DM Sans" charset="0"/>
                        <a:ea typeface="DM Sans" charset="0"/>
                        <a:cs typeface="DM Sans" charset="0"/>
                      </a:endParaRPr>
                    </a:p>
                  </a:txBody>
                  <a:tcPr marL="62230" marR="62230" marT="62230" marB="62230"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200,000</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−0.38</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−0.63</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3866">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6</a:t>
                      </a:r>
                      <a:endParaRPr lang="en-US" sz="1400" dirty="0">
                        <a:latin typeface="DM Sans" charset="0"/>
                        <a:ea typeface="DM Sans" charset="0"/>
                        <a:cs typeface="DM Sans" charset="0"/>
                      </a:endParaRPr>
                    </a:p>
                  </a:txBody>
                  <a:tcPr marL="62230" marR="62230" marT="62230" marB="62230"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100,000</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+0.23</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−1.26</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3866">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10</a:t>
                      </a:r>
                      <a:endParaRPr lang="en-US" sz="1400" dirty="0">
                        <a:latin typeface="DM Sans" charset="0"/>
                        <a:ea typeface="DM Sans" charset="0"/>
                        <a:cs typeface="DM Sans" charset="0"/>
                      </a:endParaRPr>
                    </a:p>
                  </a:txBody>
                  <a:tcPr marL="62230" marR="62230" marT="62230" marB="62230"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400,000</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+1.45</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+0.63</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8" name="Text 5"/>
          <p:cNvSpPr/>
          <p:nvPr/>
        </p:nvSpPr>
        <p:spPr>
          <a:xfrm>
            <a:off x="812767" y="6289030"/>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DM Sans" pitchFamily="34" charset="0"/>
                <a:ea typeface="DM Sans" pitchFamily="34" charset="-122"/>
                <a:cs typeface="DM Sans" pitchFamily="34" charset="-120"/>
              </a:rPr>
              <a:t>Part 2 Adding new columns</a:t>
            </a:r>
            <a:endParaRPr lang="en-US" sz="1200" dirty="0"/>
          </a:p>
        </p:txBody>
      </p:sp>
      <p:sp>
        <p:nvSpPr>
          <p:cNvPr id="9" name="Text 6"/>
          <p:cNvSpPr/>
          <p:nvPr/>
        </p:nvSpPr>
        <p:spPr>
          <a:xfrm>
            <a:off x="10058433" y="6289030"/>
            <a:ext cx="1320800" cy="23877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748B"/>
                </a:solidFill>
                <a:latin typeface="DM Sans" pitchFamily="34" charset="0"/>
                <a:ea typeface="DM Sans" pitchFamily="34" charset="-122"/>
                <a:cs typeface="DM Sans" pitchFamily="34" charset="-120"/>
              </a:rPr>
              <a:t>24</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67" y="508000"/>
            <a:ext cx="10883461"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5C"/>
                </a:solidFill>
                <a:latin typeface="DM Sans" pitchFamily="34" charset="0"/>
                <a:ea typeface="DM Sans" pitchFamily="34" charset="-122"/>
                <a:cs typeface="DM Sans" pitchFamily="34" charset="-120"/>
              </a:rPr>
              <a:t>Creating New Columns</a:t>
            </a:r>
            <a:endParaRPr lang="en-US" sz="3200" dirty="0"/>
          </a:p>
        </p:txBody>
      </p:sp>
      <p:sp>
        <p:nvSpPr>
          <p:cNvPr id="3" name="Shape 1"/>
          <p:cNvSpPr/>
          <p:nvPr/>
        </p:nvSpPr>
        <p:spPr>
          <a:xfrm>
            <a:off x="812767" y="1076908"/>
            <a:ext cx="609589" cy="50767"/>
          </a:xfrm>
          <a:prstGeom prst="roundRect">
            <a:avLst>
              <a:gd name="adj" fmla="val 50000"/>
            </a:avLst>
          </a:prstGeom>
          <a:solidFill>
            <a:srgbClr val="2563EB"/>
          </a:solidFill>
          <a:ln/>
        </p:spPr>
      </p:sp>
      <p:sp>
        <p:nvSpPr>
          <p:cNvPr id="4" name="Text 2"/>
          <p:cNvSpPr/>
          <p:nvPr/>
        </p:nvSpPr>
        <p:spPr>
          <a:xfrm>
            <a:off x="849089" y="1356258"/>
            <a:ext cx="10839519" cy="1147399"/>
          </a:xfrm>
          <a:prstGeom prst="rect">
            <a:avLst/>
          </a:prstGeom>
          <a:noFill/>
          <a:ln/>
        </p:spPr>
        <p:txBody>
          <a:bodyPr wrap="square" lIns="0" tIns="0" rIns="0" bIns="0" rtlCol="0" anchor="t">
            <a:normAutofit/>
          </a:bodyPr>
          <a:lstStyle/>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Create new columns from raw data</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Type 1: create simply</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Type 2: aggregate features</a:t>
            </a:r>
            <a:endParaRPr lang="en-US" sz="1900" dirty="0"/>
          </a:p>
        </p:txBody>
      </p:sp>
      <p:sp>
        <p:nvSpPr>
          <p:cNvPr id="5" name="Shape 3"/>
          <p:cNvSpPr/>
          <p:nvPr/>
        </p:nvSpPr>
        <p:spPr>
          <a:xfrm>
            <a:off x="819117" y="2713199"/>
            <a:ext cx="10553767" cy="2090131"/>
          </a:xfrm>
          <a:prstGeom prst="roundRect">
            <a:avLst>
              <a:gd name="adj" fmla="val 5772"/>
            </a:avLst>
          </a:prstGeom>
          <a:solidFill>
            <a:srgbClr val="F1F6FE"/>
          </a:solidFill>
          <a:ln w="12700">
            <a:solidFill>
              <a:srgbClr val="CFE0FA"/>
            </a:solidFill>
            <a:prstDash val="solid"/>
          </a:ln>
        </p:spPr>
      </p:sp>
      <p:sp>
        <p:nvSpPr>
          <p:cNvPr id="6" name="Text 4"/>
          <p:cNvSpPr/>
          <p:nvPr/>
        </p:nvSpPr>
        <p:spPr>
          <a:xfrm>
            <a:off x="1102706" y="2946016"/>
            <a:ext cx="10286186"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Examples</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113290" y="3258832"/>
          <a:ext cx="9976005" cy="1311672"/>
        </p:xfrm>
        <a:graphic>
          <a:graphicData uri="http://schemas.openxmlformats.org/drawingml/2006/table">
            <a:tbl>
              <a:tblPr/>
              <a:tblGrid>
                <a:gridCol w="3391842"/>
                <a:gridCol w="6584163"/>
              </a:tblGrid>
              <a:tr h="437224">
                <a:tc>
                  <a:txBody>
                    <a:bodyPr/>
                    <a:lstStyle/>
                    <a:p>
                      <a:pPr indent="0" marL="0">
                        <a:lnSpc>
                          <a:spcPts val="2240"/>
                        </a:lnSpc>
                        <a:buNone/>
                      </a:pPr>
                      <a:r>
                        <a:rPr lang="en-US" sz="1600" b="1" dirty="0">
                          <a:solidFill>
                            <a:srgbClr val="0F2A5C"/>
                          </a:solidFill>
                          <a:latin typeface="DM Sans" pitchFamily="34" charset="0"/>
                          <a:ea typeface="DM Sans" pitchFamily="34" charset="-122"/>
                          <a:cs typeface="DM Sans" pitchFamily="34" charset="-120"/>
                        </a:rPr>
                        <a:t>Type</a:t>
                      </a:r>
                      <a:endParaRPr lang="en-US" sz="1600" dirty="0">
                        <a:latin typeface="DM Sans" charset="0"/>
                        <a:ea typeface="DM Sans" charset="0"/>
                        <a:cs typeface="DM Sans" charset="0"/>
                      </a:endParaRPr>
                    </a:p>
                  </a:txBody>
                  <a:tcPr marL="71120" marR="71120" marT="71120" marB="71120" anchor="t">
                    <a:lnL w="12700" cap="flat" cmpd="sng" algn="ctr">
                      <a:solidFill>
                        <a:srgbClr val="C0C4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2240"/>
                        </a:lnSpc>
                        <a:buNone/>
                      </a:pPr>
                      <a:r>
                        <a:rPr lang="en-US" sz="1600" b="1" dirty="0">
                          <a:solidFill>
                            <a:srgbClr val="0F2A5C"/>
                          </a:solidFill>
                          <a:latin typeface="DM Sans" pitchFamily="34" charset="0"/>
                          <a:ea typeface="DM Sans" pitchFamily="34" charset="-122"/>
                          <a:cs typeface="DM Sans" pitchFamily="34" charset="-120"/>
                        </a:rPr>
                        <a:t>Example</a:t>
                      </a:r>
                      <a:endParaRPr lang="en-US" sz="1600" dirty="0">
                        <a:latin typeface="DM Sans" charset="0"/>
                        <a:ea typeface="DM Sans" charset="0"/>
                        <a:cs typeface="DM Sans" charset="0"/>
                      </a:endParaRPr>
                    </a:p>
                  </a:txBody>
                  <a:tcPr marL="71120" marR="71120" marT="71120" marB="71120"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r>
              <a:tr h="437224">
                <a:tc>
                  <a:txBody>
                    <a:bodyPr/>
                    <a:lstStyle/>
                    <a:p>
                      <a:pPr indent="0" marL="0">
                        <a:lnSpc>
                          <a:spcPts val="2240"/>
                        </a:lnSpc>
                        <a:buNone/>
                      </a:pPr>
                      <a:r>
                        <a:rPr lang="en-US" sz="1600" dirty="0">
                          <a:solidFill>
                            <a:srgbClr val="1E293B"/>
                          </a:solidFill>
                          <a:latin typeface="DM Sans" pitchFamily="34" charset="0"/>
                          <a:ea typeface="DM Sans" pitchFamily="34" charset="-122"/>
                          <a:cs typeface="DM Sans" pitchFamily="34" charset="-120"/>
                        </a:rPr>
                        <a:t>Simple creation</a:t>
                      </a:r>
                      <a:endParaRPr lang="en-US" sz="1600" dirty="0">
                        <a:latin typeface="DM Sans" charset="0"/>
                        <a:ea typeface="DM Sans" charset="0"/>
                        <a:cs typeface="DM Sans" charset="0"/>
                      </a:endParaRPr>
                    </a:p>
                  </a:txBody>
                  <a:tcPr marL="71120" marR="71120" marT="71120" marB="71120"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DM Sans" pitchFamily="34" charset="0"/>
                          <a:ea typeface="DM Sans" pitchFamily="34" charset="-122"/>
                          <a:cs typeface="DM Sans" pitchFamily="34" charset="-120"/>
                        </a:rPr>
                        <a:t>Submitted ÷ total → submission rate</a:t>
                      </a:r>
                      <a:endParaRPr lang="en-US" sz="1600" dirty="0">
                        <a:latin typeface="DM Sans" charset="0"/>
                        <a:ea typeface="DM Sans" charset="0"/>
                        <a:cs typeface="DM Sans"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37224">
                <a:tc>
                  <a:txBody>
                    <a:bodyPr/>
                    <a:lstStyle/>
                    <a:p>
                      <a:pPr indent="0" marL="0">
                        <a:lnSpc>
                          <a:spcPts val="2240"/>
                        </a:lnSpc>
                        <a:buNone/>
                      </a:pPr>
                      <a:r>
                        <a:rPr lang="en-US" sz="1600" dirty="0">
                          <a:solidFill>
                            <a:srgbClr val="1E293B"/>
                          </a:solidFill>
                          <a:latin typeface="DM Sans" pitchFamily="34" charset="0"/>
                          <a:ea typeface="DM Sans" pitchFamily="34" charset="-122"/>
                          <a:cs typeface="DM Sans" pitchFamily="34" charset="-120"/>
                        </a:rPr>
                        <a:t>Aggregate features</a:t>
                      </a:r>
                      <a:endParaRPr lang="en-US" sz="1600" dirty="0">
                        <a:latin typeface="DM Sans" charset="0"/>
                        <a:ea typeface="DM Sans" charset="0"/>
                        <a:cs typeface="DM Sans" charset="0"/>
                      </a:endParaRPr>
                    </a:p>
                  </a:txBody>
                  <a:tcPr marL="71120" marR="71120" marT="71120" marB="71120"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DM Sans" pitchFamily="34" charset="0"/>
                          <a:ea typeface="DM Sans" pitchFamily="34" charset="-122"/>
                          <a:cs typeface="DM Sans" pitchFamily="34" charset="-120"/>
                        </a:rPr>
                        <a:t>Purchase history → average spend</a:t>
                      </a:r>
                      <a:endParaRPr lang="en-US" sz="1600" dirty="0">
                        <a:latin typeface="DM Sans" charset="0"/>
                        <a:ea typeface="DM Sans" charset="0"/>
                        <a:cs typeface="DM Sans"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8" name="Text 5"/>
          <p:cNvSpPr/>
          <p:nvPr/>
        </p:nvSpPr>
        <p:spPr>
          <a:xfrm>
            <a:off x="812767" y="6289030"/>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DM Sans" pitchFamily="34" charset="0"/>
                <a:ea typeface="DM Sans" pitchFamily="34" charset="-122"/>
                <a:cs typeface="DM Sans" pitchFamily="34" charset="-120"/>
              </a:rPr>
              <a:t>Part 2 Adding new columns</a:t>
            </a:r>
            <a:endParaRPr lang="en-US" sz="1200" dirty="0"/>
          </a:p>
        </p:txBody>
      </p:sp>
      <p:sp>
        <p:nvSpPr>
          <p:cNvPr id="9" name="Text 6"/>
          <p:cNvSpPr/>
          <p:nvPr/>
        </p:nvSpPr>
        <p:spPr>
          <a:xfrm>
            <a:off x="10058433" y="6289030"/>
            <a:ext cx="1320800" cy="23877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748B"/>
                </a:solidFill>
                <a:latin typeface="DM Sans" pitchFamily="34" charset="0"/>
                <a:ea typeface="DM Sans" pitchFamily="34" charset="-122"/>
                <a:cs typeface="DM Sans" pitchFamily="34" charset="-120"/>
              </a:rPr>
              <a:t>25</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67" y="508000"/>
            <a:ext cx="10883461"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5C"/>
                </a:solidFill>
                <a:latin typeface="DM Sans" pitchFamily="34" charset="0"/>
                <a:ea typeface="DM Sans" pitchFamily="34" charset="-122"/>
                <a:cs typeface="DM Sans" pitchFamily="34" charset="-120"/>
              </a:rPr>
              <a:t>Creating a New Column Simply</a:t>
            </a:r>
            <a:endParaRPr lang="en-US" sz="3200" dirty="0"/>
          </a:p>
        </p:txBody>
      </p:sp>
      <p:sp>
        <p:nvSpPr>
          <p:cNvPr id="3" name="Shape 1"/>
          <p:cNvSpPr/>
          <p:nvPr/>
        </p:nvSpPr>
        <p:spPr>
          <a:xfrm>
            <a:off x="812767" y="1076908"/>
            <a:ext cx="609589" cy="50767"/>
          </a:xfrm>
          <a:prstGeom prst="roundRect">
            <a:avLst>
              <a:gd name="adj" fmla="val 50000"/>
            </a:avLst>
          </a:prstGeom>
          <a:solidFill>
            <a:srgbClr val="2563EB"/>
          </a:solidFill>
          <a:ln/>
        </p:spPr>
      </p:sp>
      <p:sp>
        <p:nvSpPr>
          <p:cNvPr id="4" name="Text 2"/>
          <p:cNvSpPr/>
          <p:nvPr/>
        </p:nvSpPr>
        <p:spPr>
          <a:xfrm>
            <a:off x="856201" y="1356258"/>
            <a:ext cx="10832407" cy="1442464"/>
          </a:xfrm>
          <a:prstGeom prst="rect">
            <a:avLst/>
          </a:prstGeom>
          <a:noFill/>
          <a:ln/>
        </p:spPr>
        <p:txBody>
          <a:bodyPr wrap="square" lIns="0" tIns="0" rIns="0" bIns="0" rtlCol="0" anchor="t">
            <a:normAutofit/>
          </a:bodyPr>
          <a:lstStyle/>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Scenario: a model that predicts student exam scores</a:t>
            </a:r>
            <a:endParaRPr lang="en-US" sz="1800" dirty="0"/>
          </a:p>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Combine existing columns into a new feature</a:t>
            </a:r>
            <a:endParaRPr lang="en-US" sz="1800" dirty="0"/>
          </a:p>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A submission rate says more than submitted and total separately</a:t>
            </a:r>
            <a:endParaRPr lang="en-US" sz="1800" dirty="0"/>
          </a:p>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The two original columns can be dropped</a:t>
            </a:r>
            <a:endParaRPr lang="en-US" sz="1800" dirty="0"/>
          </a:p>
        </p:txBody>
      </p:sp>
      <p:sp>
        <p:nvSpPr>
          <p:cNvPr id="5" name="Shape 3"/>
          <p:cNvSpPr/>
          <p:nvPr/>
        </p:nvSpPr>
        <p:spPr>
          <a:xfrm>
            <a:off x="819117" y="3008263"/>
            <a:ext cx="5168944" cy="2336910"/>
          </a:xfrm>
          <a:prstGeom prst="roundRect">
            <a:avLst>
              <a:gd name="adj" fmla="val 5163"/>
            </a:avLst>
          </a:prstGeom>
          <a:solidFill>
            <a:srgbClr val="F1F6FE"/>
          </a:solidFill>
          <a:ln w="12700">
            <a:solidFill>
              <a:srgbClr val="CFE0FA"/>
            </a:solidFill>
            <a:prstDash val="solid"/>
          </a:ln>
        </p:spPr>
      </p:sp>
      <p:sp>
        <p:nvSpPr>
          <p:cNvPr id="6" name="Text 4"/>
          <p:cNvSpPr/>
          <p:nvPr/>
        </p:nvSpPr>
        <p:spPr>
          <a:xfrm>
            <a:off x="1077350" y="3190267"/>
            <a:ext cx="4792052"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Before</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087934" y="3503083"/>
          <a:ext cx="4641894" cy="1660095"/>
        </p:xfrm>
        <a:graphic>
          <a:graphicData uri="http://schemas.openxmlformats.org/drawingml/2006/table">
            <a:tbl>
              <a:tblPr/>
              <a:tblGrid>
                <a:gridCol w="1021217"/>
                <a:gridCol w="1299730"/>
                <a:gridCol w="1206893"/>
                <a:gridCol w="1114055"/>
              </a:tblGrid>
              <a:tr h="588367">
                <a:tc>
                  <a:txBody>
                    <a:bodyPr/>
                    <a:lstStyle/>
                    <a:p>
                      <a:pPr indent="0" marL="0">
                        <a:lnSpc>
                          <a:spcPts val="1820"/>
                        </a:lnSpc>
                        <a:buNone/>
                      </a:pPr>
                      <a:r>
                        <a:rPr lang="en-US" sz="1300" b="1" dirty="0">
                          <a:solidFill>
                            <a:srgbClr val="0F2A5C"/>
                          </a:solidFill>
                          <a:latin typeface="DM Sans" pitchFamily="34" charset="0"/>
                          <a:ea typeface="DM Sans" pitchFamily="34" charset="-122"/>
                          <a:cs typeface="DM Sans" pitchFamily="34" charset="-120"/>
                        </a:rPr>
                        <a:t>Student ID</a:t>
                      </a:r>
                      <a:endParaRPr lang="en-US" sz="1300" dirty="0">
                        <a:latin typeface="DM Sans" charset="0"/>
                        <a:ea typeface="DM Sans" charset="0"/>
                        <a:cs typeface="DM Sans" charset="0"/>
                      </a:endParaRPr>
                    </a:p>
                  </a:txBody>
                  <a:tcPr marL="57785" marR="57785" marT="57785" marB="57785" anchor="t">
                    <a:lnL w="12700" cap="flat" cmpd="sng" algn="ctr">
                      <a:solidFill>
                        <a:srgbClr val="C0C4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1820"/>
                        </a:lnSpc>
                        <a:buNone/>
                      </a:pPr>
                      <a:r>
                        <a:rPr lang="en-US" sz="1300" b="1" dirty="0">
                          <a:solidFill>
                            <a:srgbClr val="0F2A5C"/>
                          </a:solidFill>
                          <a:latin typeface="DM Sans" pitchFamily="34" charset="0"/>
                          <a:ea typeface="DM Sans" pitchFamily="34" charset="-122"/>
                          <a:cs typeface="DM Sans" pitchFamily="34" charset="-120"/>
                        </a:rPr>
                        <a:t>Homework submitted</a:t>
                      </a:r>
                      <a:endParaRPr lang="en-US" sz="1300" dirty="0">
                        <a:latin typeface="DM Sans" charset="0"/>
                        <a:ea typeface="DM Sans" charset="0"/>
                        <a:cs typeface="DM Sans" charset="0"/>
                      </a:endParaRPr>
                    </a:p>
                  </a:txBody>
                  <a:tcPr marL="57785" marR="57785" marT="57785" marB="57785"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1820"/>
                        </a:lnSpc>
                        <a:buNone/>
                      </a:pPr>
                      <a:r>
                        <a:rPr lang="en-US" sz="1300" b="1" dirty="0">
                          <a:solidFill>
                            <a:srgbClr val="0F2A5C"/>
                          </a:solidFill>
                          <a:latin typeface="DM Sans" pitchFamily="34" charset="0"/>
                          <a:ea typeface="DM Sans" pitchFamily="34" charset="-122"/>
                          <a:cs typeface="DM Sans" pitchFamily="34" charset="-120"/>
                        </a:rPr>
                        <a:t>Homework total</a:t>
                      </a:r>
                      <a:endParaRPr lang="en-US" sz="1300" dirty="0">
                        <a:latin typeface="DM Sans" charset="0"/>
                        <a:ea typeface="DM Sans" charset="0"/>
                        <a:cs typeface="DM Sans" charset="0"/>
                      </a:endParaRPr>
                    </a:p>
                  </a:txBody>
                  <a:tcPr marL="57785" marR="57785" marT="57785" marB="57785"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1820"/>
                        </a:lnSpc>
                        <a:buNone/>
                      </a:pPr>
                      <a:r>
                        <a:rPr lang="en-US" sz="1300" b="1" dirty="0">
                          <a:solidFill>
                            <a:srgbClr val="0F2A5C"/>
                          </a:solidFill>
                          <a:latin typeface="DM Sans" pitchFamily="34" charset="0"/>
                          <a:ea typeface="DM Sans" pitchFamily="34" charset="-122"/>
                          <a:cs typeface="DM Sans" pitchFamily="34" charset="-120"/>
                        </a:rPr>
                        <a:t>Study hours</a:t>
                      </a:r>
                      <a:endParaRPr lang="en-US" sz="1300" dirty="0">
                        <a:latin typeface="DM Sans" charset="0"/>
                        <a:ea typeface="DM Sans" charset="0"/>
                        <a:cs typeface="DM Sans" charset="0"/>
                      </a:endParaRPr>
                    </a:p>
                  </a:txBody>
                  <a:tcPr marL="57785" marR="57785" marT="57785" marB="57785"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r>
              <a:tr h="357243">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1</a:t>
                      </a:r>
                      <a:endParaRPr lang="en-US" sz="1300" dirty="0">
                        <a:latin typeface="DM Sans" charset="0"/>
                        <a:ea typeface="DM Sans" charset="0"/>
                        <a:cs typeface="DM Sans" charset="0"/>
                      </a:endParaRPr>
                    </a:p>
                  </a:txBody>
                  <a:tcPr marL="57785" marR="57785" marT="57785" marB="57785"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8</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10</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12</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7243">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2</a:t>
                      </a:r>
                      <a:endParaRPr lang="en-US" sz="1300" dirty="0">
                        <a:latin typeface="DM Sans" charset="0"/>
                        <a:ea typeface="DM Sans" charset="0"/>
                        <a:cs typeface="DM Sans" charset="0"/>
                      </a:endParaRPr>
                    </a:p>
                  </a:txBody>
                  <a:tcPr marL="57785" marR="57785" marT="57785" marB="57785"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9</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12</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8</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7243">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3</a:t>
                      </a:r>
                      <a:endParaRPr lang="en-US" sz="1300" dirty="0">
                        <a:latin typeface="DM Sans" charset="0"/>
                        <a:ea typeface="DM Sans" charset="0"/>
                        <a:cs typeface="DM Sans" charset="0"/>
                      </a:endParaRPr>
                    </a:p>
                  </a:txBody>
                  <a:tcPr marL="57785" marR="57785" marT="57785" marB="57785"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5</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10</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3</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8" name="Shape 5"/>
          <p:cNvSpPr/>
          <p:nvPr/>
        </p:nvSpPr>
        <p:spPr>
          <a:xfrm>
            <a:off x="6203939" y="3008263"/>
            <a:ext cx="5168944" cy="2336910"/>
          </a:xfrm>
          <a:prstGeom prst="roundRect">
            <a:avLst>
              <a:gd name="adj" fmla="val 5163"/>
            </a:avLst>
          </a:prstGeom>
          <a:solidFill>
            <a:srgbClr val="F1F6FE"/>
          </a:solidFill>
          <a:ln w="12700">
            <a:solidFill>
              <a:srgbClr val="CFE0FA"/>
            </a:solidFill>
            <a:prstDash val="solid"/>
          </a:ln>
        </p:spPr>
      </p:sp>
      <p:sp>
        <p:nvSpPr>
          <p:cNvPr id="9" name="Text 6"/>
          <p:cNvSpPr/>
          <p:nvPr/>
        </p:nvSpPr>
        <p:spPr>
          <a:xfrm>
            <a:off x="6462173" y="3190267"/>
            <a:ext cx="4792052"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After</a:t>
            </a:r>
            <a:endParaRPr lang="en-US" sz="1400" dirty="0"/>
          </a:p>
        </p:txBody>
      </p:sp>
      <p:graphicFrame>
        <p:nvGraphicFramePr>
          <p:cNvPr id="10" name="Table 1"/>
          <p:cNvGraphicFramePr>
            <a:graphicFrameLocks noGrp="1"/>
          </p:cNvGraphicFramePr>
          <p:nvPr>
            <p:extLst>
              <p:ext uri="{D42A27DB-BD31-4B8C-83A1-F6EECF244321}">
                <p14:modId xmlns:p14="http://schemas.microsoft.com/office/powerpoint/2010/main" val="1579011935"/>
              </p:ext>
            </p:extLst>
          </p:nvPr>
        </p:nvGraphicFramePr>
        <p:xfrm>
          <a:off x="6472756" y="3503083"/>
          <a:ext cx="4641894" cy="1428971"/>
        </p:xfrm>
        <a:graphic>
          <a:graphicData uri="http://schemas.openxmlformats.org/drawingml/2006/table">
            <a:tbl>
              <a:tblPr/>
              <a:tblGrid>
                <a:gridCol w="1299730"/>
                <a:gridCol w="1856758"/>
                <a:gridCol w="1485406"/>
              </a:tblGrid>
              <a:tr h="357243">
                <a:tc>
                  <a:txBody>
                    <a:bodyPr/>
                    <a:lstStyle/>
                    <a:p>
                      <a:pPr indent="0" marL="0">
                        <a:lnSpc>
                          <a:spcPts val="1820"/>
                        </a:lnSpc>
                        <a:buNone/>
                      </a:pPr>
                      <a:r>
                        <a:rPr lang="en-US" sz="1300" b="1" dirty="0">
                          <a:solidFill>
                            <a:srgbClr val="0F2A5C"/>
                          </a:solidFill>
                          <a:latin typeface="DM Sans" pitchFamily="34" charset="0"/>
                          <a:ea typeface="DM Sans" pitchFamily="34" charset="-122"/>
                          <a:cs typeface="DM Sans" pitchFamily="34" charset="-120"/>
                        </a:rPr>
                        <a:t>Student ID</a:t>
                      </a:r>
                      <a:endParaRPr lang="en-US" sz="1300" dirty="0">
                        <a:latin typeface="DM Sans" charset="0"/>
                        <a:ea typeface="DM Sans" charset="0"/>
                        <a:cs typeface="DM Sans" charset="0"/>
                      </a:endParaRPr>
                    </a:p>
                  </a:txBody>
                  <a:tcPr marL="57785" marR="57785" marT="57785" marB="57785" anchor="t">
                    <a:lnL w="12700" cap="flat" cmpd="sng" algn="ctr">
                      <a:solidFill>
                        <a:srgbClr val="C0C4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1820"/>
                        </a:lnSpc>
                        <a:buNone/>
                      </a:pPr>
                      <a:r>
                        <a:rPr lang="en-US" sz="1300" b="1" dirty="0">
                          <a:solidFill>
                            <a:srgbClr val="0F2A5C"/>
                          </a:solidFill>
                          <a:latin typeface="DM Sans" pitchFamily="34" charset="0"/>
                          <a:ea typeface="DM Sans" pitchFamily="34" charset="-122"/>
                          <a:cs typeface="DM Sans" pitchFamily="34" charset="-120"/>
                        </a:rPr>
                        <a:t>Homework rate</a:t>
                      </a:r>
                      <a:endParaRPr lang="en-US" sz="1300" dirty="0">
                        <a:latin typeface="DM Sans" charset="0"/>
                        <a:ea typeface="DM Sans" charset="0"/>
                        <a:cs typeface="DM Sans" charset="0"/>
                      </a:endParaRPr>
                    </a:p>
                  </a:txBody>
                  <a:tcPr marL="57785" marR="57785" marT="57785" marB="57785"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1820"/>
                        </a:lnSpc>
                        <a:buNone/>
                      </a:pPr>
                      <a:r>
                        <a:rPr lang="en-US" sz="1300" b="1" dirty="0">
                          <a:solidFill>
                            <a:srgbClr val="0F2A5C"/>
                          </a:solidFill>
                          <a:latin typeface="DM Sans" pitchFamily="34" charset="0"/>
                          <a:ea typeface="DM Sans" pitchFamily="34" charset="-122"/>
                          <a:cs typeface="DM Sans" pitchFamily="34" charset="-120"/>
                        </a:rPr>
                        <a:t>Study hours</a:t>
                      </a:r>
                      <a:endParaRPr lang="en-US" sz="1300" dirty="0">
                        <a:latin typeface="DM Sans" charset="0"/>
                        <a:ea typeface="DM Sans" charset="0"/>
                        <a:cs typeface="DM Sans" charset="0"/>
                      </a:endParaRPr>
                    </a:p>
                  </a:txBody>
                  <a:tcPr marL="57785" marR="57785" marT="57785" marB="57785"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r>
              <a:tr h="357243">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1</a:t>
                      </a:r>
                      <a:endParaRPr lang="en-US" sz="1300" dirty="0">
                        <a:latin typeface="DM Sans" charset="0"/>
                        <a:ea typeface="DM Sans" charset="0"/>
                        <a:cs typeface="DM Sans" charset="0"/>
                      </a:endParaRPr>
                    </a:p>
                  </a:txBody>
                  <a:tcPr marL="57785" marR="57785" marT="57785" marB="57785"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0.80</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12</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7243">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2</a:t>
                      </a:r>
                      <a:endParaRPr lang="en-US" sz="1300" dirty="0">
                        <a:latin typeface="DM Sans" charset="0"/>
                        <a:ea typeface="DM Sans" charset="0"/>
                        <a:cs typeface="DM Sans" charset="0"/>
                      </a:endParaRPr>
                    </a:p>
                  </a:txBody>
                  <a:tcPr marL="57785" marR="57785" marT="57785" marB="57785"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0.75</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8</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7243">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3</a:t>
                      </a:r>
                      <a:endParaRPr lang="en-US" sz="1300" dirty="0">
                        <a:latin typeface="DM Sans" charset="0"/>
                        <a:ea typeface="DM Sans" charset="0"/>
                        <a:cs typeface="DM Sans" charset="0"/>
                      </a:endParaRPr>
                    </a:p>
                  </a:txBody>
                  <a:tcPr marL="57785" marR="57785" marT="57785" marB="57785"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0.50</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3</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11" name="Text 7"/>
          <p:cNvSpPr/>
          <p:nvPr/>
        </p:nvSpPr>
        <p:spPr>
          <a:xfrm>
            <a:off x="812767" y="6289030"/>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DM Sans" pitchFamily="34" charset="0"/>
                <a:ea typeface="DM Sans" pitchFamily="34" charset="-122"/>
                <a:cs typeface="DM Sans" pitchFamily="34" charset="-120"/>
              </a:rPr>
              <a:t>Part 2 Adding new columns</a:t>
            </a:r>
            <a:endParaRPr lang="en-US" sz="1200" dirty="0"/>
          </a:p>
        </p:txBody>
      </p:sp>
      <p:sp>
        <p:nvSpPr>
          <p:cNvPr id="12" name="Text 8"/>
          <p:cNvSpPr/>
          <p:nvPr/>
        </p:nvSpPr>
        <p:spPr>
          <a:xfrm>
            <a:off x="10058433" y="6289030"/>
            <a:ext cx="1320800" cy="23877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748B"/>
                </a:solidFill>
                <a:latin typeface="DM Sans" pitchFamily="34" charset="0"/>
                <a:ea typeface="DM Sans" pitchFamily="34" charset="-122"/>
                <a:cs typeface="DM Sans" pitchFamily="34" charset="-120"/>
              </a:rPr>
              <a:t>26</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67" y="508000"/>
            <a:ext cx="10883461"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5C"/>
                </a:solidFill>
                <a:latin typeface="DM Sans" pitchFamily="34" charset="0"/>
                <a:ea typeface="DM Sans" pitchFamily="34" charset="-122"/>
                <a:cs typeface="DM Sans" pitchFamily="34" charset="-120"/>
              </a:rPr>
              <a:t>Aggregate Features</a:t>
            </a:r>
            <a:endParaRPr lang="en-US" sz="3200" dirty="0"/>
          </a:p>
        </p:txBody>
      </p:sp>
      <p:sp>
        <p:nvSpPr>
          <p:cNvPr id="3" name="Shape 1"/>
          <p:cNvSpPr/>
          <p:nvPr/>
        </p:nvSpPr>
        <p:spPr>
          <a:xfrm>
            <a:off x="812767" y="1076908"/>
            <a:ext cx="609589" cy="50767"/>
          </a:xfrm>
          <a:prstGeom prst="roundRect">
            <a:avLst>
              <a:gd name="adj" fmla="val 50000"/>
            </a:avLst>
          </a:prstGeom>
          <a:solidFill>
            <a:srgbClr val="2563EB"/>
          </a:solidFill>
          <a:ln/>
        </p:spPr>
      </p:sp>
      <p:sp>
        <p:nvSpPr>
          <p:cNvPr id="4" name="Text 2"/>
          <p:cNvSpPr/>
          <p:nvPr/>
        </p:nvSpPr>
        <p:spPr>
          <a:xfrm>
            <a:off x="856201" y="1356258"/>
            <a:ext cx="10832407" cy="1442464"/>
          </a:xfrm>
          <a:prstGeom prst="rect">
            <a:avLst/>
          </a:prstGeom>
          <a:noFill/>
          <a:ln/>
        </p:spPr>
        <p:txBody>
          <a:bodyPr wrap="square" lIns="0" tIns="0" rIns="0" bIns="0" rtlCol="0" anchor="t">
            <a:normAutofit/>
          </a:bodyPr>
          <a:lstStyle/>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Combine multiple rows or features into a new column</a:t>
            </a:r>
            <a:endParaRPr lang="en-US" sz="1800" dirty="0"/>
          </a:p>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Scenario: predicting which Rakuten customers will spend more</a:t>
            </a:r>
            <a:endParaRPr lang="en-US" sz="1800" dirty="0"/>
          </a:p>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New column: average spend</a:t>
            </a:r>
            <a:endParaRPr lang="en-US" sz="1800" dirty="0"/>
          </a:p>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Useful for reducing the data to one row per person</a:t>
            </a:r>
            <a:endParaRPr lang="en-US" sz="1800" dirty="0"/>
          </a:p>
        </p:txBody>
      </p:sp>
      <p:sp>
        <p:nvSpPr>
          <p:cNvPr id="5" name="Shape 3"/>
          <p:cNvSpPr/>
          <p:nvPr/>
        </p:nvSpPr>
        <p:spPr>
          <a:xfrm>
            <a:off x="819117" y="3008263"/>
            <a:ext cx="5168944" cy="2463028"/>
          </a:xfrm>
          <a:prstGeom prst="roundRect">
            <a:avLst>
              <a:gd name="adj" fmla="val 4898"/>
            </a:avLst>
          </a:prstGeom>
          <a:solidFill>
            <a:srgbClr val="F1F6FE"/>
          </a:solidFill>
          <a:ln w="12700">
            <a:solidFill>
              <a:srgbClr val="CFE0FA"/>
            </a:solidFill>
            <a:prstDash val="solid"/>
          </a:ln>
        </p:spPr>
      </p:sp>
      <p:sp>
        <p:nvSpPr>
          <p:cNvPr id="6" name="Text 4"/>
          <p:cNvSpPr/>
          <p:nvPr/>
        </p:nvSpPr>
        <p:spPr>
          <a:xfrm>
            <a:off x="1077350" y="3190267"/>
            <a:ext cx="4792052"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Before</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087934" y="3503083"/>
          <a:ext cx="4641894" cy="1786213"/>
        </p:xfrm>
        <a:graphic>
          <a:graphicData uri="http://schemas.openxmlformats.org/drawingml/2006/table">
            <a:tbl>
              <a:tblPr/>
              <a:tblGrid>
                <a:gridCol w="1392568"/>
                <a:gridCol w="1392568"/>
                <a:gridCol w="1856758"/>
              </a:tblGrid>
              <a:tr h="357243">
                <a:tc>
                  <a:txBody>
                    <a:bodyPr/>
                    <a:lstStyle/>
                    <a:p>
                      <a:pPr indent="0" marL="0">
                        <a:lnSpc>
                          <a:spcPts val="1820"/>
                        </a:lnSpc>
                        <a:buNone/>
                      </a:pPr>
                      <a:r>
                        <a:rPr lang="en-US" sz="1300" b="1" dirty="0">
                          <a:solidFill>
                            <a:srgbClr val="0F2A5C"/>
                          </a:solidFill>
                          <a:latin typeface="DM Sans" pitchFamily="34" charset="0"/>
                          <a:ea typeface="DM Sans" pitchFamily="34" charset="-122"/>
                          <a:cs typeface="DM Sans" pitchFamily="34" charset="-120"/>
                        </a:rPr>
                        <a:t>User</a:t>
                      </a:r>
                      <a:endParaRPr lang="en-US" sz="1300" dirty="0">
                        <a:latin typeface="DM Sans" charset="0"/>
                        <a:ea typeface="DM Sans" charset="0"/>
                        <a:cs typeface="DM Sans" charset="0"/>
                      </a:endParaRPr>
                    </a:p>
                  </a:txBody>
                  <a:tcPr marL="57785" marR="57785" marT="57785" marB="57785" anchor="t">
                    <a:lnL w="12700" cap="flat" cmpd="sng" algn="ctr">
                      <a:solidFill>
                        <a:srgbClr val="C0C4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1820"/>
                        </a:lnSpc>
                        <a:buNone/>
                      </a:pPr>
                      <a:r>
                        <a:rPr lang="en-US" sz="1300" b="1" dirty="0">
                          <a:solidFill>
                            <a:srgbClr val="0F2A5C"/>
                          </a:solidFill>
                          <a:latin typeface="DM Sans" pitchFamily="34" charset="0"/>
                          <a:ea typeface="DM Sans" pitchFamily="34" charset="-122"/>
                          <a:cs typeface="DM Sans" pitchFamily="34" charset="-120"/>
                        </a:rPr>
                        <a:t>Day</a:t>
                      </a:r>
                      <a:endParaRPr lang="en-US" sz="1300" dirty="0">
                        <a:latin typeface="DM Sans" charset="0"/>
                        <a:ea typeface="DM Sans" charset="0"/>
                        <a:cs typeface="DM Sans" charset="0"/>
                      </a:endParaRPr>
                    </a:p>
                  </a:txBody>
                  <a:tcPr marL="57785" marR="57785" marT="57785" marB="57785"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1820"/>
                        </a:lnSpc>
                        <a:buNone/>
                      </a:pPr>
                      <a:r>
                        <a:rPr lang="en-US" sz="1300" b="1" dirty="0">
                          <a:solidFill>
                            <a:srgbClr val="0F2A5C"/>
                          </a:solidFill>
                          <a:latin typeface="DM Sans" pitchFamily="34" charset="0"/>
                          <a:ea typeface="DM Sans" pitchFamily="34" charset="-122"/>
                          <a:cs typeface="DM Sans" pitchFamily="34" charset="-120"/>
                        </a:rPr>
                        <a:t>Spend</a:t>
                      </a:r>
                      <a:endParaRPr lang="en-US" sz="1300" dirty="0">
                        <a:latin typeface="DM Sans" charset="0"/>
                        <a:ea typeface="DM Sans" charset="0"/>
                        <a:cs typeface="DM Sans" charset="0"/>
                      </a:endParaRPr>
                    </a:p>
                  </a:txBody>
                  <a:tcPr marL="57785" marR="57785" marT="57785" marB="57785"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r>
              <a:tr h="357243">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A</a:t>
                      </a:r>
                      <a:endParaRPr lang="en-US" sz="1300" dirty="0">
                        <a:latin typeface="DM Sans" charset="0"/>
                        <a:ea typeface="DM Sans" charset="0"/>
                        <a:cs typeface="DM Sans" charset="0"/>
                      </a:endParaRPr>
                    </a:p>
                  </a:txBody>
                  <a:tcPr marL="57785" marR="57785" marT="57785" marB="57785"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Thu</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1,200</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7243">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A</a:t>
                      </a:r>
                      <a:endParaRPr lang="en-US" sz="1300" dirty="0">
                        <a:latin typeface="DM Sans" charset="0"/>
                        <a:ea typeface="DM Sans" charset="0"/>
                        <a:cs typeface="DM Sans" charset="0"/>
                      </a:endParaRPr>
                    </a:p>
                  </a:txBody>
                  <a:tcPr marL="57785" marR="57785" marT="57785" marB="57785"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Mon</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800</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7243">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B</a:t>
                      </a:r>
                      <a:endParaRPr lang="en-US" sz="1300" dirty="0">
                        <a:latin typeface="DM Sans" charset="0"/>
                        <a:ea typeface="DM Sans" charset="0"/>
                        <a:cs typeface="DM Sans" charset="0"/>
                      </a:endParaRPr>
                    </a:p>
                  </a:txBody>
                  <a:tcPr marL="57785" marR="57785" marT="57785" marB="57785"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Thu</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3,000</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7243">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B</a:t>
                      </a:r>
                      <a:endParaRPr lang="en-US" sz="1300" dirty="0">
                        <a:latin typeface="DM Sans" charset="0"/>
                        <a:ea typeface="DM Sans" charset="0"/>
                        <a:cs typeface="DM Sans" charset="0"/>
                      </a:endParaRPr>
                    </a:p>
                  </a:txBody>
                  <a:tcPr marL="57785" marR="57785" marT="57785" marB="57785"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Mon</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2,000</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8" name="Shape 5"/>
          <p:cNvSpPr/>
          <p:nvPr/>
        </p:nvSpPr>
        <p:spPr>
          <a:xfrm>
            <a:off x="6203939" y="3008263"/>
            <a:ext cx="5168944" cy="2463028"/>
          </a:xfrm>
          <a:prstGeom prst="roundRect">
            <a:avLst>
              <a:gd name="adj" fmla="val 4898"/>
            </a:avLst>
          </a:prstGeom>
          <a:solidFill>
            <a:srgbClr val="F1F6FE"/>
          </a:solidFill>
          <a:ln w="12700">
            <a:solidFill>
              <a:srgbClr val="CFE0FA"/>
            </a:solidFill>
            <a:prstDash val="solid"/>
          </a:ln>
        </p:spPr>
      </p:sp>
      <p:sp>
        <p:nvSpPr>
          <p:cNvPr id="9" name="Text 6"/>
          <p:cNvSpPr/>
          <p:nvPr/>
        </p:nvSpPr>
        <p:spPr>
          <a:xfrm>
            <a:off x="6462173" y="3190267"/>
            <a:ext cx="4792052"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After</a:t>
            </a:r>
            <a:endParaRPr lang="en-US" sz="1400" dirty="0"/>
          </a:p>
        </p:txBody>
      </p:sp>
      <p:graphicFrame>
        <p:nvGraphicFramePr>
          <p:cNvPr id="10" name="Table 1"/>
          <p:cNvGraphicFramePr>
            <a:graphicFrameLocks noGrp="1"/>
          </p:cNvGraphicFramePr>
          <p:nvPr>
            <p:extLst>
              <p:ext uri="{D42A27DB-BD31-4B8C-83A1-F6EECF244321}">
                <p14:modId xmlns:p14="http://schemas.microsoft.com/office/powerpoint/2010/main" val="1579011935"/>
              </p:ext>
            </p:extLst>
          </p:nvPr>
        </p:nvGraphicFramePr>
        <p:xfrm>
          <a:off x="6472756" y="3503083"/>
          <a:ext cx="4641894" cy="1786213"/>
        </p:xfrm>
        <a:graphic>
          <a:graphicData uri="http://schemas.openxmlformats.org/drawingml/2006/table">
            <a:tbl>
              <a:tblPr/>
              <a:tblGrid>
                <a:gridCol w="928379"/>
                <a:gridCol w="928379"/>
                <a:gridCol w="1114055"/>
                <a:gridCol w="1671082"/>
              </a:tblGrid>
              <a:tr h="357243">
                <a:tc>
                  <a:txBody>
                    <a:bodyPr/>
                    <a:lstStyle/>
                    <a:p>
                      <a:pPr indent="0" marL="0">
                        <a:lnSpc>
                          <a:spcPts val="1820"/>
                        </a:lnSpc>
                        <a:buNone/>
                      </a:pPr>
                      <a:r>
                        <a:rPr lang="en-US" sz="1300" b="1" dirty="0">
                          <a:solidFill>
                            <a:srgbClr val="0F2A5C"/>
                          </a:solidFill>
                          <a:latin typeface="DM Sans" pitchFamily="34" charset="0"/>
                          <a:ea typeface="DM Sans" pitchFamily="34" charset="-122"/>
                          <a:cs typeface="DM Sans" pitchFamily="34" charset="-120"/>
                        </a:rPr>
                        <a:t>User</a:t>
                      </a:r>
                      <a:endParaRPr lang="en-US" sz="1300" dirty="0">
                        <a:latin typeface="DM Sans" charset="0"/>
                        <a:ea typeface="DM Sans" charset="0"/>
                        <a:cs typeface="DM Sans" charset="0"/>
                      </a:endParaRPr>
                    </a:p>
                  </a:txBody>
                  <a:tcPr marL="57785" marR="57785" marT="57785" marB="57785" anchor="t">
                    <a:lnL w="12700" cap="flat" cmpd="sng" algn="ctr">
                      <a:solidFill>
                        <a:srgbClr val="C0C4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1820"/>
                        </a:lnSpc>
                        <a:buNone/>
                      </a:pPr>
                      <a:r>
                        <a:rPr lang="en-US" sz="1300" b="1" dirty="0">
                          <a:solidFill>
                            <a:srgbClr val="0F2A5C"/>
                          </a:solidFill>
                          <a:latin typeface="DM Sans" pitchFamily="34" charset="0"/>
                          <a:ea typeface="DM Sans" pitchFamily="34" charset="-122"/>
                          <a:cs typeface="DM Sans" pitchFamily="34" charset="-120"/>
                        </a:rPr>
                        <a:t>Day</a:t>
                      </a:r>
                      <a:endParaRPr lang="en-US" sz="1300" dirty="0">
                        <a:latin typeface="DM Sans" charset="0"/>
                        <a:ea typeface="DM Sans" charset="0"/>
                        <a:cs typeface="DM Sans" charset="0"/>
                      </a:endParaRPr>
                    </a:p>
                  </a:txBody>
                  <a:tcPr marL="57785" marR="57785" marT="57785" marB="57785"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1820"/>
                        </a:lnSpc>
                        <a:buNone/>
                      </a:pPr>
                      <a:r>
                        <a:rPr lang="en-US" sz="1300" b="1" dirty="0">
                          <a:solidFill>
                            <a:srgbClr val="0F2A5C"/>
                          </a:solidFill>
                          <a:latin typeface="DM Sans" pitchFamily="34" charset="0"/>
                          <a:ea typeface="DM Sans" pitchFamily="34" charset="-122"/>
                          <a:cs typeface="DM Sans" pitchFamily="34" charset="-120"/>
                        </a:rPr>
                        <a:t>Spend</a:t>
                      </a:r>
                      <a:endParaRPr lang="en-US" sz="1300" dirty="0">
                        <a:latin typeface="DM Sans" charset="0"/>
                        <a:ea typeface="DM Sans" charset="0"/>
                        <a:cs typeface="DM Sans" charset="0"/>
                      </a:endParaRPr>
                    </a:p>
                  </a:txBody>
                  <a:tcPr marL="57785" marR="57785" marT="57785" marB="57785"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1820"/>
                        </a:lnSpc>
                        <a:buNone/>
                      </a:pPr>
                      <a:r>
                        <a:rPr lang="en-US" sz="1300" b="1" dirty="0">
                          <a:solidFill>
                            <a:srgbClr val="0F2A5C"/>
                          </a:solidFill>
                          <a:latin typeface="DM Sans" pitchFamily="34" charset="0"/>
                          <a:ea typeface="DM Sans" pitchFamily="34" charset="-122"/>
                          <a:cs typeface="DM Sans" pitchFamily="34" charset="-120"/>
                        </a:rPr>
                        <a:t>Average spend</a:t>
                      </a:r>
                      <a:endParaRPr lang="en-US" sz="1300" dirty="0">
                        <a:latin typeface="DM Sans" charset="0"/>
                        <a:ea typeface="DM Sans" charset="0"/>
                        <a:cs typeface="DM Sans" charset="0"/>
                      </a:endParaRPr>
                    </a:p>
                  </a:txBody>
                  <a:tcPr marL="57785" marR="57785" marT="57785" marB="57785"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r>
              <a:tr h="357243">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A</a:t>
                      </a:r>
                      <a:endParaRPr lang="en-US" sz="1300" dirty="0">
                        <a:latin typeface="DM Sans" charset="0"/>
                        <a:ea typeface="DM Sans" charset="0"/>
                        <a:cs typeface="DM Sans" charset="0"/>
                      </a:endParaRPr>
                    </a:p>
                  </a:txBody>
                  <a:tcPr marL="57785" marR="57785" marT="57785" marB="57785"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Thu</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1,200</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1,000</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7243">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A</a:t>
                      </a:r>
                      <a:endParaRPr lang="en-US" sz="1300" dirty="0">
                        <a:latin typeface="DM Sans" charset="0"/>
                        <a:ea typeface="DM Sans" charset="0"/>
                        <a:cs typeface="DM Sans" charset="0"/>
                      </a:endParaRPr>
                    </a:p>
                  </a:txBody>
                  <a:tcPr marL="57785" marR="57785" marT="57785" marB="57785"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Mon</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800</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1,000</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7243">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B</a:t>
                      </a:r>
                      <a:endParaRPr lang="en-US" sz="1300" dirty="0">
                        <a:latin typeface="DM Sans" charset="0"/>
                        <a:ea typeface="DM Sans" charset="0"/>
                        <a:cs typeface="DM Sans" charset="0"/>
                      </a:endParaRPr>
                    </a:p>
                  </a:txBody>
                  <a:tcPr marL="57785" marR="57785" marT="57785" marB="57785"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Thu</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3,000</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2,500</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7243">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B</a:t>
                      </a:r>
                      <a:endParaRPr lang="en-US" sz="1300" dirty="0">
                        <a:latin typeface="DM Sans" charset="0"/>
                        <a:ea typeface="DM Sans" charset="0"/>
                        <a:cs typeface="DM Sans" charset="0"/>
                      </a:endParaRPr>
                    </a:p>
                  </a:txBody>
                  <a:tcPr marL="57785" marR="57785" marT="57785" marB="57785"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Mon</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2,000</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DM Sans" pitchFamily="34" charset="0"/>
                          <a:ea typeface="DM Sans" pitchFamily="34" charset="-122"/>
                          <a:cs typeface="DM Sans" pitchFamily="34" charset="-120"/>
                        </a:rPr>
                        <a:t>2,500</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11" name="Text 7"/>
          <p:cNvSpPr/>
          <p:nvPr/>
        </p:nvSpPr>
        <p:spPr>
          <a:xfrm>
            <a:off x="812767" y="6289030"/>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DM Sans" pitchFamily="34" charset="0"/>
                <a:ea typeface="DM Sans" pitchFamily="34" charset="-122"/>
                <a:cs typeface="DM Sans" pitchFamily="34" charset="-120"/>
              </a:rPr>
              <a:t>Part 2 Adding new columns</a:t>
            </a:r>
            <a:endParaRPr lang="en-US" sz="1200" dirty="0"/>
          </a:p>
        </p:txBody>
      </p:sp>
      <p:sp>
        <p:nvSpPr>
          <p:cNvPr id="12" name="Text 8"/>
          <p:cNvSpPr/>
          <p:nvPr/>
        </p:nvSpPr>
        <p:spPr>
          <a:xfrm>
            <a:off x="10058433" y="6289030"/>
            <a:ext cx="1320800" cy="23877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748B"/>
                </a:solidFill>
                <a:latin typeface="DM Sans" pitchFamily="34" charset="0"/>
                <a:ea typeface="DM Sans" pitchFamily="34" charset="-122"/>
                <a:cs typeface="DM Sans" pitchFamily="34" charset="-120"/>
              </a:rPr>
              <a:t>27</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67" y="508000"/>
            <a:ext cx="10883461"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5C"/>
                </a:solidFill>
                <a:latin typeface="DM Sans" pitchFamily="34" charset="0"/>
                <a:ea typeface="DM Sans" pitchFamily="34" charset="-122"/>
                <a:cs typeface="DM Sans" pitchFamily="34" charset="-120"/>
              </a:rPr>
              <a:t>Exercise (Part 2)</a:t>
            </a:r>
            <a:endParaRPr lang="en-US" sz="3200" dirty="0"/>
          </a:p>
        </p:txBody>
      </p:sp>
      <p:sp>
        <p:nvSpPr>
          <p:cNvPr id="3" name="Shape 1"/>
          <p:cNvSpPr/>
          <p:nvPr/>
        </p:nvSpPr>
        <p:spPr>
          <a:xfrm>
            <a:off x="812767" y="1076908"/>
            <a:ext cx="609589" cy="50767"/>
          </a:xfrm>
          <a:prstGeom prst="roundRect">
            <a:avLst>
              <a:gd name="adj" fmla="val 50000"/>
            </a:avLst>
          </a:prstGeom>
          <a:solidFill>
            <a:srgbClr val="2563EB"/>
          </a:solidFill>
          <a:ln/>
        </p:spPr>
      </p:sp>
      <p:sp>
        <p:nvSpPr>
          <p:cNvPr id="4" name="Text 2"/>
          <p:cNvSpPr/>
          <p:nvPr/>
        </p:nvSpPr>
        <p:spPr>
          <a:xfrm>
            <a:off x="849089" y="1356258"/>
            <a:ext cx="10839519" cy="1521398"/>
          </a:xfrm>
          <a:prstGeom prst="rect">
            <a:avLst/>
          </a:prstGeom>
          <a:noFill/>
          <a:ln/>
        </p:spPr>
        <p:txBody>
          <a:bodyPr wrap="square" lIns="0" tIns="0" rIns="0" bIns="0" rtlCol="0" anchor="t">
            <a:normAutofit/>
          </a:bodyPr>
          <a:lstStyle/>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Goal: see that these operations also work with sklearn / pandas</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Q3: scale the numbers (6 min)</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Q4: create a simple new column (5 min)</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Q5: create an aggregate feature (8 min)</a:t>
            </a:r>
            <a:endParaRPr lang="en-US" sz="1900" dirty="0"/>
          </a:p>
        </p:txBody>
      </p:sp>
      <p:sp>
        <p:nvSpPr>
          <p:cNvPr id="5" name="Shape 3"/>
          <p:cNvSpPr/>
          <p:nvPr/>
        </p:nvSpPr>
        <p:spPr>
          <a:xfrm>
            <a:off x="819117" y="3087204"/>
            <a:ext cx="10553767" cy="1383418"/>
          </a:xfrm>
          <a:prstGeom prst="roundRect">
            <a:avLst>
              <a:gd name="adj" fmla="val 8721"/>
            </a:avLst>
          </a:prstGeom>
          <a:solidFill>
            <a:srgbClr val="F1F6FE"/>
          </a:solidFill>
          <a:ln w="12700">
            <a:solidFill>
              <a:srgbClr val="CFE0FA"/>
            </a:solidFill>
            <a:prstDash val="solid"/>
          </a:ln>
        </p:spPr>
      </p:sp>
      <p:sp>
        <p:nvSpPr>
          <p:cNvPr id="6" name="Text 4"/>
          <p:cNvSpPr/>
          <p:nvPr/>
        </p:nvSpPr>
        <p:spPr>
          <a:xfrm>
            <a:off x="1102706" y="3320021"/>
            <a:ext cx="10286186"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How it works</a:t>
            </a:r>
            <a:endParaRPr lang="en-US" sz="1400" dirty="0"/>
          </a:p>
        </p:txBody>
      </p:sp>
      <p:sp>
        <p:nvSpPr>
          <p:cNvPr id="7" name="Text 5"/>
          <p:cNvSpPr/>
          <p:nvPr/>
        </p:nvSpPr>
        <p:spPr>
          <a:xfrm>
            <a:off x="1109056" y="3666753"/>
            <a:ext cx="2506575" cy="564698"/>
          </a:xfrm>
          <a:prstGeom prst="roundRect">
            <a:avLst>
              <a:gd name="adj" fmla="val 14618"/>
            </a:avLst>
          </a:prstGeom>
          <a:solidFill>
            <a:srgbClr val="FFFFFF"/>
          </a:solidFill>
          <a:ln w="12700">
            <a:solidFill>
              <a:srgbClr val="BFD4F6"/>
            </a:solidFill>
            <a:prstDash val="solid"/>
          </a:ln>
        </p:spPr>
        <p:txBody>
          <a:bodyPr wrap="none" lIns="0" tIns="0" rIns="0" bIns="0" rtlCol="0" anchor="ctr">
            <a:normAutofit/>
          </a:bodyPr>
          <a:lstStyle/>
          <a:p>
            <a:pPr algn="ctr" indent="0" marL="0">
              <a:lnSpc>
                <a:spcPts val="2380"/>
              </a:lnSpc>
              <a:buNone/>
            </a:pPr>
            <a:r>
              <a:rPr lang="en-US" sz="1700" b="1" dirty="0">
                <a:solidFill>
                  <a:srgbClr val="0F2A5C"/>
                </a:solidFill>
                <a:latin typeface="DM Sans" pitchFamily="34" charset="0"/>
                <a:ea typeface="DM Sans" pitchFamily="34" charset="-122"/>
                <a:cs typeface="DM Sans" pitchFamily="34" charset="-120"/>
              </a:rPr>
              <a:t>Code is pre-written</a:t>
            </a:r>
            <a:endParaRPr lang="en-US" sz="1700" dirty="0"/>
          </a:p>
        </p:txBody>
      </p:sp>
      <p:sp>
        <p:nvSpPr>
          <p:cNvPr id="8" name="Text 6"/>
          <p:cNvSpPr/>
          <p:nvPr/>
        </p:nvSpPr>
        <p:spPr>
          <a:xfrm>
            <a:off x="3774337" y="3771305"/>
            <a:ext cx="304800" cy="380989"/>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563EB"/>
                </a:solidFill>
                <a:latin typeface="DM Sans" pitchFamily="34" charset="0"/>
                <a:ea typeface="DM Sans" pitchFamily="34" charset="-122"/>
                <a:cs typeface="DM Sans" pitchFamily="34" charset="-120"/>
              </a:rPr>
              <a:t>→</a:t>
            </a:r>
            <a:endParaRPr lang="en-US" sz="2000" dirty="0"/>
          </a:p>
        </p:txBody>
      </p:sp>
      <p:sp>
        <p:nvSpPr>
          <p:cNvPr id="9" name="Text 7"/>
          <p:cNvSpPr/>
          <p:nvPr/>
        </p:nvSpPr>
        <p:spPr>
          <a:xfrm>
            <a:off x="4187042" y="3666753"/>
            <a:ext cx="2343249" cy="564698"/>
          </a:xfrm>
          <a:prstGeom prst="roundRect">
            <a:avLst>
              <a:gd name="adj" fmla="val 14618"/>
            </a:avLst>
          </a:prstGeom>
          <a:solidFill>
            <a:srgbClr val="FFFFFF"/>
          </a:solidFill>
          <a:ln w="12700">
            <a:solidFill>
              <a:srgbClr val="BFD4F6"/>
            </a:solidFill>
            <a:prstDash val="solid"/>
          </a:ln>
        </p:spPr>
        <p:txBody>
          <a:bodyPr wrap="none" lIns="0" tIns="0" rIns="0" bIns="0" rtlCol="0" anchor="ctr">
            <a:normAutofit/>
          </a:bodyPr>
          <a:lstStyle/>
          <a:p>
            <a:pPr algn="ctr" indent="0" marL="0">
              <a:lnSpc>
                <a:spcPts val="2380"/>
              </a:lnSpc>
              <a:buNone/>
            </a:pPr>
            <a:r>
              <a:rPr lang="en-US" sz="1700" b="1" dirty="0">
                <a:solidFill>
                  <a:srgbClr val="0F2A5C"/>
                </a:solidFill>
                <a:latin typeface="DM Sans" pitchFamily="34" charset="0"/>
                <a:ea typeface="DM Sans" pitchFamily="34" charset="-122"/>
                <a:cs typeface="DM Sans" pitchFamily="34" charset="-120"/>
              </a:rPr>
              <a:t>Run top to bottom</a:t>
            </a:r>
            <a:endParaRPr lang="en-US" sz="1700" dirty="0"/>
          </a:p>
        </p:txBody>
      </p:sp>
      <p:sp>
        <p:nvSpPr>
          <p:cNvPr id="10" name="Text 8"/>
          <p:cNvSpPr/>
          <p:nvPr/>
        </p:nvSpPr>
        <p:spPr>
          <a:xfrm>
            <a:off x="6688998" y="3771305"/>
            <a:ext cx="304800" cy="380989"/>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563EB"/>
                </a:solidFill>
                <a:latin typeface="DM Sans" pitchFamily="34" charset="0"/>
                <a:ea typeface="DM Sans" pitchFamily="34" charset="-122"/>
                <a:cs typeface="DM Sans" pitchFamily="34" charset="-120"/>
              </a:rPr>
              <a:t>→</a:t>
            </a:r>
            <a:endParaRPr lang="en-US" sz="2000" dirty="0"/>
          </a:p>
        </p:txBody>
      </p:sp>
      <p:sp>
        <p:nvSpPr>
          <p:cNvPr id="11" name="Text 9"/>
          <p:cNvSpPr/>
          <p:nvPr/>
        </p:nvSpPr>
        <p:spPr>
          <a:xfrm>
            <a:off x="7101704" y="3666753"/>
            <a:ext cx="2282009" cy="564698"/>
          </a:xfrm>
          <a:prstGeom prst="roundRect">
            <a:avLst>
              <a:gd name="adj" fmla="val 14618"/>
            </a:avLst>
          </a:prstGeom>
          <a:solidFill>
            <a:srgbClr val="2563EB"/>
          </a:solidFill>
          <a:ln w="12700">
            <a:solidFill>
              <a:srgbClr val="2563EB"/>
            </a:solidFill>
            <a:prstDash val="solid"/>
          </a:ln>
        </p:spPr>
        <p:txBody>
          <a:bodyPr wrap="none" lIns="0" tIns="0" rIns="0" bIns="0" rtlCol="0" anchor="ctr">
            <a:normAutofit/>
          </a:bodyPr>
          <a:lstStyle/>
          <a:p>
            <a:pPr algn="ctr" indent="0" marL="0">
              <a:lnSpc>
                <a:spcPts val="2380"/>
              </a:lnSpc>
              <a:buNone/>
            </a:pPr>
            <a:r>
              <a:rPr lang="en-US" sz="1700" b="1" dirty="0">
                <a:solidFill>
                  <a:srgbClr val="FFFFFF"/>
                </a:solidFill>
                <a:latin typeface="DM Sans" pitchFamily="34" charset="0"/>
                <a:ea typeface="DM Sans" pitchFamily="34" charset="-122"/>
                <a:cs typeface="DM Sans" pitchFamily="34" charset="-120"/>
              </a:rPr>
              <a:t>Check the results</a:t>
            </a:r>
            <a:endParaRPr lang="en-US" sz="1700" dirty="0"/>
          </a:p>
        </p:txBody>
      </p:sp>
      <p:sp>
        <p:nvSpPr>
          <p:cNvPr id="12" name="Text 10"/>
          <p:cNvSpPr/>
          <p:nvPr/>
        </p:nvSpPr>
        <p:spPr>
          <a:xfrm>
            <a:off x="812767" y="6289030"/>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DM Sans" pitchFamily="34" charset="0"/>
                <a:ea typeface="DM Sans" pitchFamily="34" charset="-122"/>
                <a:cs typeface="DM Sans" pitchFamily="34" charset="-120"/>
              </a:rPr>
              <a:t>Part 2 Adding new columns</a:t>
            </a:r>
            <a:endParaRPr lang="en-US" sz="1200" dirty="0"/>
          </a:p>
        </p:txBody>
      </p:sp>
      <p:sp>
        <p:nvSpPr>
          <p:cNvPr id="13" name="Text 11"/>
          <p:cNvSpPr/>
          <p:nvPr/>
        </p:nvSpPr>
        <p:spPr>
          <a:xfrm>
            <a:off x="10058433" y="6289030"/>
            <a:ext cx="1320800" cy="23877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748B"/>
                </a:solidFill>
                <a:latin typeface="DM Sans" pitchFamily="34" charset="0"/>
                <a:ea typeface="DM Sans" pitchFamily="34" charset="-122"/>
                <a:cs typeface="DM Sans" pitchFamily="34" charset="-120"/>
              </a:rPr>
              <a:t>28</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67" y="508000"/>
            <a:ext cx="10883461"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5C"/>
                </a:solidFill>
                <a:latin typeface="DM Sans" pitchFamily="34" charset="0"/>
                <a:ea typeface="DM Sans" pitchFamily="34" charset="-122"/>
                <a:cs typeface="DM Sans" pitchFamily="34" charset="-120"/>
              </a:rPr>
              <a:t>Linear Regression: The Big Picture</a:t>
            </a:r>
            <a:endParaRPr lang="en-US" sz="3200" dirty="0"/>
          </a:p>
        </p:txBody>
      </p:sp>
      <p:sp>
        <p:nvSpPr>
          <p:cNvPr id="3" name="Shape 1"/>
          <p:cNvSpPr/>
          <p:nvPr/>
        </p:nvSpPr>
        <p:spPr>
          <a:xfrm>
            <a:off x="812767" y="1076908"/>
            <a:ext cx="609589" cy="50767"/>
          </a:xfrm>
          <a:prstGeom prst="roundRect">
            <a:avLst>
              <a:gd name="adj" fmla="val 50000"/>
            </a:avLst>
          </a:prstGeom>
          <a:solidFill>
            <a:srgbClr val="2563EB"/>
          </a:solidFill>
          <a:ln/>
        </p:spPr>
      </p:sp>
      <p:sp>
        <p:nvSpPr>
          <p:cNvPr id="4" name="Text 2"/>
          <p:cNvSpPr/>
          <p:nvPr/>
        </p:nvSpPr>
        <p:spPr>
          <a:xfrm>
            <a:off x="856201" y="1356258"/>
            <a:ext cx="10832407" cy="1442464"/>
          </a:xfrm>
          <a:prstGeom prst="rect">
            <a:avLst/>
          </a:prstGeom>
          <a:noFill/>
          <a:ln/>
        </p:spPr>
        <p:txBody>
          <a:bodyPr wrap="square" lIns="0" tIns="0" rIns="0" bIns="0" rtlCol="0" anchor="t">
            <a:normAutofit/>
          </a:bodyPr>
          <a:lstStyle/>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Big idea: find the relationship between inputs and outputs in data</a:t>
            </a:r>
            <a:endParaRPr lang="en-US" sz="1800" dirty="0"/>
          </a:p>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Problem: a new student’s math score is unknown before the exam</a:t>
            </a:r>
            <a:endParaRPr lang="en-US" sz="1800" dirty="0"/>
          </a:p>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Solution: learn the relationship from past students, then predict the score</a:t>
            </a:r>
            <a:endParaRPr lang="en-US" sz="1800" dirty="0"/>
          </a:p>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One method for this is linear regression</a:t>
            </a:r>
            <a:endParaRPr lang="en-US" sz="1800" dirty="0"/>
          </a:p>
        </p:txBody>
      </p:sp>
      <p:sp>
        <p:nvSpPr>
          <p:cNvPr id="5" name="Shape 3"/>
          <p:cNvSpPr/>
          <p:nvPr/>
        </p:nvSpPr>
        <p:spPr>
          <a:xfrm>
            <a:off x="819117" y="3008263"/>
            <a:ext cx="10553767" cy="1741543"/>
          </a:xfrm>
          <a:prstGeom prst="roundRect">
            <a:avLst>
              <a:gd name="adj" fmla="val 6928"/>
            </a:avLst>
          </a:prstGeom>
          <a:solidFill>
            <a:srgbClr val="F1F6FE"/>
          </a:solidFill>
          <a:ln w="12700">
            <a:solidFill>
              <a:srgbClr val="CFE0FA"/>
            </a:solidFill>
            <a:prstDash val="solid"/>
          </a:ln>
        </p:spPr>
      </p:sp>
      <p:sp>
        <p:nvSpPr>
          <p:cNvPr id="6" name="Text 4"/>
          <p:cNvSpPr/>
          <p:nvPr/>
        </p:nvSpPr>
        <p:spPr>
          <a:xfrm>
            <a:off x="1102706" y="3241092"/>
            <a:ext cx="10286186"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Predicting math scores</a:t>
            </a:r>
            <a:endParaRPr lang="en-US" sz="1400" dirty="0"/>
          </a:p>
        </p:txBody>
      </p:sp>
      <p:sp>
        <p:nvSpPr>
          <p:cNvPr id="7" name="Text 5"/>
          <p:cNvSpPr/>
          <p:nvPr/>
        </p:nvSpPr>
        <p:spPr>
          <a:xfrm>
            <a:off x="1109056" y="3587812"/>
            <a:ext cx="2345124" cy="546894"/>
          </a:xfrm>
          <a:prstGeom prst="roundRect">
            <a:avLst>
              <a:gd name="adj" fmla="val 15094"/>
            </a:avLst>
          </a:prstGeom>
          <a:solidFill>
            <a:srgbClr val="FFFFFF"/>
          </a:solidFill>
          <a:ln w="12700">
            <a:solidFill>
              <a:srgbClr val="BFD4F6"/>
            </a:solidFill>
            <a:prstDash val="solid"/>
          </a:ln>
        </p:spPr>
        <p:txBody>
          <a:bodyPr wrap="none" lIns="0" tIns="0" rIns="0" bIns="0" rtlCol="0" anchor="ctr">
            <a:normAutofit/>
          </a:bodyPr>
          <a:lstStyle/>
          <a:p>
            <a:pPr algn="ctr" indent="0" marL="0">
              <a:lnSpc>
                <a:spcPts val="2240"/>
              </a:lnSpc>
              <a:buNone/>
            </a:pPr>
            <a:r>
              <a:rPr lang="en-US" sz="1600" b="1" dirty="0">
                <a:solidFill>
                  <a:srgbClr val="0F2A5C"/>
                </a:solidFill>
                <a:latin typeface="DM Sans" pitchFamily="34" charset="0"/>
                <a:ea typeface="DM Sans" pitchFamily="34" charset="-122"/>
                <a:cs typeface="DM Sans" pitchFamily="34" charset="-120"/>
              </a:rPr>
              <a:t>Past students’ data</a:t>
            </a:r>
            <a:endParaRPr lang="en-US" sz="1600" dirty="0"/>
          </a:p>
        </p:txBody>
      </p:sp>
      <p:sp>
        <p:nvSpPr>
          <p:cNvPr id="8" name="Text 6"/>
          <p:cNvSpPr/>
          <p:nvPr/>
        </p:nvSpPr>
        <p:spPr>
          <a:xfrm>
            <a:off x="3612886" y="3683434"/>
            <a:ext cx="304800" cy="380989"/>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563EB"/>
                </a:solidFill>
                <a:latin typeface="DM Sans" pitchFamily="34" charset="0"/>
                <a:ea typeface="DM Sans" pitchFamily="34" charset="-122"/>
                <a:cs typeface="DM Sans" pitchFamily="34" charset="-120"/>
              </a:rPr>
              <a:t>→</a:t>
            </a:r>
            <a:endParaRPr lang="en-US" sz="2000" dirty="0"/>
          </a:p>
        </p:txBody>
      </p:sp>
      <p:sp>
        <p:nvSpPr>
          <p:cNvPr id="9" name="Text 7"/>
          <p:cNvSpPr/>
          <p:nvPr/>
        </p:nvSpPr>
        <p:spPr>
          <a:xfrm>
            <a:off x="4025591" y="3587812"/>
            <a:ext cx="2596753" cy="546894"/>
          </a:xfrm>
          <a:prstGeom prst="roundRect">
            <a:avLst>
              <a:gd name="adj" fmla="val 15094"/>
            </a:avLst>
          </a:prstGeom>
          <a:solidFill>
            <a:srgbClr val="2563EB"/>
          </a:solidFill>
          <a:ln w="12700">
            <a:solidFill>
              <a:srgbClr val="2563EB"/>
            </a:solidFill>
            <a:prstDash val="solid"/>
          </a:ln>
        </p:spPr>
        <p:txBody>
          <a:bodyPr wrap="none" lIns="0" tIns="0" rIns="0" bIns="0" rtlCol="0" anchor="ctr">
            <a:normAutofit/>
          </a:bodyPr>
          <a:lstStyle/>
          <a:p>
            <a:pPr algn="ctr" indent="0" marL="0">
              <a:lnSpc>
                <a:spcPts val="2240"/>
              </a:lnSpc>
              <a:buNone/>
            </a:pPr>
            <a:r>
              <a:rPr lang="en-US" sz="1600" b="1" dirty="0">
                <a:solidFill>
                  <a:srgbClr val="FFFFFF"/>
                </a:solidFill>
                <a:latin typeface="DM Sans" pitchFamily="34" charset="0"/>
                <a:ea typeface="DM Sans" pitchFamily="34" charset="-122"/>
                <a:cs typeface="DM Sans" pitchFamily="34" charset="-120"/>
              </a:rPr>
              <a:t>Learn the relationship</a:t>
            </a:r>
            <a:endParaRPr lang="en-US" sz="1600" dirty="0"/>
          </a:p>
        </p:txBody>
      </p:sp>
      <p:sp>
        <p:nvSpPr>
          <p:cNvPr id="10" name="Text 8"/>
          <p:cNvSpPr/>
          <p:nvPr/>
        </p:nvSpPr>
        <p:spPr>
          <a:xfrm>
            <a:off x="6781050" y="3683434"/>
            <a:ext cx="304800" cy="380989"/>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2563EB"/>
                </a:solidFill>
                <a:latin typeface="DM Sans" pitchFamily="34" charset="0"/>
                <a:ea typeface="DM Sans" pitchFamily="34" charset="-122"/>
                <a:cs typeface="DM Sans" pitchFamily="34" charset="-120"/>
              </a:rPr>
              <a:t>→</a:t>
            </a:r>
            <a:endParaRPr lang="en-US" sz="2000" dirty="0"/>
          </a:p>
        </p:txBody>
      </p:sp>
      <p:sp>
        <p:nvSpPr>
          <p:cNvPr id="11" name="Text 9"/>
          <p:cNvSpPr/>
          <p:nvPr/>
        </p:nvSpPr>
        <p:spPr>
          <a:xfrm>
            <a:off x="7193756" y="3587812"/>
            <a:ext cx="2374558" cy="546894"/>
          </a:xfrm>
          <a:prstGeom prst="roundRect">
            <a:avLst>
              <a:gd name="adj" fmla="val 15094"/>
            </a:avLst>
          </a:prstGeom>
          <a:solidFill>
            <a:srgbClr val="FFFFFF"/>
          </a:solidFill>
          <a:ln w="12700">
            <a:solidFill>
              <a:srgbClr val="BFD4F6"/>
            </a:solidFill>
            <a:prstDash val="solid"/>
          </a:ln>
        </p:spPr>
        <p:txBody>
          <a:bodyPr wrap="none" lIns="0" tIns="0" rIns="0" bIns="0" rtlCol="0" anchor="ctr">
            <a:normAutofit/>
          </a:bodyPr>
          <a:lstStyle/>
          <a:p>
            <a:pPr algn="ctr" indent="0" marL="0">
              <a:lnSpc>
                <a:spcPts val="2240"/>
              </a:lnSpc>
              <a:buNone/>
            </a:pPr>
            <a:r>
              <a:rPr lang="en-US" sz="1600" b="1" dirty="0">
                <a:solidFill>
                  <a:srgbClr val="0F2A5C"/>
                </a:solidFill>
                <a:latin typeface="DM Sans" pitchFamily="34" charset="0"/>
                <a:ea typeface="DM Sans" pitchFamily="34" charset="-122"/>
                <a:cs typeface="DM Sans" pitchFamily="34" charset="-120"/>
              </a:rPr>
              <a:t>Predict a new score</a:t>
            </a:r>
            <a:endParaRPr lang="en-US" sz="1600" dirty="0"/>
          </a:p>
        </p:txBody>
      </p:sp>
      <p:sp>
        <p:nvSpPr>
          <p:cNvPr id="12" name="Text 10"/>
          <p:cNvSpPr/>
          <p:nvPr/>
        </p:nvSpPr>
        <p:spPr>
          <a:xfrm>
            <a:off x="1102706" y="4268056"/>
            <a:ext cx="10286186" cy="27432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34155"/>
                </a:solidFill>
                <a:latin typeface="DM Sans" pitchFamily="34" charset="0"/>
                <a:ea typeface="DM Sans" pitchFamily="34" charset="-122"/>
                <a:cs typeface="DM Sans" pitchFamily="34" charset="-120"/>
              </a:rPr>
              <a:t>Data: study hours, attendance rate, homework rate → math score</a:t>
            </a:r>
            <a:endParaRPr lang="en-US" sz="1400" dirty="0"/>
          </a:p>
        </p:txBody>
      </p:sp>
      <p:sp>
        <p:nvSpPr>
          <p:cNvPr id="13" name="Text 11"/>
          <p:cNvSpPr/>
          <p:nvPr/>
        </p:nvSpPr>
        <p:spPr>
          <a:xfrm>
            <a:off x="812767" y="6289030"/>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DM Sans" pitchFamily="34" charset="0"/>
                <a:ea typeface="DM Sans" pitchFamily="34" charset="-122"/>
                <a:cs typeface="DM Sans" pitchFamily="34" charset="-120"/>
              </a:rPr>
              <a:t>Introduction to linear regression</a:t>
            </a:r>
            <a:endParaRPr lang="en-US" sz="1200" dirty="0"/>
          </a:p>
        </p:txBody>
      </p:sp>
      <p:sp>
        <p:nvSpPr>
          <p:cNvPr id="14" name="Text 12"/>
          <p:cNvSpPr/>
          <p:nvPr/>
        </p:nvSpPr>
        <p:spPr>
          <a:xfrm>
            <a:off x="10058433" y="6289030"/>
            <a:ext cx="1320800" cy="23877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748B"/>
                </a:solidFill>
                <a:latin typeface="DM Sans" pitchFamily="34" charset="0"/>
                <a:ea typeface="DM Sans" pitchFamily="34" charset="-122"/>
                <a:cs typeface="DM Sans" pitchFamily="34" charset="-120"/>
              </a:rPr>
              <a:t>29</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67" y="508000"/>
            <a:ext cx="10883461"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5C"/>
                </a:solidFill>
                <a:latin typeface="DM Sans" pitchFamily="34" charset="0"/>
                <a:ea typeface="DM Sans" pitchFamily="34" charset="-122"/>
                <a:cs typeface="DM Sans" pitchFamily="34" charset="-120"/>
              </a:rPr>
              <a:t>Regression vs. Classification</a:t>
            </a:r>
            <a:endParaRPr lang="en-US" sz="3200" dirty="0"/>
          </a:p>
        </p:txBody>
      </p:sp>
      <p:sp>
        <p:nvSpPr>
          <p:cNvPr id="3" name="Shape 1"/>
          <p:cNvSpPr/>
          <p:nvPr/>
        </p:nvSpPr>
        <p:spPr>
          <a:xfrm>
            <a:off x="812767" y="1076908"/>
            <a:ext cx="609589" cy="50767"/>
          </a:xfrm>
          <a:prstGeom prst="roundRect">
            <a:avLst>
              <a:gd name="adj" fmla="val 50000"/>
            </a:avLst>
          </a:prstGeom>
          <a:solidFill>
            <a:srgbClr val="2563EB"/>
          </a:solidFill>
          <a:ln/>
        </p:spPr>
      </p:sp>
      <p:sp>
        <p:nvSpPr>
          <p:cNvPr id="4" name="Text 2"/>
          <p:cNvSpPr/>
          <p:nvPr/>
        </p:nvSpPr>
        <p:spPr>
          <a:xfrm>
            <a:off x="849089" y="1356258"/>
            <a:ext cx="10839519" cy="1147399"/>
          </a:xfrm>
          <a:prstGeom prst="rect">
            <a:avLst/>
          </a:prstGeom>
          <a:noFill/>
          <a:ln/>
        </p:spPr>
        <p:txBody>
          <a:bodyPr wrap="square" lIns="0" tIns="0" rIns="0" bIns="0" rtlCol="0" anchor="t">
            <a:normAutofit/>
          </a:bodyPr>
          <a:lstStyle/>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Regression: predicts a number</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Classification: predicts a category (group)</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Linear regression is a typical regression method</a:t>
            </a:r>
            <a:endParaRPr lang="en-US" sz="1900" dirty="0"/>
          </a:p>
        </p:txBody>
      </p:sp>
      <p:sp>
        <p:nvSpPr>
          <p:cNvPr id="5" name="Shape 3"/>
          <p:cNvSpPr/>
          <p:nvPr/>
        </p:nvSpPr>
        <p:spPr>
          <a:xfrm>
            <a:off x="819117" y="2713199"/>
            <a:ext cx="10553767" cy="2090131"/>
          </a:xfrm>
          <a:prstGeom prst="roundRect">
            <a:avLst>
              <a:gd name="adj" fmla="val 5772"/>
            </a:avLst>
          </a:prstGeom>
          <a:solidFill>
            <a:srgbClr val="F1F6FE"/>
          </a:solidFill>
          <a:ln w="12700">
            <a:solidFill>
              <a:srgbClr val="CFE0FA"/>
            </a:solidFill>
            <a:prstDash val="solid"/>
          </a:ln>
        </p:spPr>
      </p:sp>
      <p:sp>
        <p:nvSpPr>
          <p:cNvPr id="6" name="Text 4"/>
          <p:cNvSpPr/>
          <p:nvPr/>
        </p:nvSpPr>
        <p:spPr>
          <a:xfrm>
            <a:off x="1102706" y="2946016"/>
            <a:ext cx="10286186"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Math score example</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113290" y="3258844"/>
          <a:ext cx="9976005" cy="1311672"/>
        </p:xfrm>
        <a:graphic>
          <a:graphicData uri="http://schemas.openxmlformats.org/drawingml/2006/table">
            <a:tbl>
              <a:tblPr/>
              <a:tblGrid>
                <a:gridCol w="2992801"/>
                <a:gridCol w="3491602"/>
                <a:gridCol w="3491602"/>
              </a:tblGrid>
              <a:tr h="437224">
                <a:tc>
                  <a:txBody>
                    <a:bodyPr/>
                    <a:lstStyle/>
                    <a:p>
                      <a:pPr indent="0" marL="0">
                        <a:lnSpc>
                          <a:spcPts val="2240"/>
                        </a:lnSpc>
                        <a:buNone/>
                      </a:pPr>
                      <a:r>
                        <a:rPr lang="en-US" sz="1600" b="1" dirty="0">
                          <a:solidFill>
                            <a:srgbClr val="0F2A5C"/>
                          </a:solidFill>
                          <a:latin typeface="DM Sans" pitchFamily="34" charset="0"/>
                          <a:ea typeface="DM Sans" pitchFamily="34" charset="-122"/>
                          <a:cs typeface="DM Sans" pitchFamily="34" charset="-120"/>
                        </a:rPr>
                        <a:t>Item</a:t>
                      </a:r>
                      <a:endParaRPr lang="en-US" sz="1600" dirty="0">
                        <a:latin typeface="DM Sans" charset="0"/>
                        <a:ea typeface="DM Sans" charset="0"/>
                        <a:cs typeface="DM Sans" charset="0"/>
                      </a:endParaRPr>
                    </a:p>
                  </a:txBody>
                  <a:tcPr marL="71120" marR="71120" marT="71120" marB="71120" anchor="t">
                    <a:lnL w="12700" cap="flat" cmpd="sng" algn="ctr">
                      <a:solidFill>
                        <a:srgbClr val="C0C4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2240"/>
                        </a:lnSpc>
                        <a:buNone/>
                      </a:pPr>
                      <a:r>
                        <a:rPr lang="en-US" sz="1600" b="1" dirty="0">
                          <a:solidFill>
                            <a:srgbClr val="0F2A5C"/>
                          </a:solidFill>
                          <a:latin typeface="DM Sans" pitchFamily="34" charset="0"/>
                          <a:ea typeface="DM Sans" pitchFamily="34" charset="-122"/>
                          <a:cs typeface="DM Sans" pitchFamily="34" charset="-120"/>
                        </a:rPr>
                        <a:t>Regression</a:t>
                      </a:r>
                      <a:endParaRPr lang="en-US" sz="1600" dirty="0">
                        <a:latin typeface="DM Sans" charset="0"/>
                        <a:ea typeface="DM Sans" charset="0"/>
                        <a:cs typeface="DM Sans" charset="0"/>
                      </a:endParaRPr>
                    </a:p>
                  </a:txBody>
                  <a:tcPr marL="71120" marR="71120" marT="71120" marB="71120"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2240"/>
                        </a:lnSpc>
                        <a:buNone/>
                      </a:pPr>
                      <a:r>
                        <a:rPr lang="en-US" sz="1600" b="1" dirty="0">
                          <a:solidFill>
                            <a:srgbClr val="0F2A5C"/>
                          </a:solidFill>
                          <a:latin typeface="DM Sans" pitchFamily="34" charset="0"/>
                          <a:ea typeface="DM Sans" pitchFamily="34" charset="-122"/>
                          <a:cs typeface="DM Sans" pitchFamily="34" charset="-120"/>
                        </a:rPr>
                        <a:t>Classification</a:t>
                      </a:r>
                      <a:endParaRPr lang="en-US" sz="1600" dirty="0">
                        <a:latin typeface="DM Sans" charset="0"/>
                        <a:ea typeface="DM Sans" charset="0"/>
                        <a:cs typeface="DM Sans" charset="0"/>
                      </a:endParaRPr>
                    </a:p>
                  </a:txBody>
                  <a:tcPr marL="71120" marR="71120" marT="71120" marB="71120"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r>
              <a:tr h="437224">
                <a:tc>
                  <a:txBody>
                    <a:bodyPr/>
                    <a:lstStyle/>
                    <a:p>
                      <a:pPr indent="0" marL="0">
                        <a:lnSpc>
                          <a:spcPts val="2240"/>
                        </a:lnSpc>
                        <a:buNone/>
                      </a:pPr>
                      <a:r>
                        <a:rPr lang="en-US" sz="1600" dirty="0">
                          <a:solidFill>
                            <a:srgbClr val="1E293B"/>
                          </a:solidFill>
                          <a:latin typeface="DM Sans" pitchFamily="34" charset="0"/>
                          <a:ea typeface="DM Sans" pitchFamily="34" charset="-122"/>
                          <a:cs typeface="DM Sans" pitchFamily="34" charset="-120"/>
                        </a:rPr>
                        <a:t>Predicts</a:t>
                      </a:r>
                      <a:endParaRPr lang="en-US" sz="1600" dirty="0">
                        <a:latin typeface="DM Sans" charset="0"/>
                        <a:ea typeface="DM Sans" charset="0"/>
                        <a:cs typeface="DM Sans" charset="0"/>
                      </a:endParaRPr>
                    </a:p>
                  </a:txBody>
                  <a:tcPr marL="71120" marR="71120" marT="71120" marB="71120"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DM Sans" pitchFamily="34" charset="0"/>
                          <a:ea typeface="DM Sans" pitchFamily="34" charset="-122"/>
                          <a:cs typeface="DM Sans" pitchFamily="34" charset="-120"/>
                        </a:rPr>
                        <a:t>A number</a:t>
                      </a:r>
                      <a:endParaRPr lang="en-US" sz="1600" dirty="0">
                        <a:latin typeface="DM Sans" charset="0"/>
                        <a:ea typeface="DM Sans" charset="0"/>
                        <a:cs typeface="DM Sans"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DM Sans" pitchFamily="34" charset="0"/>
                          <a:ea typeface="DM Sans" pitchFamily="34" charset="-122"/>
                          <a:cs typeface="DM Sans" pitchFamily="34" charset="-120"/>
                        </a:rPr>
                        <a:t>A category</a:t>
                      </a:r>
                      <a:endParaRPr lang="en-US" sz="1600" dirty="0">
                        <a:latin typeface="DM Sans" charset="0"/>
                        <a:ea typeface="DM Sans" charset="0"/>
                        <a:cs typeface="DM Sans"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37224">
                <a:tc>
                  <a:txBody>
                    <a:bodyPr/>
                    <a:lstStyle/>
                    <a:p>
                      <a:pPr indent="0" marL="0">
                        <a:lnSpc>
                          <a:spcPts val="2240"/>
                        </a:lnSpc>
                        <a:buNone/>
                      </a:pPr>
                      <a:r>
                        <a:rPr lang="en-US" sz="1600" dirty="0">
                          <a:solidFill>
                            <a:srgbClr val="1E293B"/>
                          </a:solidFill>
                          <a:latin typeface="DM Sans" pitchFamily="34" charset="0"/>
                          <a:ea typeface="DM Sans" pitchFamily="34" charset="-122"/>
                          <a:cs typeface="DM Sans" pitchFamily="34" charset="-120"/>
                        </a:rPr>
                        <a:t>Example</a:t>
                      </a:r>
                      <a:endParaRPr lang="en-US" sz="1600" dirty="0">
                        <a:latin typeface="DM Sans" charset="0"/>
                        <a:ea typeface="DM Sans" charset="0"/>
                        <a:cs typeface="DM Sans" charset="0"/>
                      </a:endParaRPr>
                    </a:p>
                  </a:txBody>
                  <a:tcPr marL="71120" marR="71120" marT="71120" marB="71120"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DM Sans" pitchFamily="34" charset="0"/>
                          <a:ea typeface="DM Sans" pitchFamily="34" charset="-122"/>
                          <a:cs typeface="DM Sans" pitchFamily="34" charset="-120"/>
                        </a:rPr>
                        <a:t>Predict 72 points</a:t>
                      </a:r>
                      <a:endParaRPr lang="en-US" sz="1600" dirty="0">
                        <a:latin typeface="DM Sans" charset="0"/>
                        <a:ea typeface="DM Sans" charset="0"/>
                        <a:cs typeface="DM Sans"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240"/>
                        </a:lnSpc>
                        <a:buNone/>
                      </a:pPr>
                      <a:r>
                        <a:rPr lang="en-US" sz="1600" dirty="0">
                          <a:solidFill>
                            <a:srgbClr val="1E293B"/>
                          </a:solidFill>
                          <a:latin typeface="DM Sans" pitchFamily="34" charset="0"/>
                          <a:ea typeface="DM Sans" pitchFamily="34" charset="-122"/>
                          <a:cs typeface="DM Sans" pitchFamily="34" charset="-120"/>
                        </a:rPr>
                        <a:t>Predict pass / fail</a:t>
                      </a:r>
                      <a:endParaRPr lang="en-US" sz="1600" dirty="0">
                        <a:latin typeface="DM Sans" charset="0"/>
                        <a:ea typeface="DM Sans" charset="0"/>
                        <a:cs typeface="DM Sans"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8" name="Text 5"/>
          <p:cNvSpPr/>
          <p:nvPr/>
        </p:nvSpPr>
        <p:spPr>
          <a:xfrm>
            <a:off x="812767" y="6289042"/>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DM Sans" pitchFamily="34" charset="0"/>
                <a:ea typeface="DM Sans" pitchFamily="34" charset="-122"/>
                <a:cs typeface="DM Sans" pitchFamily="34" charset="-120"/>
              </a:rPr>
              <a:t>Introduction to linear regression</a:t>
            </a:r>
            <a:endParaRPr lang="en-US" sz="1200" dirty="0"/>
          </a:p>
        </p:txBody>
      </p:sp>
      <p:sp>
        <p:nvSpPr>
          <p:cNvPr id="9" name="Text 6"/>
          <p:cNvSpPr/>
          <p:nvPr/>
        </p:nvSpPr>
        <p:spPr>
          <a:xfrm>
            <a:off x="10058433" y="6289042"/>
            <a:ext cx="1320800" cy="23877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748B"/>
                </a:solidFill>
                <a:latin typeface="DM Sans" pitchFamily="34" charset="0"/>
                <a:ea typeface="DM Sans" pitchFamily="34" charset="-122"/>
                <a:cs typeface="DM Sans" pitchFamily="34" charset="-120"/>
              </a:rPr>
              <a:t>30</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67" y="508000"/>
            <a:ext cx="10883461"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5C"/>
                </a:solidFill>
                <a:latin typeface="DM Sans" pitchFamily="34" charset="0"/>
                <a:ea typeface="DM Sans" pitchFamily="34" charset="-122"/>
                <a:cs typeface="DM Sans" pitchFamily="34" charset="-120"/>
              </a:rPr>
              <a:t>Linear Regression Basics</a:t>
            </a:r>
            <a:endParaRPr lang="en-US" sz="3200" dirty="0"/>
          </a:p>
        </p:txBody>
      </p:sp>
      <p:sp>
        <p:nvSpPr>
          <p:cNvPr id="3" name="Shape 1"/>
          <p:cNvSpPr/>
          <p:nvPr/>
        </p:nvSpPr>
        <p:spPr>
          <a:xfrm>
            <a:off x="812767" y="1076920"/>
            <a:ext cx="609589" cy="50767"/>
          </a:xfrm>
          <a:prstGeom prst="roundRect">
            <a:avLst>
              <a:gd name="adj" fmla="val 50000"/>
            </a:avLst>
          </a:prstGeom>
          <a:solidFill>
            <a:srgbClr val="2563EB"/>
          </a:solidFill>
          <a:ln/>
        </p:spPr>
      </p:sp>
      <p:sp>
        <p:nvSpPr>
          <p:cNvPr id="4" name="Text 2"/>
          <p:cNvSpPr/>
          <p:nvPr/>
        </p:nvSpPr>
        <p:spPr>
          <a:xfrm>
            <a:off x="849089" y="1356271"/>
            <a:ext cx="10839519" cy="1147399"/>
          </a:xfrm>
          <a:prstGeom prst="rect">
            <a:avLst/>
          </a:prstGeom>
          <a:noFill/>
          <a:ln/>
        </p:spPr>
        <p:txBody>
          <a:bodyPr wrap="square" lIns="0" tIns="0" rIns="0" bIns="0" rtlCol="0" anchor="t">
            <a:normAutofit/>
          </a:bodyPr>
          <a:lstStyle/>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Multiply each feature by a “weight” and add them up to predict the output</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The larger the weight, the greater that feature’s influence</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Training means finding the weights that make predictions accurate</a:t>
            </a:r>
            <a:endParaRPr lang="en-US" sz="1900" dirty="0"/>
          </a:p>
        </p:txBody>
      </p:sp>
      <p:sp>
        <p:nvSpPr>
          <p:cNvPr id="5" name="Shape 3"/>
          <p:cNvSpPr/>
          <p:nvPr/>
        </p:nvSpPr>
        <p:spPr>
          <a:xfrm>
            <a:off x="819117" y="2713211"/>
            <a:ext cx="10553767" cy="2548301"/>
          </a:xfrm>
          <a:prstGeom prst="roundRect">
            <a:avLst>
              <a:gd name="adj" fmla="val 4735"/>
            </a:avLst>
          </a:prstGeom>
          <a:solidFill>
            <a:srgbClr val="F1F6FE"/>
          </a:solidFill>
          <a:ln w="12700">
            <a:solidFill>
              <a:srgbClr val="CFE0FA"/>
            </a:solidFill>
            <a:prstDash val="solid"/>
          </a:ln>
        </p:spPr>
      </p:sp>
      <p:sp>
        <p:nvSpPr>
          <p:cNvPr id="6" name="Text 4"/>
          <p:cNvSpPr/>
          <p:nvPr/>
        </p:nvSpPr>
        <p:spPr>
          <a:xfrm>
            <a:off x="1102706" y="2946028"/>
            <a:ext cx="10286186"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Math score formula (3 features)</a:t>
            </a:r>
            <a:endParaRPr lang="en-US" sz="1400" dirty="0"/>
          </a:p>
        </p:txBody>
      </p:sp>
      <p:sp>
        <p:nvSpPr>
          <p:cNvPr id="7" name="Text 5"/>
          <p:cNvSpPr/>
          <p:nvPr/>
        </p:nvSpPr>
        <p:spPr>
          <a:xfrm>
            <a:off x="1102706" y="3260998"/>
            <a:ext cx="10286186" cy="391131"/>
          </a:xfrm>
          <a:prstGeom prst="rect">
            <a:avLst/>
          </a:prstGeom>
          <a:noFill/>
          <a:ln/>
        </p:spPr>
        <p:txBody>
          <a:bodyPr wrap="square" lIns="0" tIns="0" rIns="0" bIns="0" rtlCol="0" anchor="t">
            <a:normAutofit/>
          </a:bodyPr>
          <a:lstStyle/>
          <a:p>
            <a:pPr algn="l" indent="0" marL="0">
              <a:lnSpc>
                <a:spcPts val="2880"/>
              </a:lnSpc>
              <a:buNone/>
            </a:pPr>
            <a:r>
              <a:rPr lang="en-US" sz="1800" b="1" dirty="0">
                <a:solidFill>
                  <a:srgbClr val="0F2A5C"/>
                </a:solidFill>
                <a:latin typeface="DM Sans" pitchFamily="34" charset="0"/>
                <a:ea typeface="DM Sans" pitchFamily="34" charset="-122"/>
                <a:cs typeface="DM Sans" pitchFamily="34" charset="-120"/>
              </a:rPr>
              <a:t>Math score = baseline</a:t>
            </a:r>
            <a:endParaRPr lang="en-US" sz="1800" dirty="0"/>
          </a:p>
        </p:txBody>
      </p:sp>
      <p:sp>
        <p:nvSpPr>
          <p:cNvPr id="8" name="Text 6"/>
          <p:cNvSpPr/>
          <p:nvPr/>
        </p:nvSpPr>
        <p:spPr>
          <a:xfrm>
            <a:off x="1102706" y="3728318"/>
            <a:ext cx="10286186" cy="391131"/>
          </a:xfrm>
          <a:prstGeom prst="rect">
            <a:avLst/>
          </a:prstGeom>
          <a:noFill/>
          <a:ln/>
        </p:spPr>
        <p:txBody>
          <a:bodyPr wrap="square" lIns="0" tIns="0" rIns="0" bIns="0" rtlCol="0" anchor="t">
            <a:normAutofit/>
          </a:bodyPr>
          <a:lstStyle/>
          <a:p>
            <a:pPr algn="l" indent="0" marL="0">
              <a:lnSpc>
                <a:spcPts val="2880"/>
              </a:lnSpc>
              <a:buNone/>
            </a:pPr>
            <a:r>
              <a:rPr lang="en-US" sz="1800" dirty="0">
                <a:solidFill>
                  <a:srgbClr val="1E293B"/>
                </a:solidFill>
                <a:latin typeface="DM Sans" pitchFamily="34" charset="0"/>
                <a:ea typeface="DM Sans" pitchFamily="34" charset="-122"/>
                <a:cs typeface="DM Sans" pitchFamily="34" charset="-120"/>
              </a:rPr>
              <a:t>+ weight 1 × study hours</a:t>
            </a:r>
            <a:endParaRPr lang="en-US" sz="1800" dirty="0"/>
          </a:p>
        </p:txBody>
      </p:sp>
      <p:sp>
        <p:nvSpPr>
          <p:cNvPr id="9" name="Text 7"/>
          <p:cNvSpPr/>
          <p:nvPr/>
        </p:nvSpPr>
        <p:spPr>
          <a:xfrm>
            <a:off x="1102706" y="4195638"/>
            <a:ext cx="10286186" cy="391131"/>
          </a:xfrm>
          <a:prstGeom prst="rect">
            <a:avLst/>
          </a:prstGeom>
          <a:noFill/>
          <a:ln/>
        </p:spPr>
        <p:txBody>
          <a:bodyPr wrap="square" lIns="0" tIns="0" rIns="0" bIns="0" rtlCol="0" anchor="t">
            <a:normAutofit/>
          </a:bodyPr>
          <a:lstStyle/>
          <a:p>
            <a:pPr algn="l" indent="0" marL="0">
              <a:lnSpc>
                <a:spcPts val="2880"/>
              </a:lnSpc>
              <a:buNone/>
            </a:pPr>
            <a:r>
              <a:rPr lang="en-US" sz="1800" dirty="0">
                <a:solidFill>
                  <a:srgbClr val="1E293B"/>
                </a:solidFill>
                <a:latin typeface="DM Sans" pitchFamily="34" charset="0"/>
                <a:ea typeface="DM Sans" pitchFamily="34" charset="-122"/>
                <a:cs typeface="DM Sans" pitchFamily="34" charset="-120"/>
              </a:rPr>
              <a:t>+ weight 2 × attendance rate</a:t>
            </a:r>
            <a:endParaRPr lang="en-US" sz="1800" dirty="0"/>
          </a:p>
        </p:txBody>
      </p:sp>
      <p:sp>
        <p:nvSpPr>
          <p:cNvPr id="10" name="Text 8"/>
          <p:cNvSpPr/>
          <p:nvPr/>
        </p:nvSpPr>
        <p:spPr>
          <a:xfrm>
            <a:off x="1102706" y="4662959"/>
            <a:ext cx="10286186" cy="391131"/>
          </a:xfrm>
          <a:prstGeom prst="rect">
            <a:avLst/>
          </a:prstGeom>
          <a:noFill/>
          <a:ln/>
        </p:spPr>
        <p:txBody>
          <a:bodyPr wrap="square" lIns="0" tIns="0" rIns="0" bIns="0" rtlCol="0" anchor="t">
            <a:normAutofit/>
          </a:bodyPr>
          <a:lstStyle/>
          <a:p>
            <a:pPr algn="l" indent="0" marL="0">
              <a:lnSpc>
                <a:spcPts val="2880"/>
              </a:lnSpc>
              <a:buNone/>
            </a:pPr>
            <a:r>
              <a:rPr lang="en-US" sz="1800" dirty="0">
                <a:solidFill>
                  <a:srgbClr val="1E293B"/>
                </a:solidFill>
                <a:latin typeface="DM Sans" pitchFamily="34" charset="0"/>
                <a:ea typeface="DM Sans" pitchFamily="34" charset="-122"/>
                <a:cs typeface="DM Sans" pitchFamily="34" charset="-120"/>
              </a:rPr>
              <a:t>+ weight 3 × homework rate</a:t>
            </a:r>
            <a:endParaRPr lang="en-US" sz="1800" dirty="0"/>
          </a:p>
        </p:txBody>
      </p:sp>
      <p:sp>
        <p:nvSpPr>
          <p:cNvPr id="11" name="Text 9"/>
          <p:cNvSpPr/>
          <p:nvPr/>
        </p:nvSpPr>
        <p:spPr>
          <a:xfrm>
            <a:off x="812767" y="6289055"/>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DM Sans" pitchFamily="34" charset="0"/>
                <a:ea typeface="DM Sans" pitchFamily="34" charset="-122"/>
                <a:cs typeface="DM Sans" pitchFamily="34" charset="-120"/>
              </a:rPr>
              <a:t>Introduction to linear regression</a:t>
            </a:r>
            <a:endParaRPr lang="en-US" sz="1200" dirty="0"/>
          </a:p>
        </p:txBody>
      </p:sp>
      <p:sp>
        <p:nvSpPr>
          <p:cNvPr id="12" name="Text 10"/>
          <p:cNvSpPr/>
          <p:nvPr/>
        </p:nvSpPr>
        <p:spPr>
          <a:xfrm>
            <a:off x="10058433" y="6289055"/>
            <a:ext cx="1320800" cy="23877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748B"/>
                </a:solidFill>
                <a:latin typeface="DM Sans" pitchFamily="34" charset="0"/>
                <a:ea typeface="DM Sans" pitchFamily="34" charset="-122"/>
                <a:cs typeface="DM Sans" pitchFamily="34" charset="-120"/>
              </a:rPr>
              <a:t>31</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67" y="508000"/>
            <a:ext cx="10883461"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5C"/>
                </a:solidFill>
                <a:latin typeface="DM Sans" pitchFamily="34" charset="0"/>
                <a:ea typeface="DM Sans" pitchFamily="34" charset="-122"/>
                <a:cs typeface="DM Sans" pitchFamily="34" charset="-120"/>
              </a:rPr>
              <a:t>Example: Predicting a Math Score</a:t>
            </a:r>
            <a:endParaRPr lang="en-US" sz="3200" dirty="0"/>
          </a:p>
        </p:txBody>
      </p:sp>
      <p:sp>
        <p:nvSpPr>
          <p:cNvPr id="3" name="Shape 1"/>
          <p:cNvSpPr/>
          <p:nvPr/>
        </p:nvSpPr>
        <p:spPr>
          <a:xfrm>
            <a:off x="812767" y="1076920"/>
            <a:ext cx="609589" cy="50767"/>
          </a:xfrm>
          <a:prstGeom prst="roundRect">
            <a:avLst>
              <a:gd name="adj" fmla="val 50000"/>
            </a:avLst>
          </a:prstGeom>
          <a:solidFill>
            <a:srgbClr val="2563EB"/>
          </a:solidFill>
          <a:ln/>
        </p:spPr>
      </p:sp>
      <p:sp>
        <p:nvSpPr>
          <p:cNvPr id="4" name="Text 2"/>
          <p:cNvSpPr/>
          <p:nvPr/>
        </p:nvSpPr>
        <p:spPr>
          <a:xfrm>
            <a:off x="849089" y="1356271"/>
            <a:ext cx="10839519" cy="1147399"/>
          </a:xfrm>
          <a:prstGeom prst="rect">
            <a:avLst/>
          </a:prstGeom>
          <a:noFill/>
          <a:ln/>
        </p:spPr>
        <p:txBody>
          <a:bodyPr wrap="square" lIns="0" tIns="0" rIns="0" bIns="0" rtlCol="0" anchor="t">
            <a:normAutofit/>
          </a:bodyPr>
          <a:lstStyle/>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Features: study hours, attendance rate, homework rate (3 in total)</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Training determines the weights (example values below)</a:t>
            </a:r>
            <a:endParaRPr lang="en-US" sz="1900" dirty="0"/>
          </a:p>
          <a:p>
            <a:pPr algn="l" marL="217678" indent="-217678">
              <a:lnSpc>
                <a:spcPts val="2945"/>
              </a:lnSpc>
              <a:buSzPct val="100000"/>
              <a:buChar char="•"/>
            </a:pPr>
            <a:r>
              <a:rPr lang="en-US" sz="1900" dirty="0">
                <a:solidFill>
                  <a:srgbClr val="1E293B"/>
                </a:solidFill>
                <a:latin typeface="DM Sans" pitchFamily="34" charset="0"/>
                <a:ea typeface="DM Sans" pitchFamily="34" charset="-122"/>
                <a:cs typeface="DM Sans" pitchFamily="34" charset="-120"/>
              </a:rPr>
              <a:t>Plug in the weights to predict a new student’s score</a:t>
            </a:r>
            <a:endParaRPr lang="en-US" sz="1900" dirty="0"/>
          </a:p>
        </p:txBody>
      </p:sp>
      <p:sp>
        <p:nvSpPr>
          <p:cNvPr id="5" name="Shape 3"/>
          <p:cNvSpPr/>
          <p:nvPr/>
        </p:nvSpPr>
        <p:spPr>
          <a:xfrm>
            <a:off x="819117" y="2713211"/>
            <a:ext cx="10553767" cy="2342753"/>
          </a:xfrm>
          <a:prstGeom prst="roundRect">
            <a:avLst>
              <a:gd name="adj" fmla="val 5150"/>
            </a:avLst>
          </a:prstGeom>
          <a:solidFill>
            <a:srgbClr val="F1F6FE"/>
          </a:solidFill>
          <a:ln w="12700">
            <a:solidFill>
              <a:srgbClr val="CFE0FA"/>
            </a:solidFill>
            <a:prstDash val="solid"/>
          </a:ln>
        </p:spPr>
      </p:sp>
      <p:sp>
        <p:nvSpPr>
          <p:cNvPr id="6" name="Text 4"/>
          <p:cNvSpPr/>
          <p:nvPr/>
        </p:nvSpPr>
        <p:spPr>
          <a:xfrm>
            <a:off x="1102706" y="2946028"/>
            <a:ext cx="10286186"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Formula learned in training (example)</a:t>
            </a:r>
            <a:endParaRPr lang="en-US" sz="1400" dirty="0"/>
          </a:p>
        </p:txBody>
      </p:sp>
      <p:sp>
        <p:nvSpPr>
          <p:cNvPr id="7" name="Text 5"/>
          <p:cNvSpPr/>
          <p:nvPr/>
        </p:nvSpPr>
        <p:spPr>
          <a:xfrm>
            <a:off x="1102706" y="3248273"/>
            <a:ext cx="10286186" cy="349239"/>
          </a:xfrm>
          <a:prstGeom prst="rect">
            <a:avLst/>
          </a:prstGeom>
          <a:noFill/>
          <a:ln/>
        </p:spPr>
        <p:txBody>
          <a:bodyPr wrap="square" lIns="0" tIns="0" rIns="0" bIns="0" rtlCol="0" anchor="t">
            <a:normAutofit/>
          </a:bodyPr>
          <a:lstStyle/>
          <a:p>
            <a:pPr algn="l" indent="0" marL="0">
              <a:lnSpc>
                <a:spcPts val="2550"/>
              </a:lnSpc>
              <a:buNone/>
            </a:pPr>
            <a:r>
              <a:rPr lang="en-US" sz="1700" b="1" dirty="0">
                <a:solidFill>
                  <a:srgbClr val="0F2A5C"/>
                </a:solidFill>
                <a:latin typeface="DM Sans" pitchFamily="34" charset="0"/>
                <a:ea typeface="DM Sans" pitchFamily="34" charset="-122"/>
                <a:cs typeface="DM Sans" pitchFamily="34" charset="-120"/>
              </a:rPr>
              <a:t>Math score = 20 + 1.5 × study hours + 30 × attendance rate + 20 × homework rate</a:t>
            </a:r>
            <a:endParaRPr lang="en-US" sz="17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113290" y="3671557"/>
          <a:ext cx="9976005" cy="1151599"/>
        </p:xfrm>
        <a:graphic>
          <a:graphicData uri="http://schemas.openxmlformats.org/drawingml/2006/table">
            <a:tbl>
              <a:tblPr/>
              <a:tblGrid>
                <a:gridCol w="1396641"/>
                <a:gridCol w="1995201"/>
                <a:gridCol w="1795681"/>
                <a:gridCol w="2394241"/>
                <a:gridCol w="2394241"/>
              </a:tblGrid>
              <a:tr h="383866">
                <a:tc>
                  <a:txBody>
                    <a:bodyPr/>
                    <a:lstStyle/>
                    <a:p>
                      <a:pPr indent="0" marL="0">
                        <a:lnSpc>
                          <a:spcPts val="1960"/>
                        </a:lnSpc>
                        <a:buNone/>
                      </a:pPr>
                      <a:r>
                        <a:rPr lang="en-US" sz="1400" b="1" dirty="0">
                          <a:solidFill>
                            <a:srgbClr val="0F2A5C"/>
                          </a:solidFill>
                          <a:latin typeface="DM Sans" pitchFamily="34" charset="0"/>
                          <a:ea typeface="DM Sans" pitchFamily="34" charset="-122"/>
                          <a:cs typeface="DM Sans" pitchFamily="34" charset="-120"/>
                        </a:rPr>
                        <a:t>Student</a:t>
                      </a:r>
                      <a:endParaRPr lang="en-US" sz="1400" dirty="0">
                        <a:latin typeface="DM Sans" charset="0"/>
                        <a:ea typeface="DM Sans" charset="0"/>
                        <a:cs typeface="DM Sans" charset="0"/>
                      </a:endParaRPr>
                    </a:p>
                  </a:txBody>
                  <a:tcPr marL="62230" marR="62230" marT="62230" marB="62230" anchor="t">
                    <a:lnL w="12700" cap="flat" cmpd="sng" algn="ctr">
                      <a:solidFill>
                        <a:srgbClr val="C0C4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1960"/>
                        </a:lnSpc>
                        <a:buNone/>
                      </a:pPr>
                      <a:r>
                        <a:rPr lang="en-US" sz="1400" b="1" dirty="0">
                          <a:solidFill>
                            <a:srgbClr val="0F2A5C"/>
                          </a:solidFill>
                          <a:latin typeface="DM Sans" pitchFamily="34" charset="0"/>
                          <a:ea typeface="DM Sans" pitchFamily="34" charset="-122"/>
                          <a:cs typeface="DM Sans" pitchFamily="34" charset="-120"/>
                        </a:rPr>
                        <a:t>Study hours</a:t>
                      </a:r>
                      <a:endParaRPr lang="en-US" sz="1400" dirty="0">
                        <a:latin typeface="DM Sans" charset="0"/>
                        <a:ea typeface="DM Sans" charset="0"/>
                        <a:cs typeface="DM Sans" charset="0"/>
                      </a:endParaRPr>
                    </a:p>
                  </a:txBody>
                  <a:tcPr marL="62230" marR="62230" marT="62230" marB="62230"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1960"/>
                        </a:lnSpc>
                        <a:buNone/>
                      </a:pPr>
                      <a:r>
                        <a:rPr lang="en-US" sz="1400" b="1" dirty="0">
                          <a:solidFill>
                            <a:srgbClr val="0F2A5C"/>
                          </a:solidFill>
                          <a:latin typeface="DM Sans" pitchFamily="34" charset="0"/>
                          <a:ea typeface="DM Sans" pitchFamily="34" charset="-122"/>
                          <a:cs typeface="DM Sans" pitchFamily="34" charset="-120"/>
                        </a:rPr>
                        <a:t>Attendance</a:t>
                      </a:r>
                      <a:endParaRPr lang="en-US" sz="1400" dirty="0">
                        <a:latin typeface="DM Sans" charset="0"/>
                        <a:ea typeface="DM Sans" charset="0"/>
                        <a:cs typeface="DM Sans" charset="0"/>
                      </a:endParaRPr>
                    </a:p>
                  </a:txBody>
                  <a:tcPr marL="62230" marR="62230" marT="62230" marB="62230"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1960"/>
                        </a:lnSpc>
                        <a:buNone/>
                      </a:pPr>
                      <a:r>
                        <a:rPr lang="en-US" sz="1400" b="1" dirty="0">
                          <a:solidFill>
                            <a:srgbClr val="0F2A5C"/>
                          </a:solidFill>
                          <a:latin typeface="DM Sans" pitchFamily="34" charset="0"/>
                          <a:ea typeface="DM Sans" pitchFamily="34" charset="-122"/>
                          <a:cs typeface="DM Sans" pitchFamily="34" charset="-120"/>
                        </a:rPr>
                        <a:t>Homework rate</a:t>
                      </a:r>
                      <a:endParaRPr lang="en-US" sz="1400" dirty="0">
                        <a:latin typeface="DM Sans" charset="0"/>
                        <a:ea typeface="DM Sans" charset="0"/>
                        <a:cs typeface="DM Sans" charset="0"/>
                      </a:endParaRPr>
                    </a:p>
                  </a:txBody>
                  <a:tcPr marL="62230" marR="62230" marT="62230" marB="62230"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c>
                  <a:txBody>
                    <a:bodyPr/>
                    <a:lstStyle/>
                    <a:p>
                      <a:pPr indent="0" marL="0">
                        <a:lnSpc>
                          <a:spcPts val="1960"/>
                        </a:lnSpc>
                        <a:buNone/>
                      </a:pPr>
                      <a:r>
                        <a:rPr lang="en-US" sz="1400" b="1" dirty="0">
                          <a:solidFill>
                            <a:srgbClr val="0F2A5C"/>
                          </a:solidFill>
                          <a:latin typeface="DM Sans" pitchFamily="34" charset="0"/>
                          <a:ea typeface="DM Sans" pitchFamily="34" charset="-122"/>
                          <a:cs typeface="DM Sans" pitchFamily="34" charset="-120"/>
                        </a:rPr>
                        <a:t>Predicted score</a:t>
                      </a:r>
                      <a:endParaRPr lang="en-US" sz="1400" dirty="0">
                        <a:latin typeface="DM Sans" charset="0"/>
                        <a:ea typeface="DM Sans" charset="0"/>
                        <a:cs typeface="DM Sans" charset="0"/>
                      </a:endParaRPr>
                    </a:p>
                  </a:txBody>
                  <a:tcPr marL="62230" marR="62230" marT="62230" marB="62230" anchor="t">
                    <a:lnL w="12700" cap="flat" cmpd="sng" algn="ctr">
                      <a:solidFill>
                        <a:srgbClr val="AFBBCA"/>
                      </a:solidFill>
                      <a:prstDash val="solid"/>
                      <a:round/>
                      <a:headEnd type="none" w="med" len="med"/>
                      <a:tailEnd type="none" w="med" len="med"/>
                    </a:lnL>
                    <a:lnR w="12700" cap="flat" cmpd="sng" algn="ctr">
                      <a:solidFill>
                        <a:srgbClr val="AFBBCA"/>
                      </a:solidFill>
                      <a:prstDash val="solid"/>
                      <a:round/>
                      <a:headEnd type="none" w="med" len="med"/>
                      <a:tailEnd type="none" w="med" len="med"/>
                    </a:lnR>
                    <a:lnT w="12700" cap="flat" cmpd="sng" algn="ctr">
                      <a:solidFill>
                        <a:srgbClr val="C0C4CA"/>
                      </a:solidFill>
                      <a:prstDash val="solid"/>
                      <a:round/>
                      <a:headEnd type="none" w="med" len="med"/>
                      <a:tailEnd type="none" w="med" len="med"/>
                    </a:lnT>
                    <a:lnB w="12700" cap="flat" cmpd="sng" algn="ctr">
                      <a:solidFill>
                        <a:srgbClr val="AFBBCA"/>
                      </a:solidFill>
                      <a:prstDash val="solid"/>
                      <a:round/>
                      <a:headEnd type="none" w="med" len="med"/>
                      <a:tailEnd type="none" w="med" len="med"/>
                    </a:lnB>
                    <a:solidFill>
                      <a:srgbClr val="DBEAFE"/>
                    </a:solidFill>
                  </a:tcPr>
                </a:tc>
              </a:tr>
              <a:tr h="383866">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A</a:t>
                      </a:r>
                      <a:endParaRPr lang="en-US" sz="1400" dirty="0">
                        <a:latin typeface="DM Sans" charset="0"/>
                        <a:ea typeface="DM Sans" charset="0"/>
                        <a:cs typeface="DM Sans" charset="0"/>
                      </a:endParaRPr>
                    </a:p>
                  </a:txBody>
                  <a:tcPr marL="62230" marR="62230" marT="62230" marB="62230"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10</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0.9</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0.8</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78 pts</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AFBBC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3866">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B</a:t>
                      </a:r>
                      <a:endParaRPr lang="en-US" sz="1400" dirty="0">
                        <a:latin typeface="DM Sans" charset="0"/>
                        <a:ea typeface="DM Sans" charset="0"/>
                        <a:cs typeface="DM Sans" charset="0"/>
                      </a:endParaRPr>
                    </a:p>
                  </a:txBody>
                  <a:tcPr marL="62230" marR="62230" marT="62230" marB="62230" anchor="t">
                    <a:lnL w="12700" cap="flat" cmpd="sng" algn="ctr">
                      <a:solidFill>
                        <a:srgbClr val="C0C4CA"/>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5</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0.7</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0.5</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DM Sans" pitchFamily="34" charset="0"/>
                          <a:ea typeface="DM Sans" pitchFamily="34" charset="-122"/>
                          <a:cs typeface="DM Sans" pitchFamily="34" charset="-120"/>
                        </a:rPr>
                        <a:t>58.5 pts</a:t>
                      </a:r>
                      <a:endParaRPr lang="en-US" sz="1400" dirty="0">
                        <a:latin typeface="DM Sans" charset="0"/>
                        <a:ea typeface="DM Sans" charset="0"/>
                        <a:cs typeface="DM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9" name="Text 6"/>
          <p:cNvSpPr/>
          <p:nvPr/>
        </p:nvSpPr>
        <p:spPr>
          <a:xfrm>
            <a:off x="812767" y="6289055"/>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DM Sans" pitchFamily="34" charset="0"/>
                <a:ea typeface="DM Sans" pitchFamily="34" charset="-122"/>
                <a:cs typeface="DM Sans" pitchFamily="34" charset="-120"/>
              </a:rPr>
              <a:t>Introduction to linear regression</a:t>
            </a:r>
            <a:endParaRPr lang="en-US" sz="1200" dirty="0"/>
          </a:p>
        </p:txBody>
      </p:sp>
      <p:sp>
        <p:nvSpPr>
          <p:cNvPr id="10" name="Text 7"/>
          <p:cNvSpPr/>
          <p:nvPr/>
        </p:nvSpPr>
        <p:spPr>
          <a:xfrm>
            <a:off x="10058433" y="6289055"/>
            <a:ext cx="1320800" cy="23877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748B"/>
                </a:solidFill>
                <a:latin typeface="DM Sans" pitchFamily="34" charset="0"/>
                <a:ea typeface="DM Sans" pitchFamily="34" charset="-122"/>
                <a:cs typeface="DM Sans" pitchFamily="34" charset="-120"/>
              </a:rPr>
              <a:t>32</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812767" y="508000"/>
            <a:ext cx="10883461"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F2A5C"/>
                </a:solidFill>
                <a:latin typeface="DM Sans" pitchFamily="34" charset="0"/>
                <a:ea typeface="DM Sans" pitchFamily="34" charset="-122"/>
                <a:cs typeface="DM Sans" pitchFamily="34" charset="-120"/>
              </a:rPr>
              <a:t>Linear Regression in a Bit More Detail</a:t>
            </a:r>
            <a:endParaRPr lang="en-US" sz="3200" dirty="0"/>
          </a:p>
        </p:txBody>
      </p:sp>
      <p:sp>
        <p:nvSpPr>
          <p:cNvPr id="3" name="Shape 1"/>
          <p:cNvSpPr/>
          <p:nvPr/>
        </p:nvSpPr>
        <p:spPr>
          <a:xfrm>
            <a:off x="812767" y="1076920"/>
            <a:ext cx="609589" cy="50767"/>
          </a:xfrm>
          <a:prstGeom prst="roundRect">
            <a:avLst>
              <a:gd name="adj" fmla="val 50000"/>
            </a:avLst>
          </a:prstGeom>
          <a:solidFill>
            <a:srgbClr val="2563EB"/>
          </a:solidFill>
          <a:ln/>
        </p:spPr>
      </p:sp>
      <p:sp>
        <p:nvSpPr>
          <p:cNvPr id="4" name="Text 2"/>
          <p:cNvSpPr/>
          <p:nvPr/>
        </p:nvSpPr>
        <p:spPr>
          <a:xfrm>
            <a:off x="856201" y="1356271"/>
            <a:ext cx="10832407" cy="1442464"/>
          </a:xfrm>
          <a:prstGeom prst="rect">
            <a:avLst/>
          </a:prstGeom>
          <a:noFill/>
          <a:ln/>
        </p:spPr>
        <p:txBody>
          <a:bodyPr wrap="square" lIns="0" tIns="0" rIns="0" bIns="0" rtlCol="0" anchor="t">
            <a:normAutofit/>
          </a:bodyPr>
          <a:lstStyle/>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Reading a weight: the change when a feature rises by 1, other things equal</a:t>
            </a:r>
            <a:endParaRPr lang="en-US" sz="1800" dirty="0"/>
          </a:p>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Error: the gap between predicted and actual scores; smaller is better</a:t>
            </a:r>
            <a:endParaRPr lang="en-US" sz="1800" dirty="0"/>
          </a:p>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Training: find the weights that minimize error (least squares)</a:t>
            </a:r>
            <a:endParaRPr lang="en-US" sz="1800" dirty="0"/>
          </a:p>
          <a:p>
            <a:pPr algn="l" marL="210566" indent="-210566">
              <a:lnSpc>
                <a:spcPts val="2790"/>
              </a:lnSpc>
              <a:buSzPct val="100000"/>
              <a:buChar char="•"/>
            </a:pPr>
            <a:r>
              <a:rPr lang="en-US" sz="1800" dirty="0">
                <a:solidFill>
                  <a:srgbClr val="1E293B"/>
                </a:solidFill>
                <a:latin typeface="DM Sans" pitchFamily="34" charset="0"/>
                <a:ea typeface="DM Sans" pitchFamily="34" charset="-122"/>
                <a:cs typeface="DM Sans" pitchFamily="34" charset="-120"/>
              </a:rPr>
              <a:t>The better the features, the higher the accuracy (today’s exercise)</a:t>
            </a:r>
            <a:endParaRPr lang="en-US" sz="1800" dirty="0"/>
          </a:p>
        </p:txBody>
      </p:sp>
      <p:sp>
        <p:nvSpPr>
          <p:cNvPr id="5" name="Shape 3"/>
          <p:cNvSpPr/>
          <p:nvPr/>
        </p:nvSpPr>
        <p:spPr>
          <a:xfrm>
            <a:off x="819117" y="3008288"/>
            <a:ext cx="10553767" cy="2060586"/>
          </a:xfrm>
          <a:prstGeom prst="roundRect">
            <a:avLst>
              <a:gd name="adj" fmla="val 5855"/>
            </a:avLst>
          </a:prstGeom>
          <a:solidFill>
            <a:srgbClr val="F1F6FE"/>
          </a:solidFill>
          <a:ln w="12700">
            <a:solidFill>
              <a:srgbClr val="CFE0FA"/>
            </a:solidFill>
            <a:prstDash val="solid"/>
          </a:ln>
        </p:spPr>
      </p:sp>
      <p:sp>
        <p:nvSpPr>
          <p:cNvPr id="6" name="Text 4"/>
          <p:cNvSpPr/>
          <p:nvPr/>
        </p:nvSpPr>
        <p:spPr>
          <a:xfrm>
            <a:off x="1102706" y="3215680"/>
            <a:ext cx="10286186"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Reading the weights (example)</a:t>
            </a:r>
            <a:endParaRPr lang="en-US" sz="1400" dirty="0"/>
          </a:p>
        </p:txBody>
      </p:sp>
      <p:sp>
        <p:nvSpPr>
          <p:cNvPr id="7" name="Text 5"/>
          <p:cNvSpPr/>
          <p:nvPr/>
        </p:nvSpPr>
        <p:spPr>
          <a:xfrm>
            <a:off x="1102706" y="3505250"/>
            <a:ext cx="10286186" cy="330167"/>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E293B"/>
                </a:solidFill>
                <a:latin typeface="DM Sans" pitchFamily="34" charset="0"/>
                <a:ea typeface="DM Sans" pitchFamily="34" charset="-122"/>
                <a:cs typeface="DM Sans" pitchFamily="34" charset="-120"/>
              </a:rPr>
              <a:t>Study time +1 hour → predicted score +1.5 points</a:t>
            </a:r>
            <a:endParaRPr lang="en-US" sz="1600" dirty="0"/>
          </a:p>
        </p:txBody>
      </p:sp>
      <p:sp>
        <p:nvSpPr>
          <p:cNvPr id="8" name="Text 6"/>
          <p:cNvSpPr/>
          <p:nvPr/>
        </p:nvSpPr>
        <p:spPr>
          <a:xfrm>
            <a:off x="1102706" y="3886200"/>
            <a:ext cx="10286186" cy="330167"/>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E293B"/>
                </a:solidFill>
                <a:latin typeface="DM Sans" pitchFamily="34" charset="0"/>
                <a:ea typeface="DM Sans" pitchFamily="34" charset="-122"/>
                <a:cs typeface="DM Sans" pitchFamily="34" charset="-120"/>
              </a:rPr>
              <a:t>Attendance rate +0.1 → predicted score +3 points</a:t>
            </a:r>
            <a:endParaRPr lang="en-US" sz="1600" dirty="0"/>
          </a:p>
        </p:txBody>
      </p:sp>
      <p:sp>
        <p:nvSpPr>
          <p:cNvPr id="9" name="Text 7"/>
          <p:cNvSpPr/>
          <p:nvPr/>
        </p:nvSpPr>
        <p:spPr>
          <a:xfrm>
            <a:off x="1102706" y="4267126"/>
            <a:ext cx="10286186" cy="238775"/>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563EB"/>
                </a:solidFill>
                <a:latin typeface="DM Sans" pitchFamily="34" charset="0"/>
                <a:ea typeface="DM Sans" pitchFamily="34" charset="-122"/>
                <a:cs typeface="DM Sans" pitchFamily="34" charset="-120"/>
              </a:rPr>
              <a:t>Error example</a:t>
            </a:r>
            <a:endParaRPr lang="en-US" sz="1400" dirty="0"/>
          </a:p>
        </p:txBody>
      </p:sp>
      <p:sp>
        <p:nvSpPr>
          <p:cNvPr id="10" name="Text 8"/>
          <p:cNvSpPr/>
          <p:nvPr/>
        </p:nvSpPr>
        <p:spPr>
          <a:xfrm>
            <a:off x="1102706" y="4556696"/>
            <a:ext cx="10286186" cy="330167"/>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E293B"/>
                </a:solidFill>
                <a:latin typeface="DM Sans" pitchFamily="34" charset="0"/>
                <a:ea typeface="DM Sans" pitchFamily="34" charset="-122"/>
                <a:cs typeface="DM Sans" pitchFamily="34" charset="-120"/>
              </a:rPr>
              <a:t>Actual score 80, predicted 78 → </a:t>
            </a:r>
            <a:r>
              <a:rPr lang="en-US" sz="1600" b="1" dirty="0">
                <a:solidFill>
                  <a:srgbClr val="2563EB"/>
                </a:solidFill>
                <a:latin typeface="DM Sans" pitchFamily="34" charset="0"/>
                <a:ea typeface="DM Sans" pitchFamily="34" charset="-122"/>
                <a:cs typeface="DM Sans" pitchFamily="34" charset="-120"/>
              </a:rPr>
              <a:t>error of 2 points</a:t>
            </a:r>
            <a:endParaRPr lang="en-US" sz="1600" dirty="0"/>
          </a:p>
        </p:txBody>
      </p:sp>
      <p:sp>
        <p:nvSpPr>
          <p:cNvPr id="11" name="Text 9"/>
          <p:cNvSpPr/>
          <p:nvPr/>
        </p:nvSpPr>
        <p:spPr>
          <a:xfrm>
            <a:off x="812767" y="6289055"/>
            <a:ext cx="5886450" cy="23877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DM Sans" pitchFamily="34" charset="0"/>
                <a:ea typeface="DM Sans" pitchFamily="34" charset="-122"/>
                <a:cs typeface="DM Sans" pitchFamily="34" charset="-120"/>
              </a:rPr>
              <a:t>Introduction to linear regression</a:t>
            </a:r>
            <a:endParaRPr lang="en-US" sz="1200" dirty="0"/>
          </a:p>
        </p:txBody>
      </p:sp>
      <p:sp>
        <p:nvSpPr>
          <p:cNvPr id="12" name="Text 10"/>
          <p:cNvSpPr/>
          <p:nvPr/>
        </p:nvSpPr>
        <p:spPr>
          <a:xfrm>
            <a:off x="10058433" y="6289055"/>
            <a:ext cx="1320800" cy="238775"/>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4748B"/>
                </a:solidFill>
                <a:latin typeface="DM Sans" pitchFamily="34" charset="0"/>
                <a:ea typeface="DM Sans" pitchFamily="34" charset="-122"/>
                <a:cs typeface="DM Sans" pitchFamily="34" charset="-120"/>
              </a:rPr>
              <a:t>33</a:t>
            </a:r>
            <a:endParaRPr lang="en-US" sz="1200" dirty="0"/>
          </a:p>
        </p:txBody>
      </p:sp>
    </p:spTree>
  </p:cSld>
  <p:clrMapOvr>
    <a:masterClrMapping/>
  </p:clrMapOvr>
</p:sld>
</file>

<file path=ppt/theme/theme1.xml><?xml version="1.0" encoding="utf-8"?>
<a:theme xmlns:a="http://schemas.openxmlformats.org/drawingml/2006/main" name="Feature Engineering">
  <a:themeElements>
    <a:clrScheme name="Feature Engineering">
      <a:dk1>
        <a:srgbClr val="1E293B"/>
      </a:dk1>
      <a:lt1>
        <a:srgbClr val="FFFFFF"/>
      </a:lt1>
      <a:dk2>
        <a:srgbClr val="565F6C"/>
      </a:dk2>
      <a:lt2>
        <a:srgbClr val="E9EAEB"/>
      </a:lt2>
      <a:accent1>
        <a:srgbClr val="2563EB"/>
      </a:accent1>
      <a:accent2>
        <a:srgbClr val="64748B"/>
      </a:accent2>
      <a:accent3>
        <a:srgbClr val="0F2A5C"/>
      </a:accent3>
      <a:accent4>
        <a:srgbClr val="334155"/>
      </a:accent4>
      <a:accent5>
        <a:srgbClr val="9AA0A6"/>
      </a:accent5>
      <a:accent6>
        <a:srgbClr val="787F89"/>
      </a:accent6>
      <a:hlink>
        <a:srgbClr val="0563C1"/>
      </a:hlink>
      <a:folHlink>
        <a:srgbClr val="954F72"/>
      </a:folHlink>
    </a:clrScheme>
    <a:fontScheme name="Feature Engineering">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Feature Engineering</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2026-10-25T05:48:09Z</dcterms:created>
  <dcterms:modified xsi:type="dcterms:W3CDTF">2026-10-25T05:48:09Z</dcterms:modified>
</cp:coreProperties>
</file>