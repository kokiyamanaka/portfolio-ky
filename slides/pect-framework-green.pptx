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9588647-42b7-da35-a2d9-ab09db436af4}">
          <p14:sldIdLst>
            <p14:sldId id="256"/>
          </p14:sldIdLst>
        </p14:section>
        <p14:section name="Overview" id="{049bd58e-5453-3378-f237-a6dfe89f477f}">
          <p14:sldIdLst>
            <p14:sldId id="257"/>
            <p14:sldId id="258"/>
          </p14:sldIdLst>
        </p14:section>
        <p14:section name="Profile" id="{57b23b93-23ee-0831-b600-bbc954484119}">
          <p14:sldIdLst>
            <p14:sldId id="259"/>
            <p14:sldId id="260"/>
            <p14:sldId id="261"/>
            <p14:sldId id="262"/>
          </p14:sldIdLst>
        </p14:section>
        <p14:section name="Engagement" id="{b9df3198-874e-987e-5d34-67f8d4bb413d}">
          <p14:sldIdLst>
            <p14:sldId id="263"/>
          </p14:sldIdLst>
        </p14:section>
        <p14:section name="Collection" id="{ee776062-5af0-cfcc-b4d1-9cad92036d0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raffic" id="{4b184351-540e-4c30-01a2-a8b5fd3da571}">
          <p14:sldIdLst>
            <p14:sldId id="270"/>
          </p14:sldIdLst>
        </p14:section>
        <p14:section name="Summary" id="{9c6fa247-0691-7dba-1d45-93911f79ce5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me"/>
          <p:cNvSpPr/>
          <p:nvPr/>
        </p:nvSpPr>
        <p:spPr>
          <a:xfrm>
            <a:off x="68580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Koki Yamanaka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Title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Body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me"/>
          <p:cNvSpPr/>
          <p:nvPr/>
        </p:nvSpPr>
        <p:spPr>
          <a:xfrm>
            <a:off x="68580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Koki Yamanaka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Title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Body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lead-in"/>
          <p:cNvSpPr txBox="1"/>
          <p:nvPr/>
        </p:nvSpPr>
        <p:spPr>
          <a:xfrm>
            <a:off x="0" y="7772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grow your</a:t>
            </a:r>
            <a:endParaRPr lang="en-US" sz="3000" dirty="0"/>
          </a:p>
        </p:txBody>
      </p:sp>
      <p:sp>
        <p:nvSpPr>
          <p:cNvPr id="3" name="Cover headline 1"/>
          <p:cNvSpPr txBox="1"/>
          <p:nvPr/>
        </p:nvSpPr>
        <p:spPr>
          <a:xfrm>
            <a:off x="0" y="1280160"/>
            <a:ext cx="12188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Instagram</a:t>
            </a:r>
            <a:endParaRPr lang="en-US" sz="12000" dirty="0"/>
          </a:p>
        </p:txBody>
      </p:sp>
      <p:sp>
        <p:nvSpPr>
          <p:cNvPr id="4" name="Cover lead-in 2"/>
          <p:cNvSpPr txBox="1"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endParaRPr lang="en-US" sz="3000" dirty="0"/>
          </a:p>
        </p:txBody>
      </p:sp>
      <p:sp>
        <p:nvSpPr>
          <p:cNvPr id="5" name="Cover headline 2"/>
          <p:cNvSpPr txBox="1"/>
          <p:nvPr/>
        </p:nvSpPr>
        <p:spPr>
          <a:xfrm>
            <a:off x="0" y="3566160"/>
            <a:ext cx="121889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luck</a:t>
            </a:r>
            <a:endParaRPr lang="en-US" sz="17000" dirty="0"/>
          </a:p>
        </p:txBody>
      </p:sp>
      <p:sp>
        <p:nvSpPr>
          <p:cNvPr id="6" name="Cover byline"/>
          <p:cNvSpPr txBox="1"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Koki Yamanaka  ·  The PECT framework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Overview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Takeaway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Learn a framework</a:t>
            </a:r>
            <a:r>
              <a:rPr lang="en-US" sz="2000" dirty="0">
                <a:solidFill>
                  <a:schemeClr val="bg2"/>
                </a:solidFill>
              </a:rPr>
              <a:t> to grow an Instagram account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Backed by my actual experience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And by a leading Instagram marketing agency</a:t>
            </a:r>
            <a:r>
              <a:rPr lang="en-US" sz="2000" dirty="0">
                <a:solidFill>
                  <a:schemeClr val="bg2"/>
                </a:solidFill>
              </a:rPr>
              <a:t> that helped 500 companies reach an average of 10K followers in 4.2 months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Overview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PECT Framework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Profile:</a:t>
            </a:r>
            <a:r>
              <a:rPr lang="en-US" sz="2000" dirty="0">
                <a:solidFill>
                  <a:schemeClr val="bg2"/>
                </a:solidFill>
              </a:rPr>
              <a:t> build a profile that triggers a follow in 3 seconds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Engagement:</a:t>
            </a:r>
            <a:r>
              <a:rPr lang="en-US" sz="2000" dirty="0">
                <a:solidFill>
                  <a:schemeClr val="bg2"/>
                </a:solidFill>
              </a:rPr>
              <a:t> turn followers into fans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Collection:</a:t>
            </a:r>
            <a:r>
              <a:rPr lang="en-US" sz="2000" dirty="0">
                <a:solidFill>
                  <a:schemeClr val="bg2"/>
                </a:solidFill>
              </a:rPr>
              <a:t> make users save your content instantly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Traffic:</a:t>
            </a:r>
            <a:r>
              <a:rPr lang="en-US" sz="2000" dirty="0">
                <a:solidFill>
                  <a:schemeClr val="bg2"/>
                </a:solidFill>
              </a:rPr>
              <a:t> guide users to visit your profile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P · Profile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Profile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Aim:</a:t>
            </a:r>
            <a:r>
              <a:rPr lang="en-US" sz="2000" dirty="0">
                <a:solidFill>
                  <a:schemeClr val="bg2"/>
                </a:solidFill>
              </a:rPr>
              <a:t> trigger a follow within 3 seconds of a profile visit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Actions:</a:t>
            </a:r>
            <a:r>
              <a:rPr lang="en-US" sz="2000" dirty="0">
                <a:solidFill>
                  <a:schemeClr val="bg2"/>
                </a:solidFill>
              </a:rPr>
              <a:t> concept design, then profile page creation and improvement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KPI:</a:t>
            </a:r>
            <a:r>
              <a:rPr lang="en-US" sz="2000" dirty="0">
                <a:solidFill>
                  <a:schemeClr val="bg2"/>
                </a:solidFill>
              </a:rPr>
              <a:t> follower conversion of 6–8% per month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P · Profile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Concept Design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Value proposition</a:t>
            </a:r>
            <a:r>
              <a:rPr lang="en-US" sz="2000" dirty="0">
                <a:solidFill>
                  <a:schemeClr val="bg2"/>
                </a:solidFill>
              </a:rPr>
              <a:t> delivered to a specific person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Merit</a:t>
            </a:r>
            <a:r>
              <a:rPr lang="en-US" sz="2000" dirty="0">
                <a:solidFill>
                  <a:schemeClr val="bg2"/>
                </a:solidFill>
              </a:rPr>
              <a:t> (functional value): “I want thinner legs”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Benefit</a:t>
            </a:r>
            <a:r>
              <a:rPr lang="en-US" sz="2000" dirty="0">
                <a:solidFill>
                  <a:schemeClr val="bg2"/>
                </a:solidFill>
              </a:rPr>
              <a:t> (emotional value): “I want to wear cute clothes”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Combined:</a:t>
            </a:r>
            <a:r>
              <a:rPr lang="en-US" sz="2000" dirty="0">
                <a:solidFill>
                  <a:schemeClr val="bg2"/>
                </a:solidFill>
              </a:rPr>
              <a:t> “A simple diet method I can follow, so I feel good about my body”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P · Profile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Profile Page Creation and Improvement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The account page clearly shows</a:t>
            </a:r>
            <a:r>
              <a:rPr lang="en-US" sz="2000" dirty="0">
                <a:solidFill>
                  <a:schemeClr val="bg2"/>
                </a:solidFill>
              </a:rPr>
              <a:t> the value the user is looking for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Use the AIDMA method</a:t>
            </a:r>
            <a:r>
              <a:rPr lang="en-US" sz="2000" dirty="0">
                <a:solidFill>
                  <a:schemeClr val="bg2"/>
                </a:solidFill>
              </a:rPr>
              <a:t> to craft your profile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Show a sample account page</a:t>
            </a:r>
            <a:r>
              <a:rPr lang="en-US" sz="2000" dirty="0">
                <a:solidFill>
                  <a:schemeClr val="bg2"/>
                </a:solidFill>
              </a:rPr>
              <a:t> using your own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P · Profile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AIDMA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Attention:</a:t>
            </a:r>
            <a:r>
              <a:rPr lang="en-US" sz="2000" dirty="0">
                <a:solidFill>
                  <a:schemeClr val="bg2"/>
                </a:solidFill>
              </a:rPr>
              <a:t> what the account is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Interest:</a:t>
            </a:r>
            <a:r>
              <a:rPr lang="en-US" sz="2000" dirty="0">
                <a:solidFill>
                  <a:schemeClr val="bg2"/>
                </a:solidFill>
              </a:rPr>
              <a:t> what information you provide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Desire:</a:t>
            </a:r>
            <a:r>
              <a:rPr lang="en-US" sz="2000" dirty="0">
                <a:solidFill>
                  <a:schemeClr val="bg2"/>
                </a:solidFill>
              </a:rPr>
              <a:t> what concrete content you offer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Memory:</a:t>
            </a:r>
            <a:r>
              <a:rPr lang="en-US" sz="2000" dirty="0">
                <a:solidFill>
                  <a:schemeClr val="bg2"/>
                </a:solidFill>
              </a:rPr>
              <a:t> a summary that lets the target user check it provides what they want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Action:</a:t>
            </a:r>
            <a:r>
              <a:rPr lang="en-US" sz="2000" dirty="0">
                <a:solidFill>
                  <a:schemeClr val="bg2"/>
                </a:solidFill>
              </a:rPr>
              <a:t> follow your account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E · Engagement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Engagement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Aim:</a:t>
            </a:r>
            <a:r>
              <a:rPr lang="en-US" sz="2000" dirty="0">
                <a:solidFill>
                  <a:schemeClr val="bg2"/>
                </a:solidFill>
              </a:rPr>
              <a:t> make your posts show up in followers’ timelines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Actions:</a:t>
            </a:r>
            <a:r>
              <a:rPr lang="en-US" sz="2000" dirty="0">
                <a:solidFill>
                  <a:schemeClr val="bg2"/>
                </a:solidFill>
              </a:rPr>
              <a:t> Stories and Live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KPI:</a:t>
            </a:r>
            <a:r>
              <a:rPr lang="en-US" sz="2000" dirty="0">
                <a:solidFill>
                  <a:schemeClr val="bg2"/>
                </a:solidFill>
              </a:rPr>
              <a:t> home rate of 80% weekly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Collection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Aim:</a:t>
            </a:r>
            <a:r>
              <a:rPr lang="en-US" sz="2000" dirty="0">
                <a:solidFill>
                  <a:schemeClr val="bg2"/>
                </a:solidFill>
              </a:rPr>
              <a:t> make your posts show up in the Explore tab for non-followers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Actions:</a:t>
            </a:r>
            <a:r>
              <a:rPr lang="en-US" sz="2000" dirty="0">
                <a:solidFill>
                  <a:schemeClr val="bg2"/>
                </a:solidFill>
              </a:rPr>
              <a:t> feed posts and Reels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KPI:</a:t>
            </a:r>
            <a:r>
              <a:rPr lang="en-US" sz="2000" dirty="0">
                <a:solidFill>
                  <a:schemeClr val="bg2"/>
                </a:solidFill>
              </a:rPr>
              <a:t> home rate of 2% (the day after posting)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Reels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Successful Reels</a:t>
            </a:r>
            <a:r>
              <a:rPr lang="en-US" sz="2000" dirty="0">
                <a:solidFill>
                  <a:schemeClr val="bg2"/>
                </a:solidFill>
              </a:rPr>
              <a:t> have two qualities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Retention:</a:t>
            </a:r>
            <a:r>
              <a:rPr lang="en-US" sz="2000" dirty="0">
                <a:solidFill>
                  <a:schemeClr val="bg2"/>
                </a:solidFill>
              </a:rPr>
              <a:t> most people watch until the end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Collection:</a:t>
            </a:r>
            <a:r>
              <a:rPr lang="en-US" sz="2000" dirty="0">
                <a:solidFill>
                  <a:schemeClr val="bg2"/>
                </a:solidFill>
              </a:rPr>
              <a:t> a high save rate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Retention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Two principles</a:t>
            </a:r>
            <a:r>
              <a:rPr lang="en-US" sz="2000" dirty="0">
                <a:solidFill>
                  <a:schemeClr val="bg2"/>
                </a:solidFill>
              </a:rPr>
              <a:t> make most people watch until the end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Storytelling:</a:t>
            </a:r>
            <a:r>
              <a:rPr lang="en-US" sz="2000" dirty="0">
                <a:solidFill>
                  <a:schemeClr val="bg2"/>
                </a:solidFill>
              </a:rPr>
              <a:t> hook, conflict, tension, payoff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Broad-to-niche hook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Storytelling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Hook:</a:t>
            </a:r>
            <a:r>
              <a:rPr lang="en-US" sz="2000" dirty="0">
                <a:solidFill>
                  <a:schemeClr val="bg2"/>
                </a:solidFill>
              </a:rPr>
              <a:t> within 3 seconds, give the general idea and mention the payoff; be concise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Conflict:</a:t>
            </a:r>
            <a:r>
              <a:rPr lang="en-US" sz="2000" dirty="0">
                <a:solidFill>
                  <a:schemeClr val="bg2"/>
                </a:solidFill>
              </a:rPr>
              <a:t> introduce the central struggle that opposes a character’s or creator’s goal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Tension:</a:t>
            </a:r>
            <a:r>
              <a:rPr lang="en-US" sz="2000" dirty="0">
                <a:solidFill>
                  <a:schemeClr val="bg2"/>
                </a:solidFill>
              </a:rPr>
              <a:t> create back-and-forth struggles so the viewer can’t scroll away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Payoff:</a:t>
            </a:r>
            <a:r>
              <a:rPr lang="en-US" sz="2000" dirty="0">
                <a:solidFill>
                  <a:schemeClr val="bg2"/>
                </a:solidFill>
              </a:rPr>
              <a:t> deliver the final resolution that fulfills the promise made by the hook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Broad-to-Niche Hook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Craft your hook</a:t>
            </a:r>
            <a:r>
              <a:rPr lang="en-US" sz="2000" dirty="0">
                <a:solidFill>
                  <a:schemeClr val="bg2"/>
                </a:solidFill>
              </a:rPr>
              <a:t> so most people understand 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It largely decides</a:t>
            </a:r>
            <a:r>
              <a:rPr lang="en-US" sz="2000" dirty="0">
                <a:solidFill>
                  <a:schemeClr val="bg2"/>
                </a:solidFill>
              </a:rPr>
              <a:t> whether your Reel reaches massive views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Low views:</a:t>
            </a:r>
            <a:r>
              <a:rPr lang="en-US" sz="2000" dirty="0">
                <a:solidFill>
                  <a:schemeClr val="bg2"/>
                </a:solidFill>
              </a:rPr>
              <a:t> a hook about specific technical knowledge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High views:</a:t>
            </a:r>
            <a:r>
              <a:rPr lang="en-US" sz="2000" dirty="0">
                <a:solidFill>
                  <a:schemeClr val="bg2"/>
                </a:solidFill>
              </a:rPr>
              <a:t> a fast-paced edit of the recent F1 race in Singapore, visuals only and no language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 · Collection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Collection (Saves)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Reels get saved</a:t>
            </a:r>
            <a:r>
              <a:rPr lang="en-US" sz="2000" dirty="0">
                <a:solidFill>
                  <a:schemeClr val="bg2"/>
                </a:solidFill>
              </a:rPr>
              <a:t> because they either entertain or educate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Subjectivity:</a:t>
            </a:r>
            <a:r>
              <a:rPr lang="en-US" sz="2000" dirty="0">
                <a:solidFill>
                  <a:schemeClr val="bg2"/>
                </a:solidFill>
              </a:rPr>
              <a:t> a photo of your personal room &gt; Ikea furniture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Look-back value:</a:t>
            </a:r>
            <a:r>
              <a:rPr lang="en-US" sz="2000" dirty="0">
                <a:solidFill>
                  <a:schemeClr val="bg2"/>
                </a:solidFill>
              </a:rPr>
              <a:t> a step-by-step recipe &gt; watching yourself cook; outfit checks work because people want to buy the same outfit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Be clear on the value proposition</a:t>
            </a:r>
            <a:r>
              <a:rPr lang="en-US" sz="2000" dirty="0">
                <a:solidFill>
                  <a:schemeClr val="bg2"/>
                </a:solidFill>
              </a:rPr>
              <a:t> of each Reel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 · Traffic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Traffic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Aim:</a:t>
            </a:r>
            <a:r>
              <a:rPr lang="en-US" sz="2000" dirty="0">
                <a:solidFill>
                  <a:schemeClr val="bg2"/>
                </a:solidFill>
              </a:rPr>
              <a:t> trigger people to visit your profile after watching your Reels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Action:</a:t>
            </a:r>
            <a:r>
              <a:rPr lang="en-US" sz="2000" dirty="0">
                <a:solidFill>
                  <a:schemeClr val="bg2"/>
                </a:solidFill>
              </a:rPr>
              <a:t> guide viewers to your profile page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KPI:</a:t>
            </a:r>
            <a:r>
              <a:rPr lang="en-US" sz="2000" dirty="0">
                <a:solidFill>
                  <a:schemeClr val="bg2"/>
                </a:solidFill>
              </a:rPr>
              <a:t> profile access rate of 1% (checked biweekly)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Summary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01752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Continuously improve</a:t>
            </a:r>
            <a:r>
              <a:rPr lang="en-US" sz="2000" dirty="0">
                <a:solidFill>
                  <a:schemeClr val="bg2"/>
                </a:solidFill>
              </a:rPr>
              <a:t> all four components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Follower growth</a:t>
            </a:r>
            <a:r>
              <a:rPr lang="en-US" sz="2000" dirty="0">
                <a:solidFill>
                  <a:schemeClr val="bg2"/>
                </a:solidFill>
              </a:rPr>
              <a:t> becomes consistently faster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 strong framework</a:t>
            </a:r>
            <a:r>
              <a:rPr lang="en-US" sz="2000" dirty="0">
                <a:solidFill>
                  <a:schemeClr val="bg2"/>
                </a:solidFill>
              </a:rPr>
              <a:t> that applies to many types of accounts, from restaurant marketing to software products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cha Editorial">
  <a:themeElements>
    <a:clrScheme name="Matcha Editorial">
      <a:dk1>
        <a:srgbClr val="12301F"/>
      </a:dk1>
      <a:lt1>
        <a:srgbClr val="FFFFFF"/>
      </a:lt1>
      <a:dk2>
        <a:srgbClr val="1F4A31"/>
      </a:dk2>
      <a:lt2>
        <a:srgbClr val="C9D8C5"/>
      </a:lt2>
      <a:accent1>
        <a:srgbClr val="EBA7B3"/>
      </a:accent1>
      <a:accent2>
        <a:srgbClr val="8FB58A"/>
      </a:accent2>
      <a:accent3>
        <a:srgbClr val="D8E6A5"/>
      </a:accent3>
      <a:accent4>
        <a:srgbClr val="F4D6DA"/>
      </a:accent4>
      <a:accent5>
        <a:srgbClr val="3C6B4D"/>
      </a:accent5>
      <a:accent6>
        <a:srgbClr val="0D2216"/>
      </a:accent6>
      <a:hlink>
        <a:srgbClr val="EBA7B3"/>
      </a:hlink>
      <a:folHlink>
        <a:srgbClr val="C9D8C5"/>
      </a:folHlink>
    </a:clrScheme>
    <a:fontScheme name="Matcha Editorial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Grow Your Instagram Without Luck: The PECT Framework</dc:title>
  <dc:subject>PptxGenJS Presentation</dc:subject>
  <dc:creator>Koki Yamanaka</dc:creator>
  <cp:lastModifiedBy>Koki Yamanaka</cp:lastModifiedBy>
  <cp:revision>1</cp:revision>
  <dcterms:created xsi:type="dcterms:W3CDTF">2026-10-25T11:01:59Z</dcterms:created>
  <dcterms:modified xsi:type="dcterms:W3CDTF">2026-10-25T11:01:59Z</dcterms:modified>
</cp:coreProperties>
</file>